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19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61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8" y="6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801B04F-8C39-7390-A569-A40FB1B50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C57B784-1E63-FC7C-040C-37CADD7DB6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06C7404-0491-C0C4-48F6-73E488B444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417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27A4852-5D5F-AE6E-5593-BE3BE4E16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72CADC81-277E-CF90-2F93-B69D282CF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C474417-382F-5603-7B3E-7C1359008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2727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EBF4D69-1E84-F91B-46FA-A37767491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3661F91-B557-1BC2-BA7B-E1E7D6CB8B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E113F79-E870-3D19-28B7-24B36023B2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042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8EDB7F6-DBC0-E0EA-943C-16F02D7D2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F4265EB-A7B3-D051-3373-80CAA4808E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1518E9BA-7B69-26E8-D3C9-09729C4023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051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8572C2D-74AE-C753-EB19-721DAAFE3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C7D03D0F-451D-5658-B105-D245BE2149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E17EE55-16AB-2CB9-1D59-099030E735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8926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7CEED38-7544-E010-0A2C-FC6C254B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86BD793-8719-5201-F95B-3F86B21F67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6AA9FDA-35B5-62C8-F6AD-40C1CC255D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5084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127D589-03A5-0E78-C82B-5CE764111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A61B4F05-1FEB-4E27-4975-DEDCC36E29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2CB23FC-B746-C09F-98EF-72FDE73FCC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650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55AC05A-6B40-DA64-1E51-F31F9B068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B78984D-7FCE-293F-5A54-3DE770144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323CB624-BF0B-CC10-C69F-F3B367699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4873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2827A29-F862-2935-410B-A2C14EC4A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AFA0727-4D1C-F33C-FBF9-D2D016660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1F995DC4-B027-A157-E9E1-B6146AEEE8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513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3E92B79-6DC6-153D-BB1F-772649BC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332D3401-CC47-0C5A-E346-786A008EE9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B4501AD-D72A-2A99-FA25-654809B10C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428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3F0D63F-55E6-DD66-8DF3-9517A06BC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E590B3FF-BA10-3322-3CE6-5CDB16337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29B4399-2895-C4E3-8ECD-6BC9956FC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269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99C6294-7F8E-C3FE-6B85-E3091AE81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11B4231-1C06-3549-6868-A72763D766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4984022-D784-0EF0-91E2-CCD429C434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3247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473044F-305D-A7D3-901C-CDF048B88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C782AEF-2337-17B1-0F7B-19F3042B4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9A59AFD-BC3E-BF68-5DF1-612159B9E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002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85ED166-6EF8-C915-44D8-A87E9B5DD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81C88FA-FF98-1AC0-8C1A-9C85C7E6B3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7E579D7-7D96-4768-8BF2-B01C635A73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3771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83386CF-ED86-3AF1-1009-3F1498A65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C18E0FD7-FCB2-CB48-A9D1-67563EB029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D42232E-769C-003E-7F3A-1D8D3F831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154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032c298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032c298c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7" name="Google Shape;37;p7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869" y="4576649"/>
            <a:ext cx="141028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 title="Sem título-1.png"/>
          <p:cNvPicPr preferRelativeResize="0"/>
          <p:nvPr/>
        </p:nvPicPr>
        <p:blipFill rotWithShape="1">
          <a:blip r:embed="rId4">
            <a:alphaModFix/>
          </a:blip>
          <a:srcRect t="7114" r="22779"/>
          <a:stretch/>
        </p:blipFill>
        <p:spPr>
          <a:xfrm>
            <a:off x="6936925" y="0"/>
            <a:ext cx="2207074" cy="42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POO – Herança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0600D00-F88F-E2F1-C15B-20C80C0CF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9239532-E406-4334-3C38-4108B722C1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da Aula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02D86A34-5088-8B98-35C0-4F3FC4834F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000" dirty="0"/>
              <a:t>Herança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Conceito de Superclasse e Subclasse</a:t>
            </a:r>
            <a:br>
              <a:rPr lang="pt-BR" dirty="0"/>
            </a:br>
            <a:r>
              <a:rPr lang="pt-BR" dirty="0"/>
              <a:t>Herança em Java</a:t>
            </a:r>
            <a:br>
              <a:rPr lang="pt-BR" dirty="0"/>
            </a:br>
            <a:r>
              <a:rPr lang="pt-BR" dirty="0"/>
              <a:t>	Definição da palavra reservada “</a:t>
            </a:r>
            <a:r>
              <a:rPr lang="pt-BR" dirty="0" err="1"/>
              <a:t>extends</a:t>
            </a:r>
            <a:r>
              <a:rPr lang="pt-BR" dirty="0"/>
              <a:t>”</a:t>
            </a:r>
            <a:br>
              <a:rPr lang="pt-BR" dirty="0"/>
            </a:br>
            <a:r>
              <a:rPr lang="pt-BR" dirty="0"/>
              <a:t>	Método Construtor usando Herança em Java</a:t>
            </a:r>
            <a:br>
              <a:rPr lang="pt-BR" dirty="0"/>
            </a:br>
            <a:r>
              <a:rPr lang="pt-BR" dirty="0"/>
              <a:t>	    Definição do Método “super”</a:t>
            </a:r>
            <a:br>
              <a:rPr lang="pt-BR" dirty="0"/>
            </a:br>
            <a:r>
              <a:rPr lang="pt-BR" dirty="0"/>
              <a:t>Hierarquia de classes</a:t>
            </a:r>
            <a:br>
              <a:rPr lang="pt-BR" dirty="0"/>
            </a:br>
            <a:r>
              <a:rPr lang="pt-BR" dirty="0"/>
              <a:t>Herança Múltipla</a:t>
            </a:r>
            <a:br>
              <a:rPr lang="pt-BR" dirty="0"/>
            </a:br>
            <a:r>
              <a:rPr lang="pt-BR" dirty="0"/>
              <a:t>	Herança Múltipla em Java</a:t>
            </a:r>
          </a:p>
        </p:txBody>
      </p:sp>
    </p:spTree>
    <p:extLst>
      <p:ext uri="{BB962C8B-B14F-4D97-AF65-F5344CB8AC3E}">
        <p14:creationId xmlns:p14="http://schemas.microsoft.com/office/powerpoint/2010/main" val="1474268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27740DB-35C2-E1B5-FBCC-4A30E3A4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6EAE39D-2235-F6F8-95CF-CF3F6BCD6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Herança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DA4DD12-FC9B-FBC1-087F-C9CAE4A2C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sz="1800" dirty="0"/>
              <a:t>Relacionamento entre classes onde: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1800" b="1" dirty="0">
                <a:solidFill>
                  <a:srgbClr val="0000CC"/>
                </a:solidFill>
              </a:rPr>
              <a:t>A partir de uma</a:t>
            </a:r>
            <a:r>
              <a:rPr lang="pt-BR" altLang="pt-BR" sz="1800" dirty="0">
                <a:solidFill>
                  <a:srgbClr val="0000CC"/>
                </a:solidFill>
              </a:rPr>
              <a:t> </a:t>
            </a:r>
            <a:r>
              <a:rPr lang="pt-BR" altLang="pt-BR" sz="1800" b="1" dirty="0">
                <a:solidFill>
                  <a:srgbClr val="FF0000"/>
                </a:solidFill>
              </a:rPr>
              <a:t>classe existente </a:t>
            </a:r>
            <a:r>
              <a:rPr lang="pt-BR" altLang="pt-BR" sz="1800" dirty="0"/>
              <a:t>(superclasse) é possível </a:t>
            </a:r>
            <a:r>
              <a:rPr lang="pt-BR" altLang="pt-BR" sz="1800" b="1" dirty="0">
                <a:solidFill>
                  <a:srgbClr val="0000CC"/>
                </a:solidFill>
              </a:rPr>
              <a:t>criar uma </a:t>
            </a:r>
            <a:r>
              <a:rPr lang="pt-BR" altLang="pt-BR" sz="1800" b="1" dirty="0">
                <a:solidFill>
                  <a:srgbClr val="FF0000"/>
                </a:solidFill>
              </a:rPr>
              <a:t>nova classe </a:t>
            </a:r>
            <a:r>
              <a:rPr lang="pt-BR" altLang="pt-BR" sz="1800" dirty="0"/>
              <a:t>(subclasse);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sz="1800" b="1" u="sng" dirty="0"/>
              <a:t>Subclasse e Superclasse: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1800" b="1" dirty="0"/>
              <a:t>Subclasse </a:t>
            </a:r>
            <a:r>
              <a:rPr lang="pt-BR" altLang="pt-BR" sz="1800" dirty="0"/>
              <a:t>(ou classe derivada): consiste na classe que herda todos os métodos e atributos de uma classe existente;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1800" b="1" dirty="0"/>
              <a:t>Superclasse </a:t>
            </a:r>
            <a:r>
              <a:rPr lang="pt-BR" altLang="pt-BR" sz="1800" dirty="0"/>
              <a:t>(ou classe base)</a:t>
            </a:r>
            <a:r>
              <a:rPr lang="pt-BR" altLang="pt-BR" sz="1800" b="1" dirty="0"/>
              <a:t> </a:t>
            </a:r>
            <a:r>
              <a:rPr lang="pt-BR" altLang="pt-BR" sz="1800" dirty="0"/>
              <a:t>: é a classe existente que é herdada por uma outra classe.</a:t>
            </a:r>
          </a:p>
          <a:p>
            <a:pPr marL="76200" indent="0" eaLnBrk="1" hangingPunct="1">
              <a:buNone/>
            </a:pPr>
            <a:r>
              <a:rPr lang="pt-BR" altLang="pt-BR" sz="1800" dirty="0"/>
              <a:t>Dizemos que: “</a:t>
            </a:r>
            <a:r>
              <a:rPr lang="pt-BR" altLang="pt-BR" sz="1800" i="1" dirty="0"/>
              <a:t>Uma classe (subclasse) estende (herda) outra classe (superclasse)</a:t>
            </a:r>
            <a:r>
              <a:rPr lang="pt-BR" altLang="pt-BR" sz="1800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3268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F801181-AD7A-D15A-40D8-0EA7C2670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7F17B678-6070-A52C-1C9E-84C698E5C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Herança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BFA4C5C-66E6-29BC-19D6-D61139F0CF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A herança é uma forma de evitar a repetição de código.</a:t>
            </a:r>
          </a:p>
          <a:p>
            <a:pPr marL="76200" indent="0" eaLnBrk="1" hangingPunct="1">
              <a:buNone/>
            </a:pPr>
            <a:endParaRPr lang="pt-BR" altLang="pt-BR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É um relacionamento entre um elemento genérico e um mais específico</a:t>
            </a:r>
          </a:p>
          <a:p>
            <a:pPr marL="76200" indent="0" eaLnBrk="1" hangingPunct="1">
              <a:buNone/>
            </a:pPr>
            <a:endParaRPr lang="pt-BR" altLang="pt-BR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Também chamada de </a:t>
            </a:r>
            <a:r>
              <a:rPr lang="pt-BR" altLang="pt-BR" b="1" dirty="0">
                <a:solidFill>
                  <a:srgbClr val="0070C0"/>
                </a:solidFill>
              </a:rPr>
              <a:t>Generalização / Especialização</a:t>
            </a:r>
          </a:p>
        </p:txBody>
      </p:sp>
    </p:spTree>
    <p:extLst>
      <p:ext uri="{BB962C8B-B14F-4D97-AF65-F5344CB8AC3E}">
        <p14:creationId xmlns:p14="http://schemas.microsoft.com/office/powerpoint/2010/main" val="2342250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AE8D318-6ADA-203B-7453-96EBAA2D6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765C04C-4FF2-C82E-F66F-2965A96114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Herança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C36E58F-9C1A-B610-21ED-0B258F2464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O objeto da classe filha “herda” todas as características da classe pai.</a:t>
            </a:r>
            <a:endParaRPr lang="pt-BR" altLang="pt-BR" sz="1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dirty="0"/>
              <a:t>Uma subclasse pode adicionar Métodos e Atributos particulares, mas não pode remover Métodos e Atributos da superclasse.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4160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75514CA-915D-E479-9B5A-70C6FD49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DC63181-5CFB-9570-6855-5BF09035D5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Herança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10AAC08F-546B-3610-5BCD-9E8B27B86D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/>
            </a:pPr>
            <a:r>
              <a:rPr lang="pt-BR" altLang="pt-BR" sz="1600" dirty="0"/>
              <a:t>Semântica: “</a:t>
            </a:r>
            <a:r>
              <a:rPr lang="pt-BR" altLang="pt-BR" sz="1600" b="1" i="1" dirty="0">
                <a:solidFill>
                  <a:srgbClr val="FF0000"/>
                </a:solidFill>
              </a:rPr>
              <a:t>é um</a:t>
            </a:r>
            <a:r>
              <a:rPr lang="pt-BR" altLang="pt-BR" sz="1600" dirty="0"/>
              <a:t>”</a:t>
            </a:r>
          </a:p>
          <a:p>
            <a:pPr eaLnBrk="1" hangingPunct="1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/>
            </a:pPr>
            <a:r>
              <a:rPr lang="pt-BR" altLang="pt-BR" sz="1600" dirty="0"/>
              <a:t>Exemplos:</a:t>
            </a:r>
          </a:p>
          <a:p>
            <a:pPr lvl="1" eaLnBrk="1" hangingPunct="1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/>
            </a:pPr>
            <a:r>
              <a:rPr lang="pt-BR" altLang="pt-BR" sz="1600" dirty="0"/>
              <a:t>Aluno “é uma” Pessoa</a:t>
            </a:r>
          </a:p>
          <a:p>
            <a:pPr lvl="1" eaLnBrk="1" hangingPunct="1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/>
            </a:pPr>
            <a:r>
              <a:rPr lang="pt-BR" altLang="pt-BR" sz="1600" dirty="0"/>
              <a:t>Professor “é uma” Pessoa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2" name="Grupo 18">
            <a:extLst>
              <a:ext uri="{FF2B5EF4-FFF2-40B4-BE49-F238E27FC236}">
                <a16:creationId xmlns:a16="http://schemas.microsoft.com/office/drawing/2014/main" id="{AFF58A56-D7CB-8BEE-8315-CC2A16D0AD9A}"/>
              </a:ext>
            </a:extLst>
          </p:cNvPr>
          <p:cNvGrpSpPr/>
          <p:nvPr/>
        </p:nvGrpSpPr>
        <p:grpSpPr bwMode="auto">
          <a:xfrm>
            <a:off x="3038631" y="1860600"/>
            <a:ext cx="4968875" cy="2130425"/>
            <a:chOff x="2024025" y="1412776"/>
            <a:chExt cx="4968552" cy="2130330"/>
          </a:xfrm>
        </p:grpSpPr>
        <p:sp>
          <p:nvSpPr>
            <p:cNvPr id="3" name="Retângulo de cantos arredondados 8">
              <a:extLst>
                <a:ext uri="{FF2B5EF4-FFF2-40B4-BE49-F238E27FC236}">
                  <a16:creationId xmlns:a16="http://schemas.microsoft.com/office/drawing/2014/main" id="{8BDEF260-A875-28F4-AB27-6CEF8D8C7451}"/>
                </a:ext>
              </a:extLst>
            </p:cNvPr>
            <p:cNvSpPr/>
            <p:nvPr/>
          </p:nvSpPr>
          <p:spPr>
            <a:xfrm>
              <a:off x="2024025" y="2839685"/>
              <a:ext cx="1468654" cy="644664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pt-BR" b="1" dirty="0">
                  <a:solidFill>
                    <a:srgbClr val="0000CC"/>
                  </a:solidFill>
                </a:rPr>
                <a:t>Aluno</a:t>
              </a:r>
            </a:p>
          </p:txBody>
        </p:sp>
        <p:cxnSp>
          <p:nvCxnSpPr>
            <p:cNvPr id="4" name="Conector angulado 9">
              <a:extLst>
                <a:ext uri="{FF2B5EF4-FFF2-40B4-BE49-F238E27FC236}">
                  <a16:creationId xmlns:a16="http://schemas.microsoft.com/office/drawing/2014/main" id="{87A50F4C-37E5-3EFD-6CCB-7AF8D5346712}"/>
                </a:ext>
              </a:extLst>
            </p:cNvPr>
            <p:cNvCxnSpPr/>
            <p:nvPr/>
          </p:nvCxnSpPr>
          <p:spPr>
            <a:xfrm rot="5400000" flipH="1" flipV="1">
              <a:off x="2685165" y="1808850"/>
              <a:ext cx="1104851" cy="957200"/>
            </a:xfrm>
            <a:prstGeom prst="bentConnector2">
              <a:avLst/>
            </a:prstGeom>
            <a:ln w="34925">
              <a:solidFill>
                <a:schemeClr val="tx1"/>
              </a:solidFill>
              <a:miter lim="800000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tângulo de cantos arredondados 10">
              <a:extLst>
                <a:ext uri="{FF2B5EF4-FFF2-40B4-BE49-F238E27FC236}">
                  <a16:creationId xmlns:a16="http://schemas.microsoft.com/office/drawing/2014/main" id="{31C2B15B-D963-0257-05C4-9DD2EEC01D1B}"/>
                </a:ext>
              </a:extLst>
            </p:cNvPr>
            <p:cNvSpPr/>
            <p:nvPr/>
          </p:nvSpPr>
          <p:spPr>
            <a:xfrm>
              <a:off x="5409199" y="2898442"/>
              <a:ext cx="1583378" cy="644664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pt-BR" b="1" dirty="0">
                  <a:solidFill>
                    <a:srgbClr val="0000CC"/>
                  </a:solidFill>
                </a:rPr>
                <a:t>Professor</a:t>
              </a:r>
            </a:p>
          </p:txBody>
        </p:sp>
        <p:sp>
          <p:nvSpPr>
            <p:cNvPr id="6" name="Retângulo de cantos arredondados 11">
              <a:extLst>
                <a:ext uri="{FF2B5EF4-FFF2-40B4-BE49-F238E27FC236}">
                  <a16:creationId xmlns:a16="http://schemas.microsoft.com/office/drawing/2014/main" id="{3AB2C28E-D562-8F4A-9B91-7B80575F6788}"/>
                </a:ext>
              </a:extLst>
            </p:cNvPr>
            <p:cNvSpPr/>
            <p:nvPr/>
          </p:nvSpPr>
          <p:spPr>
            <a:xfrm>
              <a:off x="3715813" y="1412776"/>
              <a:ext cx="1468654" cy="644664"/>
            </a:xfrm>
            <a:prstGeom prst="round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pt-BR" b="1" dirty="0">
                  <a:solidFill>
                    <a:schemeClr val="tx1"/>
                  </a:solidFill>
                </a:rPr>
                <a:t>Pessoa</a:t>
              </a:r>
            </a:p>
          </p:txBody>
        </p:sp>
        <p:cxnSp>
          <p:nvCxnSpPr>
            <p:cNvPr id="7" name="Conector angulado 12">
              <a:extLst>
                <a:ext uri="{FF2B5EF4-FFF2-40B4-BE49-F238E27FC236}">
                  <a16:creationId xmlns:a16="http://schemas.microsoft.com/office/drawing/2014/main" id="{5F6A02F5-61B5-81FB-C9BD-579D351A2E0C}"/>
                </a:ext>
              </a:extLst>
            </p:cNvPr>
            <p:cNvCxnSpPr/>
            <p:nvPr/>
          </p:nvCxnSpPr>
          <p:spPr>
            <a:xfrm rot="16200000" flipV="1">
              <a:off x="5110706" y="1808851"/>
              <a:ext cx="1163585" cy="1015934"/>
            </a:xfrm>
            <a:prstGeom prst="bentConnector2">
              <a:avLst/>
            </a:prstGeom>
            <a:ln w="34925">
              <a:solidFill>
                <a:schemeClr val="tx1"/>
              </a:solidFill>
              <a:miter lim="800000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o Explicativo 1 13">
            <a:extLst>
              <a:ext uri="{FF2B5EF4-FFF2-40B4-BE49-F238E27FC236}">
                <a16:creationId xmlns:a16="http://schemas.microsoft.com/office/drawing/2014/main" id="{52FE30F4-CFC5-E572-F3E2-92ED6F403D29}"/>
              </a:ext>
            </a:extLst>
          </p:cNvPr>
          <p:cNvSpPr/>
          <p:nvPr/>
        </p:nvSpPr>
        <p:spPr bwMode="auto">
          <a:xfrm>
            <a:off x="6447864" y="647650"/>
            <a:ext cx="2006600" cy="504825"/>
          </a:xfrm>
          <a:prstGeom prst="borderCallout1">
            <a:avLst>
              <a:gd name="adj1" fmla="val 100676"/>
              <a:gd name="adj2" fmla="val 48273"/>
              <a:gd name="adj3" fmla="val 230574"/>
              <a:gd name="adj4" fmla="val -20255"/>
            </a:avLst>
          </a:prstGeom>
          <a:solidFill>
            <a:srgbClr val="92D050"/>
          </a:solidFill>
          <a:ln w="22225" algn="ctr">
            <a:solidFill>
              <a:srgbClr val="0070C0"/>
            </a:solidFill>
            <a:round/>
            <a:tailEnd type="arrow" w="med" len="med"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 i="1" dirty="0">
                <a:solidFill>
                  <a:srgbClr val="000000"/>
                </a:solidFill>
              </a:rPr>
              <a:t>Superclasse</a:t>
            </a:r>
          </a:p>
        </p:txBody>
      </p:sp>
      <p:sp>
        <p:nvSpPr>
          <p:cNvPr id="9" name="Texto Explicativo 1 14">
            <a:extLst>
              <a:ext uri="{FF2B5EF4-FFF2-40B4-BE49-F238E27FC236}">
                <a16:creationId xmlns:a16="http://schemas.microsoft.com/office/drawing/2014/main" id="{F24D19D1-92F6-EF38-B480-CC47AB4EB518}"/>
              </a:ext>
            </a:extLst>
          </p:cNvPr>
          <p:cNvSpPr/>
          <p:nvPr/>
        </p:nvSpPr>
        <p:spPr bwMode="auto">
          <a:xfrm>
            <a:off x="7215344" y="1544755"/>
            <a:ext cx="1800225" cy="504825"/>
          </a:xfrm>
          <a:prstGeom prst="borderCallout1">
            <a:avLst>
              <a:gd name="adj1" fmla="val 100676"/>
              <a:gd name="adj2" fmla="val 51250"/>
              <a:gd name="adj3" fmla="val 342833"/>
              <a:gd name="adj4" fmla="val 31681"/>
            </a:avLst>
          </a:prstGeom>
          <a:solidFill>
            <a:srgbClr val="92D050"/>
          </a:solidFill>
          <a:ln w="22225" algn="ctr">
            <a:solidFill>
              <a:srgbClr val="0070C0"/>
            </a:solidFill>
            <a:round/>
            <a:tailEnd type="arrow" w="med" len="med"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 i="1" dirty="0">
                <a:solidFill>
                  <a:srgbClr val="000000"/>
                </a:solidFill>
              </a:rPr>
              <a:t>Subclasse</a:t>
            </a:r>
          </a:p>
        </p:txBody>
      </p:sp>
      <p:sp>
        <p:nvSpPr>
          <p:cNvPr id="10" name="Texto Explicativo 1 15">
            <a:extLst>
              <a:ext uri="{FF2B5EF4-FFF2-40B4-BE49-F238E27FC236}">
                <a16:creationId xmlns:a16="http://schemas.microsoft.com/office/drawing/2014/main" id="{C3E26456-D3F0-888C-7BDB-E56E1C2D4439}"/>
              </a:ext>
            </a:extLst>
          </p:cNvPr>
          <p:cNvSpPr/>
          <p:nvPr/>
        </p:nvSpPr>
        <p:spPr bwMode="auto">
          <a:xfrm>
            <a:off x="655379" y="3837331"/>
            <a:ext cx="1728787" cy="504825"/>
          </a:xfrm>
          <a:prstGeom prst="borderCallout1">
            <a:avLst>
              <a:gd name="adj1" fmla="val -2321"/>
              <a:gd name="adj2" fmla="val 46064"/>
              <a:gd name="adj3" fmla="val -60023"/>
              <a:gd name="adj4" fmla="val 135623"/>
            </a:avLst>
          </a:prstGeom>
          <a:solidFill>
            <a:srgbClr val="92D050"/>
          </a:solidFill>
          <a:ln w="22225" algn="ctr">
            <a:solidFill>
              <a:srgbClr val="0070C0"/>
            </a:solidFill>
            <a:round/>
            <a:tailEnd type="arrow" w="med" len="med"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 i="1" dirty="0">
                <a:solidFill>
                  <a:srgbClr val="000000"/>
                </a:solidFill>
              </a:rPr>
              <a:t>Subclasse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9B60A89-3521-4789-8E4B-01ADAE4085F0}"/>
              </a:ext>
            </a:extLst>
          </p:cNvPr>
          <p:cNvSpPr txBox="1"/>
          <p:nvPr/>
        </p:nvSpPr>
        <p:spPr>
          <a:xfrm>
            <a:off x="2049043" y="4364909"/>
            <a:ext cx="4603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ts val="575"/>
              </a:spcBef>
              <a:buClr>
                <a:schemeClr val="accent1"/>
              </a:buClr>
              <a:buSzPct val="85000"/>
              <a:defRPr/>
            </a:pPr>
            <a:r>
              <a:rPr lang="pt-BR" altLang="pt-BR" sz="1800" dirty="0">
                <a:latin typeface="+mj-lt"/>
              </a:rPr>
              <a:t>Na Herança as classes mais genéricas são divididas em subclasses.</a:t>
            </a:r>
          </a:p>
        </p:txBody>
      </p:sp>
    </p:spTree>
    <p:extLst>
      <p:ext uri="{BB962C8B-B14F-4D97-AF65-F5344CB8AC3E}">
        <p14:creationId xmlns:p14="http://schemas.microsoft.com/office/powerpoint/2010/main" val="238980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5F1B7A3-C097-E83E-A375-80AD2A33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89F6240-D5D6-4AA6-5DF6-3487D1FB77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Herança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7CA4663-232B-59CB-25C0-A9ABF70FA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altLang="pt-BR" dirty="0"/>
              <a:t>Uma subclasse </a:t>
            </a:r>
            <a:r>
              <a:rPr lang="pt-BR" altLang="pt-BR" b="1" dirty="0">
                <a:solidFill>
                  <a:srgbClr val="FF0000"/>
                </a:solidFill>
              </a:rPr>
              <a:t>pode adicionar </a:t>
            </a:r>
            <a:r>
              <a:rPr lang="pt-BR" altLang="pt-BR" b="1" dirty="0">
                <a:solidFill>
                  <a:srgbClr val="0000CC"/>
                </a:solidFill>
              </a:rPr>
              <a:t>Métodos e Atributos</a:t>
            </a:r>
            <a:r>
              <a:rPr lang="pt-BR" altLang="pt-BR" dirty="0"/>
              <a:t> </a:t>
            </a:r>
            <a:r>
              <a:rPr lang="pt-BR" altLang="pt-BR" b="1" dirty="0">
                <a:solidFill>
                  <a:srgbClr val="0000CC"/>
                </a:solidFill>
              </a:rPr>
              <a:t>particulares</a:t>
            </a:r>
            <a:r>
              <a:rPr lang="pt-BR" altLang="pt-BR" dirty="0"/>
              <a:t>, mas </a:t>
            </a:r>
            <a:r>
              <a:rPr lang="pt-BR" altLang="pt-BR" b="1" dirty="0">
                <a:solidFill>
                  <a:srgbClr val="FF0000"/>
                </a:solidFill>
              </a:rPr>
              <a:t>não pode remover</a:t>
            </a:r>
            <a:r>
              <a:rPr lang="pt-BR" altLang="pt-BR" b="1" dirty="0"/>
              <a:t> </a:t>
            </a:r>
            <a:r>
              <a:rPr lang="pt-BR" altLang="pt-BR" b="1" dirty="0">
                <a:solidFill>
                  <a:srgbClr val="FF0000"/>
                </a:solidFill>
              </a:rPr>
              <a:t>Métodos e Atributos da superclasse</a:t>
            </a:r>
            <a:r>
              <a:rPr lang="pt-BR" altLang="pt-B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5923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6ADEAE5-AC35-234F-F8F7-2FF118EC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27290779-2EC5-446B-96D6-8698C03831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Herança em Java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29B3008-B29C-9447-142A-68E1498EE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ABC9B0E-9FA1-7E75-1795-76318F09AF88}"/>
              </a:ext>
            </a:extLst>
          </p:cNvPr>
          <p:cNvSpPr txBox="1">
            <a:spLocks/>
          </p:cNvSpPr>
          <p:nvPr/>
        </p:nvSpPr>
        <p:spPr>
          <a:xfrm>
            <a:off x="262975" y="1152475"/>
            <a:ext cx="8569325" cy="181484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  <a:buClr>
                <a:srgbClr val="00B0F0"/>
              </a:buClr>
            </a:pPr>
            <a:r>
              <a:rPr lang="pt-BR" altLang="pt-BR" sz="1800">
                <a:solidFill>
                  <a:srgbClr val="000000"/>
                </a:solidFill>
              </a:rPr>
              <a:t>Implementando a classe </a:t>
            </a:r>
            <a:r>
              <a:rPr lang="pt-BR" altLang="pt-BR" sz="1800" b="1">
                <a:solidFill>
                  <a:srgbClr val="000000"/>
                </a:solidFill>
              </a:rPr>
              <a:t>Pessoa</a:t>
            </a:r>
            <a:r>
              <a:rPr lang="pt-BR" altLang="pt-BR" sz="1800">
                <a:solidFill>
                  <a:srgbClr val="000000"/>
                </a:solidFill>
              </a:rPr>
              <a:t>: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>
                <a:solidFill>
                  <a:srgbClr val="002060"/>
                </a:solidFill>
                <a:latin typeface="Courier New" panose="02070309020205020404" pitchFamily="49" charset="0"/>
              </a:rPr>
              <a:t>public class Pessoa{ 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>
                <a:solidFill>
                  <a:srgbClr val="002060"/>
                </a:solidFill>
                <a:latin typeface="Courier New" panose="02070309020205020404" pitchFamily="49" charset="0"/>
              </a:rPr>
              <a:t>   String nome;    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>
                <a:solidFill>
                  <a:srgbClr val="002060"/>
                </a:solidFill>
                <a:latin typeface="Courier New" panose="02070309020205020404" pitchFamily="49" charset="0"/>
              </a:rPr>
              <a:t>   int idade;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>
                <a:solidFill>
                  <a:srgbClr val="002060"/>
                </a:solidFill>
                <a:latin typeface="Courier New" panose="02070309020205020404" pitchFamily="49" charset="0"/>
              </a:rPr>
              <a:t>   public void falar(){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>
                <a:solidFill>
                  <a:srgbClr val="002060"/>
                </a:solidFill>
                <a:latin typeface="Courier New" panose="02070309020205020404" pitchFamily="49" charset="0"/>
              </a:rPr>
              <a:t>      System.out.println("</a:t>
            </a:r>
            <a:r>
              <a:rPr lang="pt-BR" altLang="pt-BR" sz="1700">
                <a:solidFill>
                  <a:srgbClr val="00B050"/>
                </a:solidFill>
                <a:latin typeface="Courier New" panose="02070309020205020404" pitchFamily="49" charset="0"/>
              </a:rPr>
              <a:t>Falar alto.</a:t>
            </a:r>
            <a:r>
              <a:rPr lang="pt-BR" altLang="pt-BR" sz="1700">
                <a:solidFill>
                  <a:srgbClr val="002060"/>
                </a:solidFill>
                <a:latin typeface="Courier New" panose="02070309020205020404" pitchFamily="49" charset="0"/>
              </a:rPr>
              <a:t>");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>
                <a:solidFill>
                  <a:srgbClr val="002060"/>
                </a:solidFill>
                <a:latin typeface="Courier New" panose="02070309020205020404" pitchFamily="49" charset="0"/>
              </a:rPr>
              <a:t>   } 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>
                <a:solidFill>
                  <a:srgbClr val="002060"/>
                </a:solidFill>
                <a:latin typeface="Courier New" panose="02070309020205020404" pitchFamily="49" charset="0"/>
              </a:rPr>
              <a:t>}</a:t>
            </a:r>
            <a:endParaRPr lang="pt-BR" altLang="pt-BR" sz="1700" dirty="0">
              <a:solidFill>
                <a:srgbClr val="002060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Espaço Reservado para Conteúdo 1">
            <a:extLst>
              <a:ext uri="{FF2B5EF4-FFF2-40B4-BE49-F238E27FC236}">
                <a16:creationId xmlns:a16="http://schemas.microsoft.com/office/drawing/2014/main" id="{C23AC660-8C89-BBBB-43FD-F832879F2900}"/>
              </a:ext>
            </a:extLst>
          </p:cNvPr>
          <p:cNvSpPr txBox="1"/>
          <p:nvPr/>
        </p:nvSpPr>
        <p:spPr bwMode="auto">
          <a:xfrm>
            <a:off x="262975" y="3102068"/>
            <a:ext cx="8569325" cy="190920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B0F0"/>
              </a:buClr>
              <a:defRPr/>
            </a:pPr>
            <a:r>
              <a:rPr lang="pt-BR" sz="1800" dirty="0">
                <a:solidFill>
                  <a:srgbClr val="000000"/>
                </a:solidFill>
              </a:rPr>
              <a:t>Implementando a classe </a:t>
            </a:r>
            <a:r>
              <a:rPr lang="pt-BR" sz="1800" b="1" dirty="0">
                <a:solidFill>
                  <a:srgbClr val="000000"/>
                </a:solidFill>
              </a:rPr>
              <a:t>Aluno</a:t>
            </a:r>
            <a:r>
              <a:rPr lang="pt-BR" sz="1800" dirty="0">
                <a:solidFill>
                  <a:srgbClr val="000000"/>
                </a:solidFill>
              </a:rPr>
              <a:t> que herda da classe </a:t>
            </a:r>
            <a:r>
              <a:rPr lang="pt-BR" sz="1800" b="1" dirty="0">
                <a:solidFill>
                  <a:srgbClr val="000000"/>
                </a:solidFill>
              </a:rPr>
              <a:t>Pessoa</a:t>
            </a:r>
            <a:r>
              <a:rPr lang="pt-BR" sz="1800" dirty="0">
                <a:solidFill>
                  <a:srgbClr val="000000"/>
                </a:solidFill>
              </a:rPr>
              <a:t>:</a:t>
            </a:r>
          </a:p>
          <a:p>
            <a:pPr marL="617855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pt-BR" sz="1700" dirty="0" err="1">
                <a:solidFill>
                  <a:srgbClr val="002060"/>
                </a:solidFill>
                <a:latin typeface="Courier New" panose="02070309020205020404"/>
              </a:rPr>
              <a:t>public</a:t>
            </a:r>
            <a:r>
              <a:rPr lang="pt-BR" sz="1700" dirty="0">
                <a:solidFill>
                  <a:srgbClr val="002060"/>
                </a:solidFill>
                <a:latin typeface="Courier New" panose="02070309020205020404"/>
              </a:rPr>
              <a:t> </a:t>
            </a:r>
            <a:r>
              <a:rPr lang="pt-BR" sz="1700" dirty="0" err="1">
                <a:solidFill>
                  <a:srgbClr val="002060"/>
                </a:solidFill>
                <a:latin typeface="Courier New" panose="02070309020205020404"/>
              </a:rPr>
              <a:t>class</a:t>
            </a:r>
            <a:r>
              <a:rPr lang="pt-BR" sz="1700" dirty="0">
                <a:solidFill>
                  <a:srgbClr val="002060"/>
                </a:solidFill>
                <a:latin typeface="Courier New" panose="02070309020205020404"/>
              </a:rPr>
              <a:t> Aluno </a:t>
            </a:r>
            <a:r>
              <a:rPr lang="pt-BR" sz="1700" b="1" dirty="0" err="1">
                <a:solidFill>
                  <a:srgbClr val="FF0000"/>
                </a:solidFill>
                <a:latin typeface="Courier New" panose="02070309020205020404"/>
              </a:rPr>
              <a:t>extends</a:t>
            </a:r>
            <a:r>
              <a:rPr lang="pt-BR" sz="1700" dirty="0">
                <a:solidFill>
                  <a:srgbClr val="FF0000"/>
                </a:solidFill>
                <a:latin typeface="Courier New" panose="02070309020205020404"/>
              </a:rPr>
              <a:t> </a:t>
            </a:r>
            <a:r>
              <a:rPr lang="pt-BR" sz="1700" dirty="0">
                <a:solidFill>
                  <a:srgbClr val="002060"/>
                </a:solidFill>
                <a:latin typeface="Courier New" panose="02070309020205020404"/>
              </a:rPr>
              <a:t>Pessoa{ </a:t>
            </a:r>
          </a:p>
          <a:p>
            <a:pPr marL="617855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pt-BR" sz="1700" dirty="0">
                <a:solidFill>
                  <a:srgbClr val="002060"/>
                </a:solidFill>
                <a:latin typeface="Courier New" panose="02070309020205020404"/>
              </a:rPr>
              <a:t>   </a:t>
            </a:r>
            <a:r>
              <a:rPr lang="pt-BR" sz="1700" dirty="0" err="1">
                <a:solidFill>
                  <a:srgbClr val="002060"/>
                </a:solidFill>
                <a:latin typeface="Courier New" panose="02070309020205020404"/>
              </a:rPr>
              <a:t>String</a:t>
            </a:r>
            <a:r>
              <a:rPr lang="pt-BR" sz="1700" dirty="0">
                <a:solidFill>
                  <a:srgbClr val="002060"/>
                </a:solidFill>
                <a:latin typeface="Courier New" panose="02070309020205020404"/>
              </a:rPr>
              <a:t> matricula;</a:t>
            </a:r>
          </a:p>
          <a:p>
            <a:pPr marL="617855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   public void </a:t>
            </a:r>
            <a:r>
              <a:rPr lang="en-US" sz="1700" dirty="0" err="1">
                <a:solidFill>
                  <a:srgbClr val="002060"/>
                </a:solidFill>
                <a:latin typeface="Courier New" panose="02070309020205020404"/>
              </a:rPr>
              <a:t>matricular</a:t>
            </a: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(){</a:t>
            </a:r>
          </a:p>
          <a:p>
            <a:pPr marL="617855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     </a:t>
            </a:r>
            <a:r>
              <a:rPr lang="pt-BR" sz="1700" dirty="0" err="1">
                <a:solidFill>
                  <a:srgbClr val="002060"/>
                </a:solidFill>
                <a:latin typeface="Courier New" panose="02070309020205020404" pitchFamily="49" charset="0"/>
              </a:rPr>
              <a:t>System.out.println</a:t>
            </a:r>
            <a:r>
              <a:rPr 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("</a:t>
            </a:r>
            <a:r>
              <a:rPr lang="pt-BR" sz="1700" dirty="0">
                <a:solidFill>
                  <a:srgbClr val="00B050"/>
                </a:solidFill>
                <a:latin typeface="Courier New" panose="02070309020205020404" pitchFamily="49" charset="0"/>
              </a:rPr>
              <a:t>Aluno Matriculado.</a:t>
            </a:r>
            <a:r>
              <a:rPr 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");</a:t>
            </a:r>
            <a:endParaRPr lang="en-US" sz="1700" dirty="0">
              <a:solidFill>
                <a:srgbClr val="002060"/>
              </a:solidFill>
              <a:latin typeface="Courier New" panose="02070309020205020404"/>
            </a:endParaRPr>
          </a:p>
          <a:p>
            <a:pPr marL="617855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   }</a:t>
            </a:r>
            <a:endParaRPr lang="pt-BR" sz="1700" dirty="0">
              <a:solidFill>
                <a:srgbClr val="002060"/>
              </a:solidFill>
              <a:latin typeface="Courier New" panose="02070309020205020404"/>
            </a:endParaRPr>
          </a:p>
          <a:p>
            <a:pPr marL="617855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pt-BR" sz="1700" dirty="0">
                <a:solidFill>
                  <a:srgbClr val="002060"/>
                </a:solidFill>
                <a:latin typeface="Courier New" panose="02070309020205020404"/>
              </a:rPr>
              <a:t>}</a:t>
            </a:r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endParaRPr lang="pt-BR" sz="1600" dirty="0">
              <a:solidFill>
                <a:srgbClr val="002060"/>
              </a:solidFill>
              <a:latin typeface="Courier New" panose="02070309020205020404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D470A53-45A2-8485-1F63-3A3648EB1B24}"/>
              </a:ext>
            </a:extLst>
          </p:cNvPr>
          <p:cNvSpPr/>
          <p:nvPr/>
        </p:nvSpPr>
        <p:spPr bwMode="auto">
          <a:xfrm>
            <a:off x="311700" y="3398900"/>
            <a:ext cx="8136904" cy="275015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softEdge rad="12700"/>
          </a:effectLst>
        </p:spPr>
        <p:txBody>
          <a:bodyPr wrap="none" anchor="ctr"/>
          <a:lstStyle/>
          <a:p>
            <a:pPr algn="ctr">
              <a:defRPr/>
            </a:pPr>
            <a:endParaRPr lang="pt-BR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0633637-973A-ECE1-8870-61BB570F7294}"/>
              </a:ext>
            </a:extLst>
          </p:cNvPr>
          <p:cNvSpPr/>
          <p:nvPr/>
        </p:nvSpPr>
        <p:spPr bwMode="auto">
          <a:xfrm>
            <a:off x="311700" y="3673915"/>
            <a:ext cx="8136904" cy="521567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softEdge rad="12700"/>
          </a:effectLst>
        </p:spPr>
        <p:txBody>
          <a:bodyPr wrap="none" anchor="ctr"/>
          <a:lstStyle/>
          <a:p>
            <a:pPr algn="ctr">
              <a:defRPr/>
            </a:pPr>
            <a:endParaRPr lang="pt-BR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3D855BE-7F75-40DE-446B-81BB9B41CC29}"/>
              </a:ext>
            </a:extLst>
          </p:cNvPr>
          <p:cNvSpPr/>
          <p:nvPr/>
        </p:nvSpPr>
        <p:spPr bwMode="auto">
          <a:xfrm>
            <a:off x="311700" y="1568824"/>
            <a:ext cx="8136904" cy="582705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softEdge rad="12700"/>
          </a:effectLst>
        </p:spPr>
        <p:txBody>
          <a:bodyPr wrap="none" anchor="ctr"/>
          <a:lstStyle/>
          <a:p>
            <a:pPr algn="ctr">
              <a:defRPr/>
            </a:pPr>
            <a:endParaRPr lang="pt-BR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95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4483616-259E-362D-E32B-0573522F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68C6BEA8-513D-553E-8111-36EC763C2B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Herança em Java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DF1874E-29B7-1012-CB9B-41FEE4F60A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FE7FE98-A7B4-0AA6-08EF-BF6F7E5F518C}"/>
              </a:ext>
            </a:extLst>
          </p:cNvPr>
          <p:cNvSpPr txBox="1">
            <a:spLocks/>
          </p:cNvSpPr>
          <p:nvPr/>
        </p:nvSpPr>
        <p:spPr>
          <a:xfrm>
            <a:off x="287337" y="1152475"/>
            <a:ext cx="8569325" cy="193959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  <a:buClr>
                <a:srgbClr val="00B0F0"/>
              </a:buClr>
            </a:pPr>
            <a:r>
              <a:rPr lang="pt-BR" altLang="pt-BR" sz="1800" dirty="0">
                <a:solidFill>
                  <a:srgbClr val="000000"/>
                </a:solidFill>
              </a:rPr>
              <a:t>Implementando a classe </a:t>
            </a:r>
            <a:r>
              <a:rPr lang="pt-BR" altLang="pt-BR" sz="1800" b="1" dirty="0">
                <a:solidFill>
                  <a:srgbClr val="000000"/>
                </a:solidFill>
              </a:rPr>
              <a:t>Pessoa</a:t>
            </a:r>
            <a:r>
              <a:rPr lang="pt-BR" altLang="pt-BR" sz="1800" dirty="0">
                <a:solidFill>
                  <a:srgbClr val="000000"/>
                </a:solidFill>
              </a:rPr>
              <a:t>: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 dirty="0" err="1">
                <a:solidFill>
                  <a:srgbClr val="002060"/>
                </a:solidFill>
                <a:latin typeface="Courier New" panose="02070309020205020404" pitchFamily="49" charset="0"/>
              </a:rPr>
              <a:t>public</a:t>
            </a: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1700" dirty="0" err="1">
                <a:solidFill>
                  <a:srgbClr val="002060"/>
                </a:solidFill>
                <a:latin typeface="Courier New" panose="02070309020205020404" pitchFamily="49" charset="0"/>
              </a:rPr>
              <a:t>class</a:t>
            </a: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Pessoa{ 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  </a:t>
            </a:r>
            <a:r>
              <a:rPr lang="pt-BR" altLang="pt-BR" sz="1700" dirty="0" err="1">
                <a:solidFill>
                  <a:srgbClr val="002060"/>
                </a:solidFill>
                <a:latin typeface="Courier New" panose="02070309020205020404" pitchFamily="49" charset="0"/>
              </a:rPr>
              <a:t>String</a:t>
            </a: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nome;    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  </a:t>
            </a:r>
            <a:r>
              <a:rPr lang="pt-BR" altLang="pt-BR" sz="1700" dirty="0" err="1">
                <a:solidFill>
                  <a:srgbClr val="002060"/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idade;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  </a:t>
            </a:r>
            <a:r>
              <a:rPr lang="pt-BR" altLang="pt-BR" sz="1700" dirty="0" err="1">
                <a:solidFill>
                  <a:srgbClr val="002060"/>
                </a:solidFill>
                <a:latin typeface="Courier New" panose="02070309020205020404" pitchFamily="49" charset="0"/>
              </a:rPr>
              <a:t>public</a:t>
            </a: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Pessoa(</a:t>
            </a:r>
            <a:r>
              <a:rPr lang="pt-BR" altLang="pt-BR" sz="1700" dirty="0" err="1">
                <a:solidFill>
                  <a:srgbClr val="002060"/>
                </a:solidFill>
                <a:latin typeface="Courier New" panose="02070309020205020404" pitchFamily="49" charset="0"/>
              </a:rPr>
              <a:t>String</a:t>
            </a: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nome, </a:t>
            </a:r>
            <a:r>
              <a:rPr lang="pt-BR" altLang="pt-BR" sz="1700" dirty="0" err="1">
                <a:solidFill>
                  <a:srgbClr val="002060"/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idade){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     </a:t>
            </a:r>
            <a:r>
              <a:rPr lang="pt-BR" altLang="pt-BR" sz="1700" dirty="0" err="1">
                <a:solidFill>
                  <a:srgbClr val="002060"/>
                </a:solidFill>
                <a:latin typeface="Courier New" panose="02070309020205020404" pitchFamily="49" charset="0"/>
              </a:rPr>
              <a:t>this.nome</a:t>
            </a: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= nome;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     </a:t>
            </a:r>
            <a:r>
              <a:rPr lang="pt-BR" altLang="pt-BR" sz="1700" dirty="0" err="1">
                <a:solidFill>
                  <a:srgbClr val="002060"/>
                </a:solidFill>
                <a:latin typeface="Courier New" panose="02070309020205020404" pitchFamily="49" charset="0"/>
              </a:rPr>
              <a:t>this.idade</a:t>
            </a: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= idade;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   } </a:t>
            </a:r>
          </a:p>
          <a:p>
            <a:pPr marL="732155" lvl="1" indent="-457200">
              <a:lnSpc>
                <a:spcPct val="80000"/>
              </a:lnSpc>
              <a:buFont typeface="Franklin Gothic Book" pitchFamily="34" charset="0"/>
              <a:buAutoNum type="arabicPeriod"/>
            </a:pPr>
            <a:r>
              <a:rPr lang="pt-BR" altLang="pt-BR" sz="1700" dirty="0">
                <a:solidFill>
                  <a:srgbClr val="00206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Espaço Reservado para Conteúdo 1">
            <a:extLst>
              <a:ext uri="{FF2B5EF4-FFF2-40B4-BE49-F238E27FC236}">
                <a16:creationId xmlns:a16="http://schemas.microsoft.com/office/drawing/2014/main" id="{B18F50C2-2CBA-DC17-E00E-0F07B84A3A17}"/>
              </a:ext>
            </a:extLst>
          </p:cNvPr>
          <p:cNvSpPr txBox="1"/>
          <p:nvPr/>
        </p:nvSpPr>
        <p:spPr bwMode="auto">
          <a:xfrm>
            <a:off x="287337" y="3110176"/>
            <a:ext cx="8569325" cy="1910826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B0F0"/>
              </a:buClr>
              <a:defRPr/>
            </a:pPr>
            <a:r>
              <a:rPr lang="pt-BR" sz="1800" dirty="0">
                <a:solidFill>
                  <a:srgbClr val="000000"/>
                </a:solidFill>
              </a:rPr>
              <a:t>Implementando a classe </a:t>
            </a:r>
            <a:r>
              <a:rPr lang="pt-BR" sz="1800" b="1" dirty="0">
                <a:solidFill>
                  <a:srgbClr val="000000"/>
                </a:solidFill>
              </a:rPr>
              <a:t>Aluno</a:t>
            </a:r>
            <a:r>
              <a:rPr lang="pt-BR" sz="1800" dirty="0">
                <a:solidFill>
                  <a:srgbClr val="000000"/>
                </a:solidFill>
              </a:rPr>
              <a:t> que herda da classe </a:t>
            </a:r>
            <a:r>
              <a:rPr lang="pt-BR" sz="1800" b="1" dirty="0">
                <a:solidFill>
                  <a:srgbClr val="000000"/>
                </a:solidFill>
              </a:rPr>
              <a:t>Pessoa</a:t>
            </a:r>
            <a:r>
              <a:rPr lang="pt-BR" sz="1800" dirty="0">
                <a:solidFill>
                  <a:srgbClr val="000000"/>
                </a:solidFill>
              </a:rPr>
              <a:t>:</a:t>
            </a:r>
          </a:p>
          <a:p>
            <a:pPr marL="617855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pt-BR" sz="1700" dirty="0" err="1">
                <a:solidFill>
                  <a:srgbClr val="002060"/>
                </a:solidFill>
                <a:latin typeface="Courier New" panose="02070309020205020404"/>
              </a:rPr>
              <a:t>public</a:t>
            </a:r>
            <a:r>
              <a:rPr lang="pt-BR" sz="1700" dirty="0">
                <a:solidFill>
                  <a:srgbClr val="002060"/>
                </a:solidFill>
                <a:latin typeface="Courier New" panose="02070309020205020404"/>
              </a:rPr>
              <a:t> </a:t>
            </a:r>
            <a:r>
              <a:rPr lang="pt-BR" sz="1700" dirty="0" err="1">
                <a:solidFill>
                  <a:srgbClr val="002060"/>
                </a:solidFill>
                <a:latin typeface="Courier New" panose="02070309020205020404"/>
              </a:rPr>
              <a:t>class</a:t>
            </a:r>
            <a:r>
              <a:rPr lang="pt-BR" sz="1700" dirty="0">
                <a:solidFill>
                  <a:srgbClr val="002060"/>
                </a:solidFill>
                <a:latin typeface="Courier New" panose="02070309020205020404"/>
              </a:rPr>
              <a:t> Aluno </a:t>
            </a:r>
            <a:r>
              <a:rPr lang="pt-BR" sz="1700" b="1" dirty="0" err="1">
                <a:solidFill>
                  <a:srgbClr val="FF0000"/>
                </a:solidFill>
                <a:latin typeface="Courier New" panose="02070309020205020404"/>
              </a:rPr>
              <a:t>extends</a:t>
            </a:r>
            <a:r>
              <a:rPr lang="pt-BR" sz="1700" dirty="0">
                <a:solidFill>
                  <a:srgbClr val="FF0000"/>
                </a:solidFill>
                <a:latin typeface="Courier New" panose="02070309020205020404"/>
              </a:rPr>
              <a:t> </a:t>
            </a:r>
            <a:r>
              <a:rPr lang="pt-BR" sz="1700" dirty="0">
                <a:solidFill>
                  <a:srgbClr val="002060"/>
                </a:solidFill>
                <a:latin typeface="Courier New" panose="02070309020205020404"/>
              </a:rPr>
              <a:t>Pessoa{ </a:t>
            </a:r>
          </a:p>
          <a:p>
            <a:pPr marL="617855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pt-BR" sz="1700" dirty="0">
                <a:solidFill>
                  <a:srgbClr val="002060"/>
                </a:solidFill>
                <a:latin typeface="Courier New" panose="02070309020205020404"/>
              </a:rPr>
              <a:t>   </a:t>
            </a:r>
            <a:r>
              <a:rPr lang="pt-BR" sz="1700" dirty="0" err="1">
                <a:solidFill>
                  <a:srgbClr val="002060"/>
                </a:solidFill>
                <a:latin typeface="Courier New" panose="02070309020205020404"/>
              </a:rPr>
              <a:t>String</a:t>
            </a:r>
            <a:r>
              <a:rPr lang="pt-BR" sz="1700" dirty="0">
                <a:solidFill>
                  <a:srgbClr val="002060"/>
                </a:solidFill>
                <a:latin typeface="Courier New" panose="02070309020205020404"/>
              </a:rPr>
              <a:t> matricula;</a:t>
            </a:r>
          </a:p>
          <a:p>
            <a:pPr marL="617855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   public </a:t>
            </a:r>
            <a:r>
              <a:rPr lang="en-US" sz="1700" dirty="0" err="1">
                <a:solidFill>
                  <a:srgbClr val="002060"/>
                </a:solidFill>
                <a:latin typeface="Courier New" panose="02070309020205020404"/>
              </a:rPr>
              <a:t>Aluno</a:t>
            </a: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(String </a:t>
            </a:r>
            <a:r>
              <a:rPr lang="en-US" sz="1700" dirty="0" err="1">
                <a:solidFill>
                  <a:srgbClr val="002060"/>
                </a:solidFill>
                <a:latin typeface="Courier New" panose="02070309020205020404"/>
              </a:rPr>
              <a:t>nome</a:t>
            </a: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, </a:t>
            </a:r>
            <a:r>
              <a:rPr lang="en-US" sz="1700" dirty="0" err="1">
                <a:solidFill>
                  <a:srgbClr val="002060"/>
                </a:solidFill>
                <a:latin typeface="Courier New" panose="02070309020205020404"/>
              </a:rPr>
              <a:t>int</a:t>
            </a: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 </a:t>
            </a:r>
            <a:r>
              <a:rPr lang="en-US" sz="1700" dirty="0" err="1">
                <a:solidFill>
                  <a:srgbClr val="002060"/>
                </a:solidFill>
                <a:latin typeface="Courier New" panose="02070309020205020404"/>
              </a:rPr>
              <a:t>idade</a:t>
            </a: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, String </a:t>
            </a:r>
            <a:r>
              <a:rPr lang="en-US" sz="1700" dirty="0" err="1">
                <a:solidFill>
                  <a:srgbClr val="002060"/>
                </a:solidFill>
                <a:latin typeface="Courier New" panose="02070309020205020404"/>
              </a:rPr>
              <a:t>matricula</a:t>
            </a: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){</a:t>
            </a:r>
          </a:p>
          <a:p>
            <a:pPr marL="617855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       </a:t>
            </a:r>
            <a:r>
              <a:rPr lang="en-US" sz="1700" b="1" dirty="0">
                <a:solidFill>
                  <a:srgbClr val="FF0000"/>
                </a:solidFill>
                <a:latin typeface="Courier New" panose="02070309020205020404"/>
              </a:rPr>
              <a:t>super</a:t>
            </a: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(</a:t>
            </a:r>
            <a:r>
              <a:rPr lang="en-US" sz="1700" dirty="0" err="1">
                <a:solidFill>
                  <a:srgbClr val="002060"/>
                </a:solidFill>
                <a:latin typeface="Courier New" panose="02070309020205020404"/>
              </a:rPr>
              <a:t>nome</a:t>
            </a: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, </a:t>
            </a:r>
            <a:r>
              <a:rPr lang="en-US" sz="1700" dirty="0" err="1">
                <a:solidFill>
                  <a:srgbClr val="002060"/>
                </a:solidFill>
                <a:latin typeface="Courier New" panose="02070309020205020404"/>
              </a:rPr>
              <a:t>idade</a:t>
            </a: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);</a:t>
            </a:r>
          </a:p>
          <a:p>
            <a:pPr marL="617855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       </a:t>
            </a:r>
            <a:r>
              <a:rPr lang="en-US" sz="1700" dirty="0" err="1">
                <a:solidFill>
                  <a:srgbClr val="002060"/>
                </a:solidFill>
                <a:latin typeface="Courier New" panose="02070309020205020404"/>
              </a:rPr>
              <a:t>this.matricula</a:t>
            </a: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 = </a:t>
            </a:r>
            <a:r>
              <a:rPr lang="en-US" sz="1700" dirty="0" err="1">
                <a:solidFill>
                  <a:srgbClr val="002060"/>
                </a:solidFill>
                <a:latin typeface="Courier New" panose="02070309020205020404"/>
              </a:rPr>
              <a:t>matricula</a:t>
            </a: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;</a:t>
            </a:r>
          </a:p>
          <a:p>
            <a:pPr marL="617855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1700" dirty="0">
                <a:solidFill>
                  <a:srgbClr val="002060"/>
                </a:solidFill>
                <a:latin typeface="Courier New" panose="02070309020205020404"/>
              </a:rPr>
              <a:t>   }</a:t>
            </a:r>
            <a:endParaRPr lang="pt-BR" sz="1700" dirty="0">
              <a:solidFill>
                <a:srgbClr val="002060"/>
              </a:solidFill>
              <a:latin typeface="Courier New" panose="02070309020205020404"/>
            </a:endParaRPr>
          </a:p>
          <a:p>
            <a:pPr marL="617855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pt-BR" sz="1700" dirty="0">
                <a:solidFill>
                  <a:srgbClr val="002060"/>
                </a:solidFill>
                <a:latin typeface="Courier New" panose="02070309020205020404"/>
              </a:rPr>
              <a:t>}</a:t>
            </a:r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endParaRPr lang="pt-BR" sz="1600" dirty="0">
              <a:solidFill>
                <a:srgbClr val="002060"/>
              </a:solidFill>
              <a:latin typeface="Courier New" panose="02070309020205020404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BC31CB7-A21B-1712-3BCC-0279EAB1FE4B}"/>
              </a:ext>
            </a:extLst>
          </p:cNvPr>
          <p:cNvSpPr/>
          <p:nvPr/>
        </p:nvSpPr>
        <p:spPr bwMode="auto">
          <a:xfrm>
            <a:off x="504056" y="3407094"/>
            <a:ext cx="8136904" cy="275015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softEdge rad="12700"/>
          </a:effectLst>
        </p:spPr>
        <p:txBody>
          <a:bodyPr wrap="none" anchor="ctr"/>
          <a:lstStyle/>
          <a:p>
            <a:pPr algn="ctr">
              <a:defRPr/>
            </a:pPr>
            <a:endParaRPr lang="pt-BR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5" name="Conector em curva 2">
            <a:extLst>
              <a:ext uri="{FF2B5EF4-FFF2-40B4-BE49-F238E27FC236}">
                <a16:creationId xmlns:a16="http://schemas.microsoft.com/office/drawing/2014/main" id="{6620C5AB-072B-DB78-CC57-78CE758ED413}"/>
              </a:ext>
            </a:extLst>
          </p:cNvPr>
          <p:cNvCxnSpPr>
            <a:cxnSpLocks/>
            <a:stCxn id="7" idx="1"/>
            <a:endCxn id="6" idx="1"/>
          </p:cNvCxnSpPr>
          <p:nvPr/>
        </p:nvCxnSpPr>
        <p:spPr>
          <a:xfrm rot="10800000">
            <a:off x="468312" y="2049510"/>
            <a:ext cx="35744" cy="2253402"/>
          </a:xfrm>
          <a:prstGeom prst="curvedConnector3">
            <a:avLst>
              <a:gd name="adj1" fmla="val 739548"/>
            </a:avLst>
          </a:prstGeom>
          <a:ln w="47625">
            <a:solidFill>
              <a:srgbClr val="0070C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E16AC0E2-6994-463A-CE6C-FECB7BC89C9C}"/>
              </a:ext>
            </a:extLst>
          </p:cNvPr>
          <p:cNvSpPr/>
          <p:nvPr/>
        </p:nvSpPr>
        <p:spPr bwMode="auto">
          <a:xfrm>
            <a:off x="468312" y="1912002"/>
            <a:ext cx="8136904" cy="275015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softEdge rad="12700"/>
          </a:effectLst>
        </p:spPr>
        <p:txBody>
          <a:bodyPr wrap="none" anchor="ctr"/>
          <a:lstStyle/>
          <a:p>
            <a:pPr algn="ctr">
              <a:defRPr/>
            </a:pPr>
            <a:endParaRPr lang="pt-BR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BC7CF22-64E9-C9E4-29AE-7AF4B7B6BE5D}"/>
              </a:ext>
            </a:extLst>
          </p:cNvPr>
          <p:cNvSpPr/>
          <p:nvPr/>
        </p:nvSpPr>
        <p:spPr bwMode="auto">
          <a:xfrm>
            <a:off x="504056" y="4165404"/>
            <a:ext cx="8136904" cy="275015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softEdge rad="12700"/>
          </a:effectLst>
        </p:spPr>
        <p:txBody>
          <a:bodyPr wrap="none" anchor="ctr"/>
          <a:lstStyle/>
          <a:p>
            <a:pPr algn="ctr">
              <a:defRPr/>
            </a:pPr>
            <a:endParaRPr lang="pt-BR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67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0691C2C-1FD1-83FC-8B74-D51DB8321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1D59BE8D-757F-3602-D88A-3CE568C0DC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Super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1F8999E7-C4EF-F883-5DF4-F1549853F5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dirty="0"/>
              <a:t>O operador “super” é capaz de chamar os métodos da classe Pai.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7768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8638B1C-5D87-FD91-4C5E-C590F395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90B19E0-2EF0-251C-6BFD-19E2734022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Herança – Hierarquia de classes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58F5A5D-E127-5D43-19DB-1D1A16399E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2" name="Grupo 14338">
            <a:extLst>
              <a:ext uri="{FF2B5EF4-FFF2-40B4-BE49-F238E27FC236}">
                <a16:creationId xmlns:a16="http://schemas.microsoft.com/office/drawing/2014/main" id="{824A7F2C-6D73-C8A8-2F85-3B6B1DE41A14}"/>
              </a:ext>
            </a:extLst>
          </p:cNvPr>
          <p:cNvGrpSpPr/>
          <p:nvPr/>
        </p:nvGrpSpPr>
        <p:grpSpPr bwMode="auto">
          <a:xfrm>
            <a:off x="1448537" y="1189553"/>
            <a:ext cx="5645314" cy="3023342"/>
            <a:chOff x="755576" y="1772816"/>
            <a:chExt cx="6835046" cy="3732059"/>
          </a:xfrm>
        </p:grpSpPr>
        <p:sp>
          <p:nvSpPr>
            <p:cNvPr id="3" name="Retângulo de cantos arredondados 5">
              <a:extLst>
                <a:ext uri="{FF2B5EF4-FFF2-40B4-BE49-F238E27FC236}">
                  <a16:creationId xmlns:a16="http://schemas.microsoft.com/office/drawing/2014/main" id="{2B5C27EC-EFEC-3E24-3F92-0A6347271C84}"/>
                </a:ext>
              </a:extLst>
            </p:cNvPr>
            <p:cNvSpPr/>
            <p:nvPr/>
          </p:nvSpPr>
          <p:spPr>
            <a:xfrm>
              <a:off x="2051720" y="3199725"/>
              <a:ext cx="1468654" cy="644664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sz="1600" b="1" dirty="0">
                  <a:solidFill>
                    <a:srgbClr val="0000CC"/>
                  </a:solidFill>
                </a:rPr>
                <a:t>Pessoa</a:t>
              </a:r>
            </a:p>
            <a:p>
              <a:pPr algn="ctr" defTabSz="405765" eaLnBrk="1" hangingPunct="1">
                <a:defRPr/>
              </a:pPr>
              <a:r>
                <a:rPr lang="pt-BR" sz="1600" b="1" dirty="0">
                  <a:solidFill>
                    <a:srgbClr val="0000CC"/>
                  </a:solidFill>
                </a:rPr>
                <a:t>Física</a:t>
              </a:r>
            </a:p>
          </p:txBody>
        </p:sp>
        <p:cxnSp>
          <p:nvCxnSpPr>
            <p:cNvPr id="4" name="Conector angulado 7">
              <a:extLst>
                <a:ext uri="{FF2B5EF4-FFF2-40B4-BE49-F238E27FC236}">
                  <a16:creationId xmlns:a16="http://schemas.microsoft.com/office/drawing/2014/main" id="{FF12C577-489E-F7D6-77AC-F086157F24AB}"/>
                </a:ext>
              </a:extLst>
            </p:cNvPr>
            <p:cNvCxnSpPr/>
            <p:nvPr/>
          </p:nvCxnSpPr>
          <p:spPr>
            <a:xfrm rot="5400000" flipH="1" flipV="1">
              <a:off x="2711925" y="2168911"/>
              <a:ext cx="1104855" cy="957161"/>
            </a:xfrm>
            <a:prstGeom prst="bentConnector2">
              <a:avLst/>
            </a:prstGeom>
            <a:ln w="34925">
              <a:solidFill>
                <a:schemeClr val="tx1"/>
              </a:solidFill>
              <a:miter lim="800000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tângulo de cantos arredondados 8">
              <a:extLst>
                <a:ext uri="{FF2B5EF4-FFF2-40B4-BE49-F238E27FC236}">
                  <a16:creationId xmlns:a16="http://schemas.microsoft.com/office/drawing/2014/main" id="{47C55DAE-7D66-8BD9-7438-9012F26B04C6}"/>
                </a:ext>
              </a:extLst>
            </p:cNvPr>
            <p:cNvSpPr/>
            <p:nvPr/>
          </p:nvSpPr>
          <p:spPr>
            <a:xfrm>
              <a:off x="5436894" y="3258482"/>
              <a:ext cx="1583378" cy="644664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sz="1600" b="1" dirty="0">
                  <a:solidFill>
                    <a:srgbClr val="0000CC"/>
                  </a:solidFill>
                </a:rPr>
                <a:t>Pessoa</a:t>
              </a:r>
            </a:p>
            <a:p>
              <a:pPr algn="ctr" defTabSz="405765" eaLnBrk="1" hangingPunct="1">
                <a:defRPr/>
              </a:pPr>
              <a:r>
                <a:rPr lang="pt-BR" sz="1600" b="1" dirty="0">
                  <a:solidFill>
                    <a:srgbClr val="0000CC"/>
                  </a:solidFill>
                </a:rPr>
                <a:t>Jurídica</a:t>
              </a:r>
            </a:p>
          </p:txBody>
        </p:sp>
        <p:sp>
          <p:nvSpPr>
            <p:cNvPr id="6" name="Retângulo de cantos arredondados 9">
              <a:extLst>
                <a:ext uri="{FF2B5EF4-FFF2-40B4-BE49-F238E27FC236}">
                  <a16:creationId xmlns:a16="http://schemas.microsoft.com/office/drawing/2014/main" id="{427363F4-5BFB-9386-0A03-717CAC3892E3}"/>
                </a:ext>
              </a:extLst>
            </p:cNvPr>
            <p:cNvSpPr/>
            <p:nvPr/>
          </p:nvSpPr>
          <p:spPr>
            <a:xfrm>
              <a:off x="3743508" y="1772816"/>
              <a:ext cx="1468654" cy="64466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sz="1600" b="1" dirty="0">
                  <a:solidFill>
                    <a:schemeClr val="tx1"/>
                  </a:solidFill>
                </a:rPr>
                <a:t>Pessoa</a:t>
              </a:r>
            </a:p>
          </p:txBody>
        </p:sp>
        <p:cxnSp>
          <p:nvCxnSpPr>
            <p:cNvPr id="7" name="Conector angulado 10">
              <a:extLst>
                <a:ext uri="{FF2B5EF4-FFF2-40B4-BE49-F238E27FC236}">
                  <a16:creationId xmlns:a16="http://schemas.microsoft.com/office/drawing/2014/main" id="{3DD75B67-A1F3-91D2-CF40-325158AC138D}"/>
                </a:ext>
              </a:extLst>
            </p:cNvPr>
            <p:cNvCxnSpPr/>
            <p:nvPr/>
          </p:nvCxnSpPr>
          <p:spPr>
            <a:xfrm rot="16200000" flipV="1">
              <a:off x="5138157" y="2168120"/>
              <a:ext cx="1163590" cy="1017479"/>
            </a:xfrm>
            <a:prstGeom prst="bentConnector2">
              <a:avLst/>
            </a:prstGeom>
            <a:ln w="34925">
              <a:solidFill>
                <a:schemeClr val="tx1"/>
              </a:solidFill>
              <a:miter lim="800000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tângulo de cantos arredondados 11">
              <a:extLst>
                <a:ext uri="{FF2B5EF4-FFF2-40B4-BE49-F238E27FC236}">
                  <a16:creationId xmlns:a16="http://schemas.microsoft.com/office/drawing/2014/main" id="{C8EF89E9-A839-16EC-ABDF-ED2AE6495578}"/>
                </a:ext>
              </a:extLst>
            </p:cNvPr>
            <p:cNvSpPr/>
            <p:nvPr/>
          </p:nvSpPr>
          <p:spPr>
            <a:xfrm>
              <a:off x="755576" y="4860207"/>
              <a:ext cx="1468654" cy="644664"/>
            </a:xfrm>
            <a:prstGeom prst="roundRect">
              <a:avLst/>
            </a:prstGeom>
            <a:solidFill>
              <a:srgbClr val="FF66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sz="1600" b="1" dirty="0">
                  <a:solidFill>
                    <a:srgbClr val="EAEAEA"/>
                  </a:solidFill>
                </a:rPr>
                <a:t>Aluno</a:t>
              </a:r>
            </a:p>
          </p:txBody>
        </p:sp>
        <p:sp>
          <p:nvSpPr>
            <p:cNvPr id="9" name="Retângulo de cantos arredondados 12">
              <a:extLst>
                <a:ext uri="{FF2B5EF4-FFF2-40B4-BE49-F238E27FC236}">
                  <a16:creationId xmlns:a16="http://schemas.microsoft.com/office/drawing/2014/main" id="{EBAB222D-8C85-6F5A-C131-768929E07EBC}"/>
                </a:ext>
              </a:extLst>
            </p:cNvPr>
            <p:cNvSpPr/>
            <p:nvPr/>
          </p:nvSpPr>
          <p:spPr>
            <a:xfrm>
              <a:off x="3282051" y="4860207"/>
              <a:ext cx="1624173" cy="644664"/>
            </a:xfrm>
            <a:prstGeom prst="roundRect">
              <a:avLst/>
            </a:prstGeom>
            <a:solidFill>
              <a:srgbClr val="FF66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sz="1600" b="1" dirty="0">
                  <a:solidFill>
                    <a:srgbClr val="EAEAEA"/>
                  </a:solidFill>
                </a:rPr>
                <a:t>Professor</a:t>
              </a:r>
            </a:p>
          </p:txBody>
        </p:sp>
        <p:sp>
          <p:nvSpPr>
            <p:cNvPr id="10" name="Retângulo de cantos arredondados 13">
              <a:extLst>
                <a:ext uri="{FF2B5EF4-FFF2-40B4-BE49-F238E27FC236}">
                  <a16:creationId xmlns:a16="http://schemas.microsoft.com/office/drawing/2014/main" id="{77A20595-5B28-4574-4DF5-7D7358311C92}"/>
                </a:ext>
              </a:extLst>
            </p:cNvPr>
            <p:cNvSpPr/>
            <p:nvPr/>
          </p:nvSpPr>
          <p:spPr>
            <a:xfrm>
              <a:off x="5838489" y="4860211"/>
              <a:ext cx="1752133" cy="644664"/>
            </a:xfrm>
            <a:prstGeom prst="roundRect">
              <a:avLst/>
            </a:prstGeom>
            <a:solidFill>
              <a:srgbClr val="FF66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sz="1600" b="1" dirty="0">
                  <a:solidFill>
                    <a:srgbClr val="EAEAEA"/>
                  </a:solidFill>
                </a:rPr>
                <a:t>Faculdade</a:t>
              </a:r>
            </a:p>
          </p:txBody>
        </p:sp>
        <p:cxnSp>
          <p:nvCxnSpPr>
            <p:cNvPr id="11" name="Conector angulado 14">
              <a:extLst>
                <a:ext uri="{FF2B5EF4-FFF2-40B4-BE49-F238E27FC236}">
                  <a16:creationId xmlns:a16="http://schemas.microsoft.com/office/drawing/2014/main" id="{F40CC4FE-032C-4480-62C7-382B77CDE07F}"/>
                </a:ext>
              </a:extLst>
            </p:cNvPr>
            <p:cNvCxnSpPr/>
            <p:nvPr/>
          </p:nvCxnSpPr>
          <p:spPr>
            <a:xfrm rot="5400000" flipH="1" flipV="1">
              <a:off x="1102363" y="3910316"/>
              <a:ext cx="1336620" cy="560328"/>
            </a:xfrm>
            <a:prstGeom prst="bentConnector2">
              <a:avLst/>
            </a:prstGeom>
            <a:ln w="34925">
              <a:solidFill>
                <a:schemeClr val="tx1"/>
              </a:solidFill>
              <a:miter lim="800000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angulado 15">
              <a:extLst>
                <a:ext uri="{FF2B5EF4-FFF2-40B4-BE49-F238E27FC236}">
                  <a16:creationId xmlns:a16="http://schemas.microsoft.com/office/drawing/2014/main" id="{5D6DA12B-901E-7FFC-B2EA-523B37890770}"/>
                </a:ext>
              </a:extLst>
            </p:cNvPr>
            <p:cNvCxnSpPr/>
            <p:nvPr/>
          </p:nvCxnSpPr>
          <p:spPr>
            <a:xfrm rot="16200000" flipV="1">
              <a:off x="3139703" y="3903173"/>
              <a:ext cx="1336620" cy="574614"/>
            </a:xfrm>
            <a:prstGeom prst="bentConnector2">
              <a:avLst/>
            </a:prstGeom>
            <a:ln w="34925">
              <a:solidFill>
                <a:schemeClr val="tx1"/>
              </a:solidFill>
              <a:miter lim="800000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angulado 16">
              <a:extLst>
                <a:ext uri="{FF2B5EF4-FFF2-40B4-BE49-F238E27FC236}">
                  <a16:creationId xmlns:a16="http://schemas.microsoft.com/office/drawing/2014/main" id="{B1B862B7-2306-E82D-37C0-47F725B38783}"/>
                </a:ext>
              </a:extLst>
            </p:cNvPr>
            <p:cNvCxnSpPr/>
            <p:nvPr/>
          </p:nvCxnSpPr>
          <p:spPr>
            <a:xfrm rot="16200000" flipV="1">
              <a:off x="5993736" y="4138110"/>
              <a:ext cx="955636" cy="485723"/>
            </a:xfrm>
            <a:prstGeom prst="bentConnector3">
              <a:avLst>
                <a:gd name="adj1" fmla="val 50000"/>
              </a:avLst>
            </a:prstGeom>
            <a:ln w="34925">
              <a:solidFill>
                <a:schemeClr val="tx1"/>
              </a:solidFill>
              <a:miter lim="800000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o Explicativo 1 17">
            <a:extLst>
              <a:ext uri="{FF2B5EF4-FFF2-40B4-BE49-F238E27FC236}">
                <a16:creationId xmlns:a16="http://schemas.microsoft.com/office/drawing/2014/main" id="{34AECF03-BFEA-907D-7194-90B54E165790}"/>
              </a:ext>
            </a:extLst>
          </p:cNvPr>
          <p:cNvSpPr/>
          <p:nvPr/>
        </p:nvSpPr>
        <p:spPr bwMode="auto">
          <a:xfrm>
            <a:off x="6335274" y="972767"/>
            <a:ext cx="1756960" cy="433573"/>
          </a:xfrm>
          <a:prstGeom prst="borderCallout1">
            <a:avLst>
              <a:gd name="adj1" fmla="val 50514"/>
              <a:gd name="adj2" fmla="val -102"/>
              <a:gd name="adj3" fmla="val 70874"/>
              <a:gd name="adj4" fmla="val -67123"/>
            </a:avLst>
          </a:prstGeom>
          <a:solidFill>
            <a:srgbClr val="92D050"/>
          </a:solidFill>
          <a:ln w="22225" algn="ctr">
            <a:solidFill>
              <a:srgbClr val="0070C0"/>
            </a:solidFill>
            <a:round/>
            <a:tailEnd type="arrow" w="med" len="med"/>
          </a:ln>
        </p:spPr>
        <p:txBody>
          <a:bodyPr wrap="none" lIns="91430" tIns="45715" rIns="91430" bIns="45715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 i="1">
                <a:solidFill>
                  <a:srgbClr val="000000"/>
                </a:solidFill>
              </a:rPr>
              <a:t>Superclasse</a:t>
            </a:r>
          </a:p>
        </p:txBody>
      </p:sp>
      <p:sp>
        <p:nvSpPr>
          <p:cNvPr id="15" name="Texto Explicativo 1 18">
            <a:extLst>
              <a:ext uri="{FF2B5EF4-FFF2-40B4-BE49-F238E27FC236}">
                <a16:creationId xmlns:a16="http://schemas.microsoft.com/office/drawing/2014/main" id="{C277ACC0-D216-8504-CF09-1B80D68FB636}"/>
              </a:ext>
            </a:extLst>
          </p:cNvPr>
          <p:cNvSpPr/>
          <p:nvPr/>
        </p:nvSpPr>
        <p:spPr bwMode="auto">
          <a:xfrm>
            <a:off x="311225" y="1090976"/>
            <a:ext cx="1709700" cy="777160"/>
          </a:xfrm>
          <a:prstGeom prst="borderCallout1">
            <a:avLst>
              <a:gd name="adj1" fmla="val 100676"/>
              <a:gd name="adj2" fmla="val 51250"/>
              <a:gd name="adj3" fmla="val 164262"/>
              <a:gd name="adj4" fmla="val 127126"/>
            </a:avLst>
          </a:prstGeom>
          <a:solidFill>
            <a:srgbClr val="92D050"/>
          </a:solidFill>
          <a:ln w="22225" algn="ctr">
            <a:solidFill>
              <a:srgbClr val="0070C0"/>
            </a:solidFill>
            <a:round/>
            <a:tailEnd type="arrow" w="med" len="med"/>
          </a:ln>
        </p:spPr>
        <p:txBody>
          <a:bodyPr wrap="none" lIns="91430" tIns="45715" rIns="91430" bIns="45715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 i="1">
                <a:solidFill>
                  <a:srgbClr val="000000"/>
                </a:solidFill>
              </a:rPr>
              <a:t>Subclasse e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 i="1">
                <a:solidFill>
                  <a:srgbClr val="000000"/>
                </a:solidFill>
              </a:rPr>
              <a:t>Superclasse</a:t>
            </a:r>
          </a:p>
        </p:txBody>
      </p:sp>
      <p:sp>
        <p:nvSpPr>
          <p:cNvPr id="16" name="Texto Explicativo 1 19">
            <a:extLst>
              <a:ext uri="{FF2B5EF4-FFF2-40B4-BE49-F238E27FC236}">
                <a16:creationId xmlns:a16="http://schemas.microsoft.com/office/drawing/2014/main" id="{A40D9534-61EE-93C3-4D06-EC6FE28AF46C}"/>
              </a:ext>
            </a:extLst>
          </p:cNvPr>
          <p:cNvSpPr/>
          <p:nvPr/>
        </p:nvSpPr>
        <p:spPr bwMode="auto">
          <a:xfrm>
            <a:off x="6884261" y="1579729"/>
            <a:ext cx="1709700" cy="775797"/>
          </a:xfrm>
          <a:prstGeom prst="borderCallout1">
            <a:avLst>
              <a:gd name="adj1" fmla="val 100676"/>
              <a:gd name="adj2" fmla="val 51250"/>
              <a:gd name="adj3" fmla="val 152426"/>
              <a:gd name="adj4" fmla="val -16699"/>
            </a:avLst>
          </a:prstGeom>
          <a:solidFill>
            <a:srgbClr val="92D050"/>
          </a:solidFill>
          <a:ln w="22225" algn="ctr">
            <a:solidFill>
              <a:srgbClr val="0070C0"/>
            </a:solidFill>
            <a:round/>
            <a:tailEnd type="arrow" w="med" len="med"/>
          </a:ln>
        </p:spPr>
        <p:txBody>
          <a:bodyPr wrap="none" lIns="91430" tIns="45715" rIns="91430" bIns="45715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 i="1">
                <a:solidFill>
                  <a:srgbClr val="000000"/>
                </a:solidFill>
              </a:rPr>
              <a:t>Subclasse e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 i="1">
                <a:solidFill>
                  <a:srgbClr val="000000"/>
                </a:solidFill>
              </a:rPr>
              <a:t>Superclasse</a:t>
            </a:r>
          </a:p>
        </p:txBody>
      </p:sp>
      <p:sp>
        <p:nvSpPr>
          <p:cNvPr id="17" name="Texto Explicativo 1 20">
            <a:extLst>
              <a:ext uri="{FF2B5EF4-FFF2-40B4-BE49-F238E27FC236}">
                <a16:creationId xmlns:a16="http://schemas.microsoft.com/office/drawing/2014/main" id="{7BB4977D-E936-D78A-B193-0F0E7FD6EFCF}"/>
              </a:ext>
            </a:extLst>
          </p:cNvPr>
          <p:cNvSpPr/>
          <p:nvPr/>
        </p:nvSpPr>
        <p:spPr bwMode="auto">
          <a:xfrm>
            <a:off x="5968893" y="4521599"/>
            <a:ext cx="1541511" cy="434936"/>
          </a:xfrm>
          <a:prstGeom prst="borderCallout1">
            <a:avLst>
              <a:gd name="adj1" fmla="val 3144"/>
              <a:gd name="adj2" fmla="val 49676"/>
              <a:gd name="adj3" fmla="val -58968"/>
              <a:gd name="adj4" fmla="val 48193"/>
            </a:avLst>
          </a:prstGeom>
          <a:solidFill>
            <a:srgbClr val="92D050"/>
          </a:solidFill>
          <a:ln w="22225" algn="ctr">
            <a:solidFill>
              <a:srgbClr val="0070C0"/>
            </a:solidFill>
            <a:round/>
            <a:tailEnd type="arrow" w="med" len="med"/>
          </a:ln>
        </p:spPr>
        <p:txBody>
          <a:bodyPr wrap="none" lIns="91430" tIns="45715" rIns="91430" bIns="45715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 i="1">
                <a:solidFill>
                  <a:srgbClr val="000000"/>
                </a:solidFill>
              </a:rPr>
              <a:t>Subclasse</a:t>
            </a:r>
          </a:p>
        </p:txBody>
      </p:sp>
      <p:sp>
        <p:nvSpPr>
          <p:cNvPr id="18" name="Texto Explicativo 1 21">
            <a:extLst>
              <a:ext uri="{FF2B5EF4-FFF2-40B4-BE49-F238E27FC236}">
                <a16:creationId xmlns:a16="http://schemas.microsoft.com/office/drawing/2014/main" id="{AD9CEBFF-B78C-80ED-A961-D8133A0CE38C}"/>
              </a:ext>
            </a:extLst>
          </p:cNvPr>
          <p:cNvSpPr/>
          <p:nvPr/>
        </p:nvSpPr>
        <p:spPr bwMode="auto">
          <a:xfrm>
            <a:off x="1132421" y="4642126"/>
            <a:ext cx="1540120" cy="434936"/>
          </a:xfrm>
          <a:prstGeom prst="borderCallout1">
            <a:avLst>
              <a:gd name="adj1" fmla="val 3144"/>
              <a:gd name="adj2" fmla="val 49676"/>
              <a:gd name="adj3" fmla="val -85056"/>
              <a:gd name="adj4" fmla="val 50981"/>
            </a:avLst>
          </a:prstGeom>
          <a:solidFill>
            <a:srgbClr val="92D050"/>
          </a:solidFill>
          <a:ln w="22225" algn="ctr">
            <a:solidFill>
              <a:srgbClr val="0070C0"/>
            </a:solidFill>
            <a:round/>
            <a:tailEnd type="arrow" w="med" len="med"/>
          </a:ln>
        </p:spPr>
        <p:txBody>
          <a:bodyPr wrap="none" lIns="91430" tIns="45715" rIns="91430" bIns="45715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 i="1">
                <a:solidFill>
                  <a:srgbClr val="000000"/>
                </a:solidFill>
              </a:rPr>
              <a:t>Subclasse</a:t>
            </a:r>
          </a:p>
        </p:txBody>
      </p:sp>
      <p:sp>
        <p:nvSpPr>
          <p:cNvPr id="19" name="Texto Explicativo 1 22">
            <a:extLst>
              <a:ext uri="{FF2B5EF4-FFF2-40B4-BE49-F238E27FC236}">
                <a16:creationId xmlns:a16="http://schemas.microsoft.com/office/drawing/2014/main" id="{3082AA0A-23E1-A357-323A-033F865907E9}"/>
              </a:ext>
            </a:extLst>
          </p:cNvPr>
          <p:cNvSpPr/>
          <p:nvPr/>
        </p:nvSpPr>
        <p:spPr bwMode="auto">
          <a:xfrm>
            <a:off x="3435222" y="4564003"/>
            <a:ext cx="1541510" cy="434936"/>
          </a:xfrm>
          <a:prstGeom prst="borderCallout1">
            <a:avLst>
              <a:gd name="adj1" fmla="val 3144"/>
              <a:gd name="adj2" fmla="val 49676"/>
              <a:gd name="adj3" fmla="val -74102"/>
              <a:gd name="adj4" fmla="val 49412"/>
            </a:avLst>
          </a:prstGeom>
          <a:solidFill>
            <a:srgbClr val="92D050"/>
          </a:solidFill>
          <a:ln w="22225" algn="ctr">
            <a:solidFill>
              <a:srgbClr val="0070C0"/>
            </a:solidFill>
            <a:round/>
            <a:tailEnd type="arrow" w="med" len="med"/>
          </a:ln>
        </p:spPr>
        <p:txBody>
          <a:bodyPr wrap="none" lIns="91430" tIns="45715" rIns="91430" bIns="45715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 i="1">
                <a:solidFill>
                  <a:srgbClr val="000000"/>
                </a:solidFill>
              </a:rPr>
              <a:t>Subclasse</a:t>
            </a:r>
          </a:p>
        </p:txBody>
      </p:sp>
    </p:spTree>
    <p:extLst>
      <p:ext uri="{BB962C8B-B14F-4D97-AF65-F5344CB8AC3E}">
        <p14:creationId xmlns:p14="http://schemas.microsoft.com/office/powerpoint/2010/main" val="312140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A8B4176-310F-05BD-59FC-B0A4920B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C3B46B8-922F-6589-03B2-EBDE0C278E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Herança – Hierarquia de classes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1A7C38C-322B-2388-2332-CA97B0A981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Superclasse direta:</a:t>
            </a:r>
          </a:p>
          <a:p>
            <a:pPr marL="566420" lvl="1" indent="-342900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Herdada explicitamente (um nível acima na hierarquia).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pt-BR" altLang="pt-BR" sz="20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Superclasse indireta (herança em cadeia):</a:t>
            </a:r>
          </a:p>
          <a:p>
            <a:pPr marL="566420" lvl="1" indent="-342900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Herdada de dois ou mais níveis acima na hierarquia.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pt-BR" altLang="pt-BR" sz="20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Herança única:</a:t>
            </a:r>
          </a:p>
          <a:p>
            <a:pPr marL="566420" lvl="1" indent="-342900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Herda apenas uma superclasse.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pt-BR" altLang="pt-BR" sz="20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Herança múltipla:</a:t>
            </a:r>
          </a:p>
          <a:p>
            <a:pPr marL="566420" lvl="1" indent="-342900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Herda múltiplas superclasses.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5799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89EDC17-AB13-2276-62AF-3CB1E219A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D6407B5-FFDA-5E3A-AC4D-0091E051FE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Herança Múltipla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62C7A53-E253-A424-CB0A-FF406E002A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 eaLnBrk="1" hangingPunct="1">
              <a:buNone/>
            </a:pPr>
            <a:r>
              <a:rPr lang="pt-BR" altLang="pt-BR" sz="1600" dirty="0">
                <a:solidFill>
                  <a:srgbClr val="000000"/>
                </a:solidFill>
              </a:rPr>
              <a:t>Uma classe possui mais de uma superclasse. </a:t>
            </a:r>
          </a:p>
          <a:p>
            <a:pPr marL="76200" indent="0" eaLnBrk="1" hangingPunct="1">
              <a:buNone/>
            </a:pPr>
            <a:r>
              <a:rPr lang="pt-BR" altLang="pt-BR" sz="1600" dirty="0">
                <a:solidFill>
                  <a:srgbClr val="000000"/>
                </a:solidFill>
              </a:rPr>
              <a:t>Exemplos de Herança Múltipla: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B4C131E-EE97-07A8-E237-762924C99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327" y="4620291"/>
            <a:ext cx="1185955" cy="30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400" b="1" dirty="0">
                <a:latin typeface="Lucida Sans Unicode" panose="020B0602030504020204" pitchFamily="34" charset="0"/>
                <a:ea typeface="MS PGothic" panose="020B0600070205080204" pitchFamily="34" charset="-128"/>
              </a:rPr>
              <a:t>Exemplo 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9C59B3-858F-AC94-85EE-051A64AC0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2853" y="4620291"/>
            <a:ext cx="1174086" cy="30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400" b="1" dirty="0">
                <a:latin typeface="Lucida Sans Unicode" panose="020B0602030504020204" pitchFamily="34" charset="0"/>
                <a:ea typeface="MS PGothic" panose="020B0600070205080204" pitchFamily="34" charset="-128"/>
              </a:rPr>
              <a:t>Exemplo 2</a:t>
            </a:r>
          </a:p>
        </p:txBody>
      </p:sp>
      <p:grpSp>
        <p:nvGrpSpPr>
          <p:cNvPr id="4" name="Grupo 19">
            <a:extLst>
              <a:ext uri="{FF2B5EF4-FFF2-40B4-BE49-F238E27FC236}">
                <a16:creationId xmlns:a16="http://schemas.microsoft.com/office/drawing/2014/main" id="{1EC126E1-2144-4A95-D0D8-1FA6ED3745B3}"/>
              </a:ext>
            </a:extLst>
          </p:cNvPr>
          <p:cNvGrpSpPr/>
          <p:nvPr/>
        </p:nvGrpSpPr>
        <p:grpSpPr bwMode="auto">
          <a:xfrm>
            <a:off x="257851" y="2200413"/>
            <a:ext cx="3619906" cy="2140000"/>
            <a:chOff x="431102" y="3203133"/>
            <a:chExt cx="3996084" cy="2362498"/>
          </a:xfrm>
        </p:grpSpPr>
        <p:sp>
          <p:nvSpPr>
            <p:cNvPr id="5" name="Retângulo de cantos arredondados 5">
              <a:extLst>
                <a:ext uri="{FF2B5EF4-FFF2-40B4-BE49-F238E27FC236}">
                  <a16:creationId xmlns:a16="http://schemas.microsoft.com/office/drawing/2014/main" id="{9EF45E08-6318-2CB2-F4BD-A3E06F986826}"/>
                </a:ext>
              </a:extLst>
            </p:cNvPr>
            <p:cNvSpPr/>
            <p:nvPr/>
          </p:nvSpPr>
          <p:spPr>
            <a:xfrm>
              <a:off x="431102" y="3206979"/>
              <a:ext cx="1621726" cy="64466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b="1" dirty="0">
                  <a:solidFill>
                    <a:schemeClr val="tx1"/>
                  </a:solidFill>
                </a:rPr>
                <a:t>Estudante</a:t>
              </a:r>
            </a:p>
          </p:txBody>
        </p:sp>
        <p:cxnSp>
          <p:nvCxnSpPr>
            <p:cNvPr id="6" name="Conector angulado 11">
              <a:extLst>
                <a:ext uri="{FF2B5EF4-FFF2-40B4-BE49-F238E27FC236}">
                  <a16:creationId xmlns:a16="http://schemas.microsoft.com/office/drawing/2014/main" id="{7B33D981-6687-BCC5-3E73-963583D27D70}"/>
                </a:ext>
              </a:extLst>
            </p:cNvPr>
            <p:cNvCxnSpPr/>
            <p:nvPr/>
          </p:nvCxnSpPr>
          <p:spPr>
            <a:xfrm rot="10800000">
              <a:off x="1174125" y="3788986"/>
              <a:ext cx="523919" cy="1454341"/>
            </a:xfrm>
            <a:prstGeom prst="bentConnector2">
              <a:avLst/>
            </a:prstGeom>
            <a:ln w="34925">
              <a:solidFill>
                <a:schemeClr val="tx1"/>
              </a:solidFill>
              <a:miter lim="800000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tângulo de cantos arredondados 12">
              <a:extLst>
                <a:ext uri="{FF2B5EF4-FFF2-40B4-BE49-F238E27FC236}">
                  <a16:creationId xmlns:a16="http://schemas.microsoft.com/office/drawing/2014/main" id="{06E2BDB1-B53A-CA85-52AD-1E1FF9DCFA7A}"/>
                </a:ext>
              </a:extLst>
            </p:cNvPr>
            <p:cNvSpPr/>
            <p:nvPr/>
          </p:nvSpPr>
          <p:spPr>
            <a:xfrm>
              <a:off x="2502974" y="3203133"/>
              <a:ext cx="1924212" cy="64466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b="1" dirty="0">
                  <a:solidFill>
                    <a:schemeClr val="tx1"/>
                  </a:solidFill>
                </a:rPr>
                <a:t>Trabalhador</a:t>
              </a:r>
            </a:p>
          </p:txBody>
        </p:sp>
        <p:sp>
          <p:nvSpPr>
            <p:cNvPr id="8" name="Retângulo de cantos arredondados 13">
              <a:extLst>
                <a:ext uri="{FF2B5EF4-FFF2-40B4-BE49-F238E27FC236}">
                  <a16:creationId xmlns:a16="http://schemas.microsoft.com/office/drawing/2014/main" id="{D4FE845A-F2BA-EF21-8846-22505BC179D2}"/>
                </a:ext>
              </a:extLst>
            </p:cNvPr>
            <p:cNvSpPr/>
            <p:nvPr/>
          </p:nvSpPr>
          <p:spPr>
            <a:xfrm>
              <a:off x="1698790" y="4920967"/>
              <a:ext cx="1468654" cy="64466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b="1" dirty="0">
                  <a:solidFill>
                    <a:schemeClr val="tx1"/>
                  </a:solidFill>
                </a:rPr>
                <a:t>Monitor</a:t>
              </a:r>
            </a:p>
          </p:txBody>
        </p:sp>
        <p:cxnSp>
          <p:nvCxnSpPr>
            <p:cNvPr id="9" name="Conector angulado 17">
              <a:extLst>
                <a:ext uri="{FF2B5EF4-FFF2-40B4-BE49-F238E27FC236}">
                  <a16:creationId xmlns:a16="http://schemas.microsoft.com/office/drawing/2014/main" id="{3154CB4C-1F4C-2D1F-CD14-C6C3734C83B0}"/>
                </a:ext>
              </a:extLst>
            </p:cNvPr>
            <p:cNvCxnSpPr/>
            <p:nvPr/>
          </p:nvCxnSpPr>
          <p:spPr>
            <a:xfrm flipV="1">
              <a:off x="3168193" y="3847730"/>
              <a:ext cx="539795" cy="1395596"/>
            </a:xfrm>
            <a:prstGeom prst="bentConnector2">
              <a:avLst/>
            </a:prstGeom>
            <a:ln w="34925">
              <a:solidFill>
                <a:schemeClr val="tx1"/>
              </a:solidFill>
              <a:miter lim="800000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o 23">
            <a:extLst>
              <a:ext uri="{FF2B5EF4-FFF2-40B4-BE49-F238E27FC236}">
                <a16:creationId xmlns:a16="http://schemas.microsoft.com/office/drawing/2014/main" id="{42C4D99A-FAB1-EBC9-53F6-F0AC307ACE9B}"/>
              </a:ext>
            </a:extLst>
          </p:cNvPr>
          <p:cNvGrpSpPr/>
          <p:nvPr/>
        </p:nvGrpSpPr>
        <p:grpSpPr bwMode="auto">
          <a:xfrm>
            <a:off x="4803614" y="2190979"/>
            <a:ext cx="3579441" cy="2142417"/>
            <a:chOff x="477344" y="3200464"/>
            <a:chExt cx="3949841" cy="2365167"/>
          </a:xfrm>
        </p:grpSpPr>
        <p:sp>
          <p:nvSpPr>
            <p:cNvPr id="11" name="Retângulo de cantos arredondados 24">
              <a:extLst>
                <a:ext uri="{FF2B5EF4-FFF2-40B4-BE49-F238E27FC236}">
                  <a16:creationId xmlns:a16="http://schemas.microsoft.com/office/drawing/2014/main" id="{92925349-0E48-DC04-9270-8FAF874F554C}"/>
                </a:ext>
              </a:extLst>
            </p:cNvPr>
            <p:cNvSpPr/>
            <p:nvPr/>
          </p:nvSpPr>
          <p:spPr>
            <a:xfrm>
              <a:off x="477344" y="3200464"/>
              <a:ext cx="1468654" cy="644664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b="1" dirty="0">
                  <a:solidFill>
                    <a:srgbClr val="0000CC"/>
                  </a:solidFill>
                </a:rPr>
                <a:t>Carro</a:t>
              </a:r>
            </a:p>
          </p:txBody>
        </p:sp>
        <p:cxnSp>
          <p:nvCxnSpPr>
            <p:cNvPr id="12" name="Conector angulado 25">
              <a:extLst>
                <a:ext uri="{FF2B5EF4-FFF2-40B4-BE49-F238E27FC236}">
                  <a16:creationId xmlns:a16="http://schemas.microsoft.com/office/drawing/2014/main" id="{BFF3086E-B768-6B2D-F125-08DB91839C0D}"/>
                </a:ext>
              </a:extLst>
            </p:cNvPr>
            <p:cNvCxnSpPr/>
            <p:nvPr/>
          </p:nvCxnSpPr>
          <p:spPr>
            <a:xfrm rot="10800000">
              <a:off x="1173831" y="3788986"/>
              <a:ext cx="385642" cy="1454341"/>
            </a:xfrm>
            <a:prstGeom prst="bentConnector2">
              <a:avLst/>
            </a:prstGeom>
            <a:ln w="34925">
              <a:solidFill>
                <a:schemeClr val="tx1"/>
              </a:solidFill>
              <a:miter lim="800000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tângulo de cantos arredondados 26">
              <a:extLst>
                <a:ext uri="{FF2B5EF4-FFF2-40B4-BE49-F238E27FC236}">
                  <a16:creationId xmlns:a16="http://schemas.microsoft.com/office/drawing/2014/main" id="{991B1607-6126-7519-2A9E-7AAF0E658BD6}"/>
                </a:ext>
              </a:extLst>
            </p:cNvPr>
            <p:cNvSpPr/>
            <p:nvPr/>
          </p:nvSpPr>
          <p:spPr>
            <a:xfrm>
              <a:off x="2733101" y="3203133"/>
              <a:ext cx="1694084" cy="644664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b="1" dirty="0">
                  <a:solidFill>
                    <a:srgbClr val="0000CC"/>
                  </a:solidFill>
                </a:rPr>
                <a:t>Brinquedo</a:t>
              </a:r>
            </a:p>
          </p:txBody>
        </p:sp>
        <p:sp>
          <p:nvSpPr>
            <p:cNvPr id="14" name="Retângulo de cantos arredondados 27">
              <a:extLst>
                <a:ext uri="{FF2B5EF4-FFF2-40B4-BE49-F238E27FC236}">
                  <a16:creationId xmlns:a16="http://schemas.microsoft.com/office/drawing/2014/main" id="{E871DEE5-1E7B-EEBA-BFB2-67371297A737}"/>
                </a:ext>
              </a:extLst>
            </p:cNvPr>
            <p:cNvSpPr/>
            <p:nvPr/>
          </p:nvSpPr>
          <p:spPr>
            <a:xfrm>
              <a:off x="1558430" y="4920967"/>
              <a:ext cx="1738898" cy="644664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b="1" dirty="0">
                  <a:solidFill>
                    <a:srgbClr val="0000CC"/>
                  </a:solidFill>
                </a:rPr>
                <a:t>Carro de Brinquedo</a:t>
              </a:r>
            </a:p>
          </p:txBody>
        </p:sp>
        <p:cxnSp>
          <p:nvCxnSpPr>
            <p:cNvPr id="15" name="Conector angulado 28">
              <a:extLst>
                <a:ext uri="{FF2B5EF4-FFF2-40B4-BE49-F238E27FC236}">
                  <a16:creationId xmlns:a16="http://schemas.microsoft.com/office/drawing/2014/main" id="{74EDE1A2-6DFA-32B2-0DBE-E6434F8103FF}"/>
                </a:ext>
              </a:extLst>
            </p:cNvPr>
            <p:cNvCxnSpPr/>
            <p:nvPr/>
          </p:nvCxnSpPr>
          <p:spPr>
            <a:xfrm flipV="1">
              <a:off x="3297240" y="3847730"/>
              <a:ext cx="282486" cy="1395596"/>
            </a:xfrm>
            <a:prstGeom prst="bentConnector2">
              <a:avLst/>
            </a:prstGeom>
            <a:ln w="34925">
              <a:solidFill>
                <a:schemeClr val="tx1"/>
              </a:solidFill>
              <a:miter lim="800000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o Explicativo 1 18">
            <a:extLst>
              <a:ext uri="{FF2B5EF4-FFF2-40B4-BE49-F238E27FC236}">
                <a16:creationId xmlns:a16="http://schemas.microsoft.com/office/drawing/2014/main" id="{9C1B76C3-3A54-4293-5109-A2C61EE06D5B}"/>
              </a:ext>
            </a:extLst>
          </p:cNvPr>
          <p:cNvSpPr/>
          <p:nvPr/>
        </p:nvSpPr>
        <p:spPr bwMode="auto">
          <a:xfrm>
            <a:off x="5672519" y="1187463"/>
            <a:ext cx="1994754" cy="457341"/>
          </a:xfrm>
          <a:prstGeom prst="borderCallout1">
            <a:avLst>
              <a:gd name="adj1" fmla="val 50514"/>
              <a:gd name="adj2" fmla="val -102"/>
              <a:gd name="adj3" fmla="val 146236"/>
              <a:gd name="adj4" fmla="val -53935"/>
            </a:avLst>
          </a:prstGeom>
          <a:solidFill>
            <a:srgbClr val="92D050"/>
          </a:solidFill>
          <a:ln w="22225" algn="ctr">
            <a:solidFill>
              <a:srgbClr val="0070C0"/>
            </a:solidFill>
            <a:round/>
            <a:tailEnd type="arrow" w="med" len="med"/>
          </a:ln>
        </p:spPr>
        <p:txBody>
          <a:bodyPr wrap="none" lIns="91430" tIns="45715" rIns="91430" bIns="45715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 b="1" i="1" dirty="0">
                <a:solidFill>
                  <a:srgbClr val="000000"/>
                </a:solidFill>
              </a:rPr>
              <a:t>Superclasses</a:t>
            </a:r>
          </a:p>
        </p:txBody>
      </p:sp>
      <p:sp>
        <p:nvSpPr>
          <p:cNvPr id="17" name="Chave esquerda 1">
            <a:extLst>
              <a:ext uri="{FF2B5EF4-FFF2-40B4-BE49-F238E27FC236}">
                <a16:creationId xmlns:a16="http://schemas.microsoft.com/office/drawing/2014/main" id="{092F866E-036E-507E-AA23-65CE03B46BD6}"/>
              </a:ext>
            </a:extLst>
          </p:cNvPr>
          <p:cNvSpPr/>
          <p:nvPr/>
        </p:nvSpPr>
        <p:spPr>
          <a:xfrm rot="5400000">
            <a:off x="4168702" y="-2272863"/>
            <a:ext cx="520621" cy="8425931"/>
          </a:xfrm>
          <a:prstGeom prst="leftBrace">
            <a:avLst/>
          </a:prstGeom>
          <a:ln w="476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0" tIns="45715" rIns="91430" bIns="45715" anchor="ctr"/>
          <a:lstStyle/>
          <a:p>
            <a:pPr algn="ctr" defTabSz="405765" eaLnBrk="1" hangingPunct="1">
              <a:defRPr/>
            </a:pPr>
            <a:endParaRPr lang="pt-BR"/>
          </a:p>
        </p:txBody>
      </p:sp>
      <p:sp>
        <p:nvSpPr>
          <p:cNvPr id="18" name="Texto Explicativo 1 20">
            <a:extLst>
              <a:ext uri="{FF2B5EF4-FFF2-40B4-BE49-F238E27FC236}">
                <a16:creationId xmlns:a16="http://schemas.microsoft.com/office/drawing/2014/main" id="{B53AED9E-380D-208F-1E6C-F18E3EFB00DA}"/>
              </a:ext>
            </a:extLst>
          </p:cNvPr>
          <p:cNvSpPr/>
          <p:nvPr/>
        </p:nvSpPr>
        <p:spPr bwMode="auto">
          <a:xfrm>
            <a:off x="3603252" y="4540382"/>
            <a:ext cx="1750265" cy="457341"/>
          </a:xfrm>
          <a:prstGeom prst="borderCallout1">
            <a:avLst>
              <a:gd name="adj1" fmla="val -14192"/>
              <a:gd name="adj2" fmla="val 52710"/>
              <a:gd name="adj3" fmla="val -71218"/>
              <a:gd name="adj4" fmla="val 119787"/>
            </a:avLst>
          </a:prstGeom>
          <a:solidFill>
            <a:srgbClr val="92D050"/>
          </a:solidFill>
          <a:ln w="47625" algn="ctr">
            <a:solidFill>
              <a:srgbClr val="0070C0"/>
            </a:solidFill>
            <a:round/>
            <a:tailEnd type="arrow" w="med" len="med"/>
          </a:ln>
        </p:spPr>
        <p:txBody>
          <a:bodyPr wrap="none" lIns="91430" tIns="45715" rIns="91430" bIns="45715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 b="1" i="1">
                <a:solidFill>
                  <a:srgbClr val="000000"/>
                </a:solidFill>
              </a:rPr>
              <a:t>Subclasses</a:t>
            </a:r>
          </a:p>
        </p:txBody>
      </p:sp>
      <p:sp>
        <p:nvSpPr>
          <p:cNvPr id="19" name="Texto Explicativo 1 21">
            <a:extLst>
              <a:ext uri="{FF2B5EF4-FFF2-40B4-BE49-F238E27FC236}">
                <a16:creationId xmlns:a16="http://schemas.microsoft.com/office/drawing/2014/main" id="{52912CE7-5D2B-3EF7-4090-56C7BC8CD41A}"/>
              </a:ext>
            </a:extLst>
          </p:cNvPr>
          <p:cNvSpPr/>
          <p:nvPr/>
        </p:nvSpPr>
        <p:spPr bwMode="auto">
          <a:xfrm flipH="1" flipV="1">
            <a:off x="4478383" y="4404428"/>
            <a:ext cx="45719" cy="45719"/>
          </a:xfrm>
          <a:prstGeom prst="borderCallout1">
            <a:avLst>
              <a:gd name="adj1" fmla="val -90463"/>
              <a:gd name="adj2" fmla="val -14435"/>
              <a:gd name="adj3" fmla="val 690176"/>
              <a:gd name="adj4" fmla="val 3632546"/>
            </a:avLst>
          </a:prstGeom>
          <a:noFill/>
          <a:ln w="47625" algn="ctr">
            <a:solidFill>
              <a:srgbClr val="0070C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5" rIns="91430" bIns="45715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8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8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8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pt-BR" sz="2400" b="1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92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6682CC1-9040-7974-C359-D6EF6ED0B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4DC28CE9-0E16-FA27-D73D-5CD664F9F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Herança Múltipla em Java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A432B23-B816-8BB9-6DCE-EA18179EA0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Java não suporta herança múltipla.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Herança Múltipla em Java ocorre a partir: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Da extensão de outra classe (superclasse); e 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Do uso de interfaces.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Assinatura de uma classe Java com herança múltipla: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5E1C795-92F7-1812-57E7-42A12BCD6D24}"/>
              </a:ext>
            </a:extLst>
          </p:cNvPr>
          <p:cNvSpPr/>
          <p:nvPr/>
        </p:nvSpPr>
        <p:spPr>
          <a:xfrm>
            <a:off x="394447" y="3935506"/>
            <a:ext cx="8130988" cy="111162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pt-BR" sz="1800" dirty="0">
                <a:solidFill>
                  <a:srgbClr val="002060"/>
                </a:solidFill>
                <a:latin typeface="Courier New" panose="02070309020205020404"/>
              </a:rPr>
              <a:t>[modificadores] </a:t>
            </a:r>
            <a:r>
              <a:rPr lang="pt-BR" sz="1800" dirty="0" err="1">
                <a:solidFill>
                  <a:srgbClr val="002060"/>
                </a:solidFill>
                <a:latin typeface="Courier New" panose="02070309020205020404"/>
              </a:rPr>
              <a:t>class</a:t>
            </a:r>
            <a:r>
              <a:rPr lang="pt-BR" sz="1800" dirty="0">
                <a:solidFill>
                  <a:srgbClr val="002060"/>
                </a:solidFill>
                <a:latin typeface="Courier New" panose="02070309020205020404"/>
              </a:rPr>
              <a:t> [</a:t>
            </a:r>
            <a:r>
              <a:rPr lang="pt-BR" sz="1800" dirty="0" err="1">
                <a:solidFill>
                  <a:srgbClr val="002060"/>
                </a:solidFill>
                <a:latin typeface="Courier New" panose="02070309020205020404"/>
              </a:rPr>
              <a:t>nome_classe</a:t>
            </a:r>
            <a:r>
              <a:rPr lang="pt-BR" sz="1800" dirty="0">
                <a:solidFill>
                  <a:srgbClr val="002060"/>
                </a:solidFill>
                <a:latin typeface="Courier New" panose="02070309020205020404"/>
              </a:rPr>
              <a:t>] </a:t>
            </a:r>
            <a:r>
              <a:rPr lang="pt-BR" sz="1800" b="1" dirty="0" err="1">
                <a:solidFill>
                  <a:srgbClr val="FF0000"/>
                </a:solidFill>
                <a:latin typeface="Courier New" panose="02070309020205020404"/>
              </a:rPr>
              <a:t>extends</a:t>
            </a:r>
            <a:r>
              <a:rPr lang="pt-BR" sz="1800" b="1" dirty="0">
                <a:solidFill>
                  <a:srgbClr val="FF0000"/>
                </a:solidFill>
                <a:latin typeface="Courier New" panose="02070309020205020404"/>
              </a:rPr>
              <a:t> </a:t>
            </a:r>
            <a:r>
              <a:rPr lang="pt-BR" sz="1800" dirty="0">
                <a:solidFill>
                  <a:srgbClr val="002060"/>
                </a:solidFill>
                <a:latin typeface="Courier New" panose="02070309020205020404"/>
              </a:rPr>
              <a:t>[</a:t>
            </a:r>
            <a:r>
              <a:rPr lang="pt-BR" sz="1800" dirty="0" err="1">
                <a:solidFill>
                  <a:srgbClr val="002060"/>
                </a:solidFill>
                <a:latin typeface="Courier New" panose="02070309020205020404"/>
              </a:rPr>
              <a:t>nome_superclasse</a:t>
            </a:r>
            <a:r>
              <a:rPr lang="pt-BR" sz="1800" dirty="0">
                <a:solidFill>
                  <a:srgbClr val="002060"/>
                </a:solidFill>
                <a:latin typeface="Courier New" panose="02070309020205020404"/>
              </a:rPr>
              <a:t>] </a:t>
            </a:r>
            <a:r>
              <a:rPr lang="pt-BR" sz="1800" b="1" dirty="0" err="1">
                <a:solidFill>
                  <a:srgbClr val="FF0000"/>
                </a:solidFill>
                <a:latin typeface="Courier New" panose="02070309020205020404"/>
              </a:rPr>
              <a:t>implements</a:t>
            </a:r>
            <a:r>
              <a:rPr lang="pt-BR" sz="1800" dirty="0">
                <a:solidFill>
                  <a:srgbClr val="FF0000"/>
                </a:solidFill>
                <a:latin typeface="Courier New" panose="02070309020205020404"/>
              </a:rPr>
              <a:t> </a:t>
            </a:r>
            <a:r>
              <a:rPr lang="pt-BR" sz="1800" dirty="0">
                <a:solidFill>
                  <a:srgbClr val="002060"/>
                </a:solidFill>
                <a:latin typeface="Courier New" panose="02070309020205020404"/>
              </a:rPr>
              <a:t>[nome_interface1], [nome_interface2], ... , [</a:t>
            </a:r>
            <a:r>
              <a:rPr lang="pt-BR" sz="1800" dirty="0" err="1">
                <a:solidFill>
                  <a:srgbClr val="002060"/>
                </a:solidFill>
                <a:latin typeface="Courier New" panose="02070309020205020404"/>
              </a:rPr>
              <a:t>nome_interfaceN</a:t>
            </a:r>
            <a:r>
              <a:rPr lang="pt-BR" sz="1800" dirty="0">
                <a:solidFill>
                  <a:srgbClr val="002060"/>
                </a:solidFill>
                <a:latin typeface="Courier New" panose="02070309020205020404"/>
              </a:rPr>
              <a:t>] </a:t>
            </a:r>
            <a:endParaRPr lang="pt-BR" sz="1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228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A5BEA8D-5FD4-93C0-F3AB-D3533C3BB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1127907-A908-923E-9F38-69347BBE5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E058FED2-0F04-447C-40FD-A7F4382D1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25625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sz="1800" dirty="0"/>
              <a:t>Escreva um programa em Java que implemente a Herança a partir das classes abaixo conforme mostrado no diagrama  de classes da UML.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2" name="Grupo 3">
            <a:extLst>
              <a:ext uri="{FF2B5EF4-FFF2-40B4-BE49-F238E27FC236}">
                <a16:creationId xmlns:a16="http://schemas.microsoft.com/office/drawing/2014/main" id="{E3DC6CC0-443D-DBEC-AE7F-3CFB3AA1A73E}"/>
              </a:ext>
            </a:extLst>
          </p:cNvPr>
          <p:cNvGrpSpPr/>
          <p:nvPr/>
        </p:nvGrpSpPr>
        <p:grpSpPr bwMode="auto">
          <a:xfrm>
            <a:off x="4250792" y="716494"/>
            <a:ext cx="3816350" cy="1800226"/>
            <a:chOff x="3347864" y="2420887"/>
            <a:chExt cx="2232248" cy="1800201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9855838C-E36D-5F60-68EC-84835C9AB92B}"/>
                </a:ext>
              </a:extLst>
            </p:cNvPr>
            <p:cNvSpPr/>
            <p:nvPr/>
          </p:nvSpPr>
          <p:spPr>
            <a:xfrm>
              <a:off x="3347864" y="2420887"/>
              <a:ext cx="2232248" cy="287334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pt-BR" sz="1600" b="1" dirty="0">
                  <a:solidFill>
                    <a:srgbClr val="000000"/>
                  </a:solidFill>
                </a:rPr>
                <a:t>Veiculo</a:t>
              </a:r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313194F-3150-C947-9AE1-AC4FCD534B56}"/>
                </a:ext>
              </a:extLst>
            </p:cNvPr>
            <p:cNvSpPr/>
            <p:nvPr/>
          </p:nvSpPr>
          <p:spPr>
            <a:xfrm>
              <a:off x="3347864" y="2708222"/>
              <a:ext cx="2232248" cy="504818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pt-BR" sz="1400" dirty="0">
                  <a:solidFill>
                    <a:srgbClr val="000000"/>
                  </a:solidFill>
                </a:rPr>
                <a:t>- marca: </a:t>
              </a:r>
              <a:r>
                <a:rPr lang="pt-BR" sz="1400" dirty="0" err="1">
                  <a:solidFill>
                    <a:srgbClr val="000000"/>
                  </a:solidFill>
                </a:rPr>
                <a:t>String</a:t>
              </a:r>
              <a:endParaRPr lang="pt-BR" sz="1400" dirty="0">
                <a:solidFill>
                  <a:srgbClr val="000000"/>
                </a:solidFill>
              </a:endParaRPr>
            </a:p>
            <a:p>
              <a:pPr eaLnBrk="1" hangingPunct="1">
                <a:defRPr/>
              </a:pPr>
              <a:r>
                <a:rPr lang="pt-BR" sz="1400" dirty="0">
                  <a:solidFill>
                    <a:srgbClr val="000000"/>
                  </a:solidFill>
                </a:rPr>
                <a:t>- velocidade: Double</a:t>
              </a:r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E039D4FC-FA0C-2433-48AA-FF8A5B0F0A6F}"/>
                </a:ext>
              </a:extLst>
            </p:cNvPr>
            <p:cNvSpPr/>
            <p:nvPr/>
          </p:nvSpPr>
          <p:spPr>
            <a:xfrm>
              <a:off x="3347864" y="3213040"/>
              <a:ext cx="2232248" cy="1008048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pt-BR" sz="1400" dirty="0">
                  <a:solidFill>
                    <a:srgbClr val="000000"/>
                  </a:solidFill>
                </a:rPr>
                <a:t>+ Veiculo(marca: </a:t>
              </a:r>
              <a:r>
                <a:rPr lang="pt-BR" sz="1400" dirty="0" err="1">
                  <a:solidFill>
                    <a:srgbClr val="000000"/>
                  </a:solidFill>
                </a:rPr>
                <a:t>String</a:t>
              </a:r>
              <a:r>
                <a:rPr lang="pt-BR" sz="1400" dirty="0">
                  <a:solidFill>
                    <a:srgbClr val="000000"/>
                  </a:solidFill>
                </a:rPr>
                <a:t>, velocidade: Double)</a:t>
              </a:r>
            </a:p>
            <a:p>
              <a:pPr eaLnBrk="1" hangingPunct="1">
                <a:defRPr/>
              </a:pPr>
              <a:r>
                <a:rPr lang="pt-BR" sz="1400" dirty="0">
                  <a:solidFill>
                    <a:srgbClr val="000000"/>
                  </a:solidFill>
                </a:rPr>
                <a:t>+ </a:t>
              </a:r>
              <a:r>
                <a:rPr lang="pt-BR" sz="1400" dirty="0" err="1">
                  <a:solidFill>
                    <a:srgbClr val="000000"/>
                  </a:solidFill>
                </a:rPr>
                <a:t>getMarca</a:t>
              </a:r>
              <a:r>
                <a:rPr lang="pt-BR" sz="1400" dirty="0">
                  <a:solidFill>
                    <a:srgbClr val="000000"/>
                  </a:solidFill>
                </a:rPr>
                <a:t>(): </a:t>
              </a:r>
              <a:r>
                <a:rPr lang="pt-BR" sz="1400" dirty="0" err="1">
                  <a:solidFill>
                    <a:srgbClr val="000000"/>
                  </a:solidFill>
                </a:rPr>
                <a:t>String</a:t>
              </a:r>
              <a:endParaRPr lang="pt-BR" sz="1400" dirty="0">
                <a:solidFill>
                  <a:srgbClr val="000000"/>
                </a:solidFill>
              </a:endParaRPr>
            </a:p>
            <a:p>
              <a:pPr eaLnBrk="1" hangingPunct="1">
                <a:defRPr/>
              </a:pPr>
              <a:r>
                <a:rPr lang="pt-BR" sz="1400" dirty="0">
                  <a:solidFill>
                    <a:srgbClr val="000000"/>
                  </a:solidFill>
                </a:rPr>
                <a:t>+ </a:t>
              </a:r>
              <a:r>
                <a:rPr lang="pt-BR" sz="1400" dirty="0" err="1">
                  <a:solidFill>
                    <a:srgbClr val="000000"/>
                  </a:solidFill>
                </a:rPr>
                <a:t>setMarca</a:t>
              </a:r>
              <a:r>
                <a:rPr lang="pt-BR" sz="1400" dirty="0">
                  <a:solidFill>
                    <a:srgbClr val="000000"/>
                  </a:solidFill>
                </a:rPr>
                <a:t>(</a:t>
              </a:r>
              <a:r>
                <a:rPr lang="pt-BR" sz="1400" dirty="0" err="1">
                  <a:solidFill>
                    <a:srgbClr val="000000"/>
                  </a:solidFill>
                </a:rPr>
                <a:t>String</a:t>
              </a:r>
              <a:r>
                <a:rPr lang="pt-BR" sz="1400" dirty="0">
                  <a:solidFill>
                    <a:srgbClr val="000000"/>
                  </a:solidFill>
                </a:rPr>
                <a:t> marca) : </a:t>
              </a:r>
              <a:r>
                <a:rPr lang="pt-BR" sz="1400" dirty="0" err="1">
                  <a:solidFill>
                    <a:srgbClr val="000000"/>
                  </a:solidFill>
                </a:rPr>
                <a:t>Void</a:t>
              </a:r>
              <a:endParaRPr lang="pt-BR" sz="1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6" name="Grupo 4">
            <a:extLst>
              <a:ext uri="{FF2B5EF4-FFF2-40B4-BE49-F238E27FC236}">
                <a16:creationId xmlns:a16="http://schemas.microsoft.com/office/drawing/2014/main" id="{8D47FC0F-FAA7-0F2F-1700-1011B82C568A}"/>
              </a:ext>
            </a:extLst>
          </p:cNvPr>
          <p:cNvGrpSpPr/>
          <p:nvPr/>
        </p:nvGrpSpPr>
        <p:grpSpPr bwMode="auto">
          <a:xfrm>
            <a:off x="5153187" y="3335871"/>
            <a:ext cx="3780155" cy="1679575"/>
            <a:chOff x="6228184" y="4558440"/>
            <a:chExt cx="2232248" cy="167887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DAA52DEE-BA61-482C-AA35-9EB17ABBFF70}"/>
                </a:ext>
              </a:extLst>
            </p:cNvPr>
            <p:cNvSpPr/>
            <p:nvPr/>
          </p:nvSpPr>
          <p:spPr>
            <a:xfrm>
              <a:off x="6228184" y="4558440"/>
              <a:ext cx="2232248" cy="288804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pt-BR" sz="1600" b="1" dirty="0">
                  <a:solidFill>
                    <a:srgbClr val="000000"/>
                  </a:solidFill>
                </a:rPr>
                <a:t>Moto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12D44906-2519-CDB2-B61D-42B492ECB71C}"/>
                </a:ext>
              </a:extLst>
            </p:cNvPr>
            <p:cNvSpPr/>
            <p:nvPr/>
          </p:nvSpPr>
          <p:spPr>
            <a:xfrm>
              <a:off x="6228184" y="4842483"/>
              <a:ext cx="2232248" cy="288804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pt-BR" sz="1400" dirty="0">
                  <a:solidFill>
                    <a:srgbClr val="000000"/>
                  </a:solidFill>
                </a:rPr>
                <a:t>- tamanho: </a:t>
              </a:r>
              <a:r>
                <a:rPr lang="pt-BR" sz="1400" dirty="0" err="1">
                  <a:solidFill>
                    <a:srgbClr val="000000"/>
                  </a:solidFill>
                </a:rPr>
                <a:t>String</a:t>
              </a:r>
              <a:endParaRPr lang="pt-BR" sz="1400" dirty="0">
                <a:solidFill>
                  <a:srgbClr val="000000"/>
                </a:solidFill>
              </a:endParaRP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AC3BBE94-D695-9AD1-0CB8-0D7CDE05FA70}"/>
                </a:ext>
              </a:extLst>
            </p:cNvPr>
            <p:cNvSpPr/>
            <p:nvPr/>
          </p:nvSpPr>
          <p:spPr>
            <a:xfrm>
              <a:off x="6228184" y="5134461"/>
              <a:ext cx="2232248" cy="1102851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pt-BR" sz="1400" dirty="0">
                  <a:solidFill>
                    <a:srgbClr val="000000"/>
                  </a:solidFill>
                </a:rPr>
                <a:t>+ Moto(marca: </a:t>
              </a:r>
              <a:r>
                <a:rPr lang="pt-BR" sz="1400" dirty="0" err="1">
                  <a:solidFill>
                    <a:srgbClr val="000000"/>
                  </a:solidFill>
                </a:rPr>
                <a:t>String</a:t>
              </a:r>
              <a:r>
                <a:rPr lang="pt-BR" sz="1400" dirty="0">
                  <a:solidFill>
                    <a:srgbClr val="000000"/>
                  </a:solidFill>
                </a:rPr>
                <a:t>,  velocidade: Double, tamanho: </a:t>
              </a:r>
              <a:r>
                <a:rPr lang="pt-BR" sz="1400" dirty="0" err="1">
                  <a:solidFill>
                    <a:srgbClr val="000000"/>
                  </a:solidFill>
                </a:rPr>
                <a:t>String</a:t>
              </a:r>
              <a:r>
                <a:rPr lang="pt-BR" sz="1400" dirty="0">
                  <a:solidFill>
                    <a:srgbClr val="000000"/>
                  </a:solidFill>
                </a:rPr>
                <a:t>)</a:t>
              </a:r>
            </a:p>
            <a:p>
              <a:pPr eaLnBrk="1" hangingPunct="1">
                <a:defRPr/>
              </a:pPr>
              <a:r>
                <a:rPr lang="pt-BR" sz="1400" dirty="0">
                  <a:solidFill>
                    <a:srgbClr val="000000"/>
                  </a:solidFill>
                </a:rPr>
                <a:t>+ </a:t>
              </a:r>
              <a:r>
                <a:rPr lang="pt-BR" sz="1400" dirty="0" err="1">
                  <a:solidFill>
                    <a:srgbClr val="000000"/>
                  </a:solidFill>
                </a:rPr>
                <a:t>getTamanho</a:t>
              </a:r>
              <a:r>
                <a:rPr lang="pt-BR" sz="1400" dirty="0">
                  <a:solidFill>
                    <a:srgbClr val="000000"/>
                  </a:solidFill>
                </a:rPr>
                <a:t>(): </a:t>
              </a:r>
              <a:r>
                <a:rPr lang="pt-BR" sz="1400" dirty="0" err="1">
                  <a:solidFill>
                    <a:srgbClr val="000000"/>
                  </a:solidFill>
                </a:rPr>
                <a:t>String</a:t>
              </a:r>
              <a:endParaRPr lang="pt-BR" sz="1400" dirty="0">
                <a:solidFill>
                  <a:srgbClr val="000000"/>
                </a:solidFill>
              </a:endParaRPr>
            </a:p>
            <a:p>
              <a:pPr eaLnBrk="1" hangingPunct="1">
                <a:defRPr/>
              </a:pPr>
              <a:r>
                <a:rPr lang="pt-BR" sz="1400" dirty="0">
                  <a:solidFill>
                    <a:srgbClr val="000000"/>
                  </a:solidFill>
                </a:rPr>
                <a:t>+ </a:t>
              </a:r>
              <a:r>
                <a:rPr lang="pt-BR" sz="1400" dirty="0" err="1">
                  <a:solidFill>
                    <a:srgbClr val="000000"/>
                  </a:solidFill>
                </a:rPr>
                <a:t>setTamanho</a:t>
              </a:r>
              <a:r>
                <a:rPr lang="pt-BR" sz="1400" dirty="0">
                  <a:solidFill>
                    <a:srgbClr val="000000"/>
                  </a:solidFill>
                </a:rPr>
                <a:t>(</a:t>
              </a:r>
              <a:r>
                <a:rPr lang="pt-BR" sz="1400" dirty="0" err="1">
                  <a:solidFill>
                    <a:srgbClr val="000000"/>
                  </a:solidFill>
                </a:rPr>
                <a:t>String</a:t>
              </a:r>
              <a:r>
                <a:rPr lang="pt-BR" sz="1400" dirty="0">
                  <a:solidFill>
                    <a:srgbClr val="000000"/>
                  </a:solidFill>
                </a:rPr>
                <a:t> tamanho) : </a:t>
              </a:r>
              <a:r>
                <a:rPr lang="pt-BR" sz="1400" dirty="0" err="1">
                  <a:solidFill>
                    <a:srgbClr val="000000"/>
                  </a:solidFill>
                </a:rPr>
                <a:t>Void</a:t>
              </a:r>
              <a:endParaRPr lang="pt-BR" sz="1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0" name="Grupo 5">
            <a:extLst>
              <a:ext uri="{FF2B5EF4-FFF2-40B4-BE49-F238E27FC236}">
                <a16:creationId xmlns:a16="http://schemas.microsoft.com/office/drawing/2014/main" id="{51670F71-6B9D-AB7A-E8FE-D17234D90AAB}"/>
              </a:ext>
            </a:extLst>
          </p:cNvPr>
          <p:cNvGrpSpPr/>
          <p:nvPr/>
        </p:nvGrpSpPr>
        <p:grpSpPr bwMode="auto">
          <a:xfrm>
            <a:off x="621767" y="3335871"/>
            <a:ext cx="3629025" cy="1679575"/>
            <a:chOff x="827584" y="4558440"/>
            <a:chExt cx="2232248" cy="1678872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99B2253E-E480-8975-E288-489F15EF014B}"/>
                </a:ext>
              </a:extLst>
            </p:cNvPr>
            <p:cNvSpPr/>
            <p:nvPr/>
          </p:nvSpPr>
          <p:spPr>
            <a:xfrm>
              <a:off x="827584" y="4558440"/>
              <a:ext cx="2232248" cy="288804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pt-BR" sz="1600" b="1" dirty="0">
                  <a:solidFill>
                    <a:srgbClr val="000000"/>
                  </a:solidFill>
                </a:rPr>
                <a:t>Carro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25D682A8-A251-D7B5-676F-3CC4932CBC99}"/>
                </a:ext>
              </a:extLst>
            </p:cNvPr>
            <p:cNvSpPr/>
            <p:nvPr/>
          </p:nvSpPr>
          <p:spPr>
            <a:xfrm>
              <a:off x="827584" y="4847244"/>
              <a:ext cx="2232248" cy="287217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pt-BR" sz="1400" dirty="0">
                  <a:solidFill>
                    <a:srgbClr val="000000"/>
                  </a:solidFill>
                </a:rPr>
                <a:t>- </a:t>
              </a:r>
              <a:r>
                <a:rPr lang="pt-BR" sz="1400" dirty="0" err="1">
                  <a:solidFill>
                    <a:srgbClr val="000000"/>
                  </a:solidFill>
                </a:rPr>
                <a:t>numPortas</a:t>
              </a:r>
              <a:r>
                <a:rPr lang="pt-BR" sz="1400" dirty="0">
                  <a:solidFill>
                    <a:srgbClr val="000000"/>
                  </a:solidFill>
                </a:rPr>
                <a:t>: </a:t>
              </a:r>
              <a:r>
                <a:rPr lang="pt-BR" sz="1400" dirty="0" err="1">
                  <a:solidFill>
                    <a:srgbClr val="000000"/>
                  </a:solidFill>
                </a:rPr>
                <a:t>int</a:t>
              </a:r>
              <a:endParaRPr lang="pt-BR" sz="1400" dirty="0">
                <a:solidFill>
                  <a:srgbClr val="000000"/>
                </a:solidFill>
              </a:endParaRP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18A56C92-EC8C-FEA8-A09E-57D421C9829E}"/>
                </a:ext>
              </a:extLst>
            </p:cNvPr>
            <p:cNvSpPr/>
            <p:nvPr/>
          </p:nvSpPr>
          <p:spPr>
            <a:xfrm>
              <a:off x="827584" y="5134461"/>
              <a:ext cx="2232248" cy="1102851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pt-BR" sz="1400" dirty="0">
                  <a:solidFill>
                    <a:srgbClr val="000000"/>
                  </a:solidFill>
                </a:rPr>
                <a:t>+ Carro(marca: </a:t>
              </a:r>
              <a:r>
                <a:rPr lang="pt-BR" sz="1400" dirty="0" err="1">
                  <a:solidFill>
                    <a:srgbClr val="000000"/>
                  </a:solidFill>
                </a:rPr>
                <a:t>String</a:t>
              </a:r>
              <a:r>
                <a:rPr lang="pt-BR" sz="1400" dirty="0">
                  <a:solidFill>
                    <a:srgbClr val="000000"/>
                  </a:solidFill>
                </a:rPr>
                <a:t>,  velocidade: Double, </a:t>
              </a:r>
              <a:r>
                <a:rPr lang="pt-BR" sz="1400" dirty="0" err="1">
                  <a:solidFill>
                    <a:srgbClr val="000000"/>
                  </a:solidFill>
                </a:rPr>
                <a:t>numPortas</a:t>
              </a:r>
              <a:r>
                <a:rPr lang="pt-BR" sz="1400" dirty="0">
                  <a:solidFill>
                    <a:srgbClr val="000000"/>
                  </a:solidFill>
                </a:rPr>
                <a:t>: </a:t>
              </a:r>
              <a:r>
                <a:rPr lang="pt-BR" sz="1400" dirty="0" err="1">
                  <a:solidFill>
                    <a:srgbClr val="000000"/>
                  </a:solidFill>
                </a:rPr>
                <a:t>int</a:t>
              </a:r>
              <a:r>
                <a:rPr lang="pt-BR" sz="1400" dirty="0">
                  <a:solidFill>
                    <a:srgbClr val="000000"/>
                  </a:solidFill>
                </a:rPr>
                <a:t>)</a:t>
              </a:r>
            </a:p>
            <a:p>
              <a:pPr eaLnBrk="1" hangingPunct="1">
                <a:defRPr/>
              </a:pPr>
              <a:r>
                <a:rPr lang="pt-BR" sz="1400" dirty="0">
                  <a:solidFill>
                    <a:srgbClr val="000000"/>
                  </a:solidFill>
                </a:rPr>
                <a:t>+ </a:t>
              </a:r>
              <a:r>
                <a:rPr lang="pt-BR" sz="1400" dirty="0" err="1">
                  <a:solidFill>
                    <a:srgbClr val="000000"/>
                  </a:solidFill>
                </a:rPr>
                <a:t>getNumPortas</a:t>
              </a:r>
              <a:r>
                <a:rPr lang="pt-BR" sz="1400" dirty="0">
                  <a:solidFill>
                    <a:srgbClr val="000000"/>
                  </a:solidFill>
                </a:rPr>
                <a:t>(): </a:t>
              </a:r>
              <a:r>
                <a:rPr lang="pt-BR" sz="1400" dirty="0" err="1">
                  <a:solidFill>
                    <a:srgbClr val="000000"/>
                  </a:solidFill>
                </a:rPr>
                <a:t>int</a:t>
              </a:r>
              <a:endParaRPr lang="pt-BR" sz="1400" dirty="0">
                <a:solidFill>
                  <a:srgbClr val="000000"/>
                </a:solidFill>
              </a:endParaRPr>
            </a:p>
            <a:p>
              <a:pPr eaLnBrk="1" hangingPunct="1">
                <a:defRPr/>
              </a:pPr>
              <a:r>
                <a:rPr lang="pt-BR" sz="1400" dirty="0">
                  <a:solidFill>
                    <a:srgbClr val="000000"/>
                  </a:solidFill>
                </a:rPr>
                <a:t>+ </a:t>
              </a:r>
              <a:r>
                <a:rPr lang="pt-BR" sz="1400" dirty="0" err="1">
                  <a:solidFill>
                    <a:srgbClr val="000000"/>
                  </a:solidFill>
                </a:rPr>
                <a:t>setNumPortas</a:t>
              </a:r>
              <a:r>
                <a:rPr lang="pt-BR" sz="1400" dirty="0">
                  <a:solidFill>
                    <a:srgbClr val="000000"/>
                  </a:solidFill>
                </a:rPr>
                <a:t>(</a:t>
              </a:r>
              <a:r>
                <a:rPr lang="pt-BR" sz="1400" dirty="0" err="1">
                  <a:solidFill>
                    <a:srgbClr val="000000"/>
                  </a:solidFill>
                </a:rPr>
                <a:t>int</a:t>
              </a:r>
              <a:r>
                <a:rPr lang="pt-BR" sz="1400" dirty="0">
                  <a:solidFill>
                    <a:srgbClr val="000000"/>
                  </a:solidFill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</a:rPr>
                <a:t>numPortas</a:t>
              </a:r>
              <a:r>
                <a:rPr lang="pt-BR" sz="1400" dirty="0">
                  <a:solidFill>
                    <a:srgbClr val="000000"/>
                  </a:solidFill>
                </a:rPr>
                <a:t>) : </a:t>
              </a:r>
              <a:r>
                <a:rPr lang="pt-BR" sz="1400" dirty="0" err="1">
                  <a:solidFill>
                    <a:srgbClr val="000000"/>
                  </a:solidFill>
                </a:rPr>
                <a:t>Void</a:t>
              </a:r>
              <a:endParaRPr lang="pt-BR" sz="140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14" name="Conector angulado 17">
            <a:extLst>
              <a:ext uri="{FF2B5EF4-FFF2-40B4-BE49-F238E27FC236}">
                <a16:creationId xmlns:a16="http://schemas.microsoft.com/office/drawing/2014/main" id="{BB5983D9-1E69-14C0-086F-A44D2B412AE4}"/>
              </a:ext>
            </a:extLst>
          </p:cNvPr>
          <p:cNvCxnSpPr>
            <a:cxnSpLocks/>
            <a:endCxn id="5" idx="1"/>
          </p:cNvCxnSpPr>
          <p:nvPr/>
        </p:nvCxnSpPr>
        <p:spPr>
          <a:xfrm rot="5400000" flipH="1" flipV="1">
            <a:off x="3254728" y="2325915"/>
            <a:ext cx="1309289" cy="682839"/>
          </a:xfrm>
          <a:prstGeom prst="bentConnector2">
            <a:avLst/>
          </a:prstGeom>
          <a:ln w="34925">
            <a:solidFill>
              <a:schemeClr val="tx1"/>
            </a:solidFill>
            <a:miter lim="800000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do 21">
            <a:extLst>
              <a:ext uri="{FF2B5EF4-FFF2-40B4-BE49-F238E27FC236}">
                <a16:creationId xmlns:a16="http://schemas.microsoft.com/office/drawing/2014/main" id="{B3830775-B17F-9DAF-90ED-957F1F1A15A6}"/>
              </a:ext>
            </a:extLst>
          </p:cNvPr>
          <p:cNvCxnSpPr>
            <a:stCxn id="7" idx="0"/>
            <a:endCxn id="5" idx="3"/>
          </p:cNvCxnSpPr>
          <p:nvPr/>
        </p:nvCxnSpPr>
        <p:spPr>
          <a:xfrm rot="5400000" flipH="1" flipV="1">
            <a:off x="6893612" y="2162342"/>
            <a:ext cx="1323182" cy="1023877"/>
          </a:xfrm>
          <a:prstGeom prst="bentConnector4">
            <a:avLst>
              <a:gd name="adj1" fmla="val 30954"/>
              <a:gd name="adj2" fmla="val 122327"/>
            </a:avLst>
          </a:prstGeom>
          <a:ln w="34925">
            <a:solidFill>
              <a:schemeClr val="tx1"/>
            </a:solidFill>
            <a:miter lim="800000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022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6CC3A55-43B7-6F74-0A6B-1A5076AF5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83B8ED8-2A13-4065-8800-86E3423080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FE59075-F23C-6DB1-B0B5-6FF0F1010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Espaço Reservado para Conteúdo 5">
            <a:extLst>
              <a:ext uri="{FF2B5EF4-FFF2-40B4-BE49-F238E27FC236}">
                <a16:creationId xmlns:a16="http://schemas.microsoft.com/office/drawing/2014/main" id="{3F8016FA-AF6D-469E-FFF2-72A2A6D10C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26" b="23750"/>
          <a:stretch>
            <a:fillRect/>
          </a:stretch>
        </p:blipFill>
        <p:spPr>
          <a:xfrm>
            <a:off x="784411" y="0"/>
            <a:ext cx="7575177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6795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748</Words>
  <Application>Microsoft Office PowerPoint</Application>
  <PresentationFormat>Apresentação na tela (16:9)</PresentationFormat>
  <Paragraphs>138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Arial</vt:lpstr>
      <vt:lpstr>Courier New</vt:lpstr>
      <vt:lpstr>Franklin Gothic Book</vt:lpstr>
      <vt:lpstr>Impact</vt:lpstr>
      <vt:lpstr>Lucida Sans Unicode</vt:lpstr>
      <vt:lpstr>Times New Roman</vt:lpstr>
      <vt:lpstr>Wingdings 2</vt:lpstr>
      <vt:lpstr>Simple Light</vt:lpstr>
      <vt:lpstr>POO – Herança</vt:lpstr>
      <vt:lpstr>Tópicos da Aula</vt:lpstr>
      <vt:lpstr>Herança</vt:lpstr>
      <vt:lpstr>Herança</vt:lpstr>
      <vt:lpstr>Herança</vt:lpstr>
      <vt:lpstr>Herança</vt:lpstr>
      <vt:lpstr>Herança</vt:lpstr>
      <vt:lpstr>Herança em Java</vt:lpstr>
      <vt:lpstr>Herança em Java</vt:lpstr>
      <vt:lpstr>Super</vt:lpstr>
      <vt:lpstr>Herança – Hierarquia de classes</vt:lpstr>
      <vt:lpstr>Herança – Hierarquia de classes</vt:lpstr>
      <vt:lpstr>Herança Múltipla</vt:lpstr>
      <vt:lpstr>Herança Múltipla em Java</vt:lpstr>
      <vt:lpstr>Exercício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Juliano Caetano</cp:lastModifiedBy>
  <cp:revision>5</cp:revision>
  <dcterms:modified xsi:type="dcterms:W3CDTF">2026-04-27T13:25:23Z</dcterms:modified>
</cp:coreProperties>
</file>