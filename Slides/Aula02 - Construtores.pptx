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4" r:id="rId1"/>
  </p:sldMasterIdLst>
  <p:notesMasterIdLst>
    <p:notesMasterId r:id="rId26"/>
  </p:notesMasterIdLst>
  <p:sldIdLst>
    <p:sldId id="256" r:id="rId2"/>
    <p:sldId id="258" r:id="rId3"/>
    <p:sldId id="262" r:id="rId4"/>
    <p:sldId id="286" r:id="rId5"/>
    <p:sldId id="285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5" r:id="rId17"/>
    <p:sldId id="273" r:id="rId18"/>
    <p:sldId id="274" r:id="rId19"/>
    <p:sldId id="276" r:id="rId20"/>
    <p:sldId id="277" r:id="rId21"/>
    <p:sldId id="278" r:id="rId22"/>
    <p:sldId id="279" r:id="rId23"/>
    <p:sldId id="284" r:id="rId24"/>
    <p:sldId id="280" r:id="rId2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1C39"/>
    <a:srgbClr val="000000"/>
    <a:srgbClr val="4747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1186" y="29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-205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" name="Google Shape;4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72EBD0F6-4C2D-D043-B51D-A72AD4F76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815A50CA-663E-0376-541F-41EDC1F76D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8C899E80-1A2C-4507-FC01-A7E84E16BA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Na Programação Orientada a Objetos (POO), um </a:t>
            </a:r>
            <a:r>
              <a:rPr lang="pt-BR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blueprint</a:t>
            </a: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(em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português"planta</a:t>
            </a: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baixa" ou "modelo") é uma metáfora frequentemente usada para descrever uma </a:t>
            </a:r>
            <a:r>
              <a:rPr lang="pt-B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Classe</a:t>
            </a: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158750" indent="0">
              <a:buNone/>
            </a:pPr>
            <a:b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pt-B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Analogia Clássica</a:t>
            </a:r>
          </a:p>
          <a:p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Imagine a "planta" de uma casa:</a:t>
            </a:r>
          </a:p>
          <a:p>
            <a:r>
              <a:rPr lang="pt-B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 </a:t>
            </a:r>
            <a:r>
              <a:rPr lang="pt-BR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Blueprint</a:t>
            </a:r>
            <a:r>
              <a:rPr lang="pt-B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(Classe):</a:t>
            </a: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É o desenho no papel. Ele diz que a casa tem 2 quartos, 1 banheiro e uma cozinha, mas não é uma casa habitável ainda.</a:t>
            </a:r>
          </a:p>
          <a:p>
            <a:r>
              <a:rPr lang="pt-B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 Objeto (Instância):</a:t>
            </a: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É a casa física construída. Você pode construir várias casas (objetos) usando o mesmo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blueprint</a:t>
            </a: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mas uma pode ser azul e a outra branca, uma na Rua A e outra na Rua B. </a:t>
            </a:r>
          </a:p>
          <a:p>
            <a:pPr marL="158750" indent="0">
              <a:buNone/>
            </a:pPr>
            <a:endParaRPr lang="pt-B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4415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1B76B233-F669-FEF5-40A8-1AF1CF789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BF5C3F56-CDA0-719B-5F99-E00241FB0E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666B7247-383C-3A83-DB58-DDF9D3656C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Na Programação Orientada a Objetos (POO), um </a:t>
            </a:r>
            <a:r>
              <a:rPr lang="pt-BR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blueprint</a:t>
            </a: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(em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português"planta</a:t>
            </a: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baixa" ou "modelo") é uma metáfora frequentemente usada para descrever uma </a:t>
            </a:r>
            <a:r>
              <a:rPr lang="pt-B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Classe</a:t>
            </a: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158750" indent="0">
              <a:buNone/>
            </a:pPr>
            <a:b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pt-B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Analogia Clássica</a:t>
            </a:r>
          </a:p>
          <a:p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Imagine a "planta" de uma casa:</a:t>
            </a:r>
          </a:p>
          <a:p>
            <a:r>
              <a:rPr lang="pt-B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 </a:t>
            </a:r>
            <a:r>
              <a:rPr lang="pt-BR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Blueprint</a:t>
            </a:r>
            <a:r>
              <a:rPr lang="pt-B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(Classe):</a:t>
            </a: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É o desenho no papel. Ele diz que a casa tem 2 quartos, 1 banheiro e uma cozinha, mas não é uma casa habitável ainda.</a:t>
            </a:r>
          </a:p>
          <a:p>
            <a:r>
              <a:rPr lang="pt-B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 Objeto (Instância):</a:t>
            </a: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É a casa física construída. Você pode construir várias casas (objetos) usando o mesmo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blueprint</a:t>
            </a: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mas uma pode ser azul e a outra branca, uma na Rua A e outra na Rua B. </a:t>
            </a:r>
          </a:p>
          <a:p>
            <a:pPr marL="158750" indent="0">
              <a:buNone/>
            </a:pPr>
            <a:endParaRPr lang="pt-B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173109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72E36624-02F8-7043-3116-9A3EA338C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1AC48CBC-E072-8B0C-8786-CF6932A903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B2BD1D3E-41BC-ACF9-CE8A-0032B64D4B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25585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216F8AB6-0279-AE6F-8B2C-7CA9B84C9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D6419FF9-7577-F49E-CE0C-80D6A9B470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DD6552ED-BACB-566D-9339-A52E8E038B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285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5A1329B4-9A35-C323-216D-770CC520D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FD469941-164F-5A73-3480-AA692884C1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7C6F95E3-9DE7-E22D-BEDA-68DB080E4B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9566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B409C67A-B989-19A4-EDB8-FA88CD647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BB28D56B-4778-C5DC-FBBD-A218AE87ED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29D9DC50-02E4-B119-8EF4-B2D122AFE3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20816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D7E5697C-F827-03B4-B411-A162EFCA9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0F1CB922-C1C1-6DC0-E5EE-0B998679F5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FF027845-3C63-A933-6359-07CE22F838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77993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BCDE928C-7321-3CC6-6B4B-3D7B37654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833994DC-1E7D-26FE-D597-AE5B8F425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A5F408E5-49C3-BA90-D2CA-8FC1F1B551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92934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EE71E981-F2C2-71D5-2ED5-FADAE8AD0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14217761-BBE6-7757-F095-CF58A7A557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46390D89-6650-EE24-C8A3-2D3F045618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31548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BA0FB2DA-5B45-0A99-1CB3-CF561FE73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2F41E1DD-A6E0-C556-E808-E746B3D921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B09EE778-C1B9-E402-0C7B-D03EE2DB27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290047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91B671BE-0116-92FF-4748-E86C831AF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6568BAEB-4CB5-B801-252B-89A0AE9EB4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72A16ADC-CDE2-C3DF-FB21-5FB3388C49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35279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C900F990-D1A8-D77C-AB21-8422B0B6A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EDA55AF3-BEAC-BF9C-A027-33188BCC4B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7B73171E-2000-CFEA-50DC-85F32B0DF8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07667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7394A0AC-14FF-9673-623D-9D1DB7AFA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1BE5509D-6C19-F915-EEAD-E72BA024E3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C29000F7-CC49-E452-7656-5D67737528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55223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B91315BF-5B5F-4FF3-DEBB-BC2BA2376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1426136D-8A3D-9ACD-6F1D-1BC4567FDE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30D2397D-BC15-CF21-3A66-80971FAEF3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86032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979E7FA3-823E-1CB1-76D4-34F0B5992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3FD2B4B0-763B-A133-0172-DF26860150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271501B7-65AD-14A7-6476-16E5312931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10474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63671095-DDEE-3BAA-D18D-23F72A776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FC08AB03-5CD4-7D3C-9A93-57B80C9514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3D0631CC-AFD3-03F7-6B92-FE9ABEAD36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BR" b="1" dirty="0"/>
              <a:t>Explicação Didática sobre o Construtor</a:t>
            </a:r>
          </a:p>
          <a:p>
            <a:r>
              <a:rPr lang="pt-BR" dirty="0"/>
              <a:t>Para explicar isso ao seu aluno, você pode usar a analogia da </a:t>
            </a:r>
            <a:r>
              <a:rPr lang="pt-BR" b="1" dirty="0"/>
              <a:t>"Ficha de Cadastro"</a:t>
            </a:r>
            <a:r>
              <a:rPr lang="pt-BR" dirty="0"/>
              <a:t>:</a:t>
            </a:r>
          </a:p>
          <a:p>
            <a:r>
              <a:rPr lang="pt-BR" b="1" dirty="0"/>
              <a:t>A Classe (</a:t>
            </a:r>
            <a:r>
              <a:rPr lang="pt-BR" sz="11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  <a:r>
              <a:rPr lang="pt-BR" b="1" dirty="0"/>
              <a:t>)</a:t>
            </a:r>
            <a:r>
              <a:rPr lang="pt-BR" dirty="0"/>
              <a:t>: É o formulário em branco.</a:t>
            </a:r>
          </a:p>
          <a:p>
            <a:r>
              <a:rPr lang="pt-BR" b="1" dirty="0"/>
              <a:t>O Construtor (</a:t>
            </a:r>
            <a:r>
              <a:rPr lang="pt-BR" sz="11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public</a:t>
            </a:r>
            <a:r>
              <a:rPr lang="pt-BR" sz="11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Time</a:t>
            </a:r>
            <a:r>
              <a:rPr lang="pt-BR" b="1" dirty="0"/>
              <a:t>)</a:t>
            </a:r>
            <a:r>
              <a:rPr lang="pt-BR" dirty="0"/>
              <a:t>: É a regra de preenchimento. No caso acima, dissemos: </a:t>
            </a:r>
            <a:r>
              <a:rPr lang="pt-BR" i="1" dirty="0"/>
              <a:t>"Para criar um time, você só precisa me dar o nome. Se você não me disser o resto, eu vou escrever 'branca' e '99' por conta própria"</a:t>
            </a:r>
            <a:r>
              <a:rPr lang="pt-BR" dirty="0"/>
              <a:t>.</a:t>
            </a:r>
          </a:p>
          <a:p>
            <a:r>
              <a:rPr lang="pt-BR" b="1" dirty="0"/>
              <a:t>A Instanciação (</a:t>
            </a:r>
            <a:r>
              <a:rPr lang="pt-BR" sz="11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new</a:t>
            </a:r>
            <a:r>
              <a:rPr lang="pt-BR" b="1" dirty="0"/>
              <a:t>)</a:t>
            </a:r>
            <a:r>
              <a:rPr lang="pt-BR" dirty="0"/>
              <a:t>: É o momento em que o papel é preenchido e o time passa a existir na memória do computador.</a:t>
            </a:r>
          </a:p>
          <a:p>
            <a:r>
              <a:rPr lang="pt-BR" b="1" dirty="0"/>
              <a:t>O que acontece se o aluno esquecer de passar o nome?</a:t>
            </a:r>
            <a:r>
              <a:rPr lang="pt-BR" dirty="0"/>
              <a:t> O Java dará um erro de compilação, pois agora ele "exige" um nome para construir um </a:t>
            </a:r>
            <a:r>
              <a:rPr lang="pt-B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  <a:r>
              <a:rPr lang="pt-BR" dirty="0"/>
              <a:t>. Isso é uma ótima forma de garantir que nenhum time seja criado sem uma identidade básica.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7008919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9C2FCD7F-19E9-7BA9-4F56-E258A91D8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5FC3EA9B-0B3F-D450-8598-B4F8B9AD87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B532EA5B-3ECE-56CF-D25B-1CC3F1EA1B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BR" b="1" dirty="0"/>
              <a:t>Dicas Didáticas para este exercício:</a:t>
            </a:r>
          </a:p>
          <a:p>
            <a:r>
              <a:rPr lang="pt-BR" b="1" dirty="0"/>
              <a:t>Tipos de Retorno:</a:t>
            </a:r>
            <a:r>
              <a:rPr lang="pt-BR" dirty="0"/>
              <a:t> Mostre ao aluno a diferença entre os métodos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lang="pt-BR" dirty="0"/>
              <a:t> (que apenas executam uma ação, como o </a:t>
            </a:r>
            <a:r>
              <a:rPr lang="pt-B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saque</a:t>
            </a:r>
            <a:r>
              <a:rPr lang="pt-BR" dirty="0"/>
              <a:t>) e os métodos que retornam algo, como o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verificaSaldo</a:t>
            </a:r>
            <a:r>
              <a:rPr lang="pt-BR" dirty="0"/>
              <a:t> (que devolve um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double</a:t>
            </a:r>
            <a:r>
              <a:rPr lang="pt-BR" dirty="0"/>
              <a:t>).</a:t>
            </a:r>
          </a:p>
          <a:p>
            <a:r>
              <a:rPr lang="pt-BR" b="1" dirty="0"/>
              <a:t>Lógica Acumulativa:</a:t>
            </a:r>
            <a:r>
              <a:rPr lang="pt-BR" dirty="0"/>
              <a:t> Explique que </a:t>
            </a:r>
            <a:r>
              <a:rPr lang="pt-B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saldo = saldo + quantidade</a:t>
            </a:r>
            <a:r>
              <a:rPr lang="pt-BR" dirty="0"/>
              <a:t> é uma forma de atualizar o valor que já existia na variável, somando o novo valor a ela.</a:t>
            </a:r>
          </a:p>
          <a:p>
            <a:r>
              <a:rPr lang="pt-BR" b="1" dirty="0"/>
              <a:t>Encapsulamento (Próximo Passo):</a:t>
            </a:r>
            <a:r>
              <a:rPr lang="pt-BR" dirty="0"/>
              <a:t> No futuro, você pode explicar que, embora aqui os atributos estejam acessíveis diretamente, o ideal no Java é usar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private</a:t>
            </a:r>
            <a:r>
              <a:rPr lang="pt-BR" dirty="0"/>
              <a:t> e métodos </a:t>
            </a:r>
            <a:r>
              <a:rPr lang="pt-BR" i="1" dirty="0" err="1"/>
              <a:t>Getters</a:t>
            </a:r>
            <a:r>
              <a:rPr lang="pt-BR" dirty="0"/>
              <a:t> e </a:t>
            </a:r>
            <a:r>
              <a:rPr lang="pt-BR" i="1" dirty="0" err="1"/>
              <a:t>Setters</a:t>
            </a:r>
            <a:r>
              <a:rPr lang="pt-BR" dirty="0"/>
              <a:t> para proteger esses dados.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80064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A7C7F263-84E4-39C8-AB02-737182EF5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19684B6A-DFCD-CA3D-2DC8-E77120B74F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A2ADD98C-C5F0-64B0-E344-37B9291314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42960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AA4E1C56-4A57-CFE8-CDF3-EAA29CA88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24D7976C-6B6A-4C48-E79F-9A5B524552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D243C922-DBDD-A0C1-18F7-BC9677B74D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86122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E9955D58-4FDB-8C15-C45D-0CC48A789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1187EBA6-604F-D5B2-B508-48BCD4C047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02D55CB8-C821-A065-AF00-D087E7DED1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BR" b="1" dirty="0"/>
              <a:t>1. Classe: </a:t>
            </a:r>
            <a:r>
              <a:rPr lang="pt-BR" sz="11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Usuario</a:t>
            </a:r>
            <a:endParaRPr lang="pt-BR" b="1" dirty="0"/>
          </a:p>
          <a:p>
            <a:r>
              <a:rPr lang="pt-BR" dirty="0"/>
              <a:t>Representa quem utiliza a biblioteca.</a:t>
            </a:r>
          </a:p>
          <a:p>
            <a:r>
              <a:rPr lang="pt-BR" b="1" dirty="0"/>
              <a:t>Atributos:</a:t>
            </a:r>
            <a:r>
              <a:rPr lang="pt-BR" dirty="0"/>
              <a:t>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String</a:t>
            </a:r>
            <a:r>
              <a:rPr lang="pt-B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nome</a:t>
            </a:r>
            <a:r>
              <a:rPr lang="pt-BR" dirty="0"/>
              <a:t>,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String</a:t>
            </a:r>
            <a:r>
              <a:rPr lang="pt-B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cpf</a:t>
            </a:r>
            <a:r>
              <a:rPr lang="pt-BR" dirty="0"/>
              <a:t>,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String</a:t>
            </a:r>
            <a:r>
              <a:rPr lang="pt-B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endereco</a:t>
            </a:r>
            <a:r>
              <a:rPr lang="pt-BR" dirty="0"/>
              <a:t>,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String</a:t>
            </a:r>
            <a:r>
              <a:rPr lang="pt-B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bairro</a:t>
            </a:r>
            <a:r>
              <a:rPr lang="pt-BR" dirty="0"/>
              <a:t>,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String</a:t>
            </a:r>
            <a:r>
              <a:rPr lang="pt-B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cidade</a:t>
            </a:r>
            <a:r>
              <a:rPr lang="pt-BR" dirty="0"/>
              <a:t>,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String</a:t>
            </a:r>
            <a:r>
              <a:rPr lang="pt-B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uf</a:t>
            </a:r>
            <a:r>
              <a:rPr lang="pt-BR" dirty="0"/>
              <a:t>,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String</a:t>
            </a:r>
            <a:r>
              <a:rPr lang="pt-B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grupo</a:t>
            </a:r>
            <a:r>
              <a:rPr lang="pt-BR" dirty="0"/>
              <a:t> (Professor, Aluno ou Funcionário).</a:t>
            </a:r>
          </a:p>
          <a:p>
            <a:r>
              <a:rPr lang="pt-BR" b="1" dirty="0"/>
              <a:t>Métodos:</a:t>
            </a:r>
            <a:r>
              <a:rPr lang="pt-BR" dirty="0"/>
              <a:t> </a:t>
            </a:r>
            <a:r>
              <a:rPr lang="pt-B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cadastrar()</a:t>
            </a:r>
            <a:r>
              <a:rPr lang="pt-BR" dirty="0"/>
              <a:t>,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editarEndereco</a:t>
            </a:r>
            <a:r>
              <a:rPr lang="pt-B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r>
              <a:rPr lang="pt-BR" dirty="0"/>
              <a:t>,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verificarPendencias</a:t>
            </a:r>
            <a:r>
              <a:rPr lang="pt-B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r>
              <a:rPr lang="pt-BR" dirty="0"/>
              <a:t>.</a:t>
            </a:r>
          </a:p>
          <a:p>
            <a:r>
              <a:rPr lang="pt-BR" b="1" dirty="0"/>
              <a:t>2. Classe: </a:t>
            </a:r>
            <a:r>
              <a:rPr lang="pt-BR" sz="11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Obra</a:t>
            </a:r>
            <a:endParaRPr lang="pt-BR" b="1" dirty="0"/>
          </a:p>
          <a:p>
            <a:r>
              <a:rPr lang="pt-BR" dirty="0"/>
              <a:t>Representa o título e a categoria intelectual da produção.</a:t>
            </a:r>
          </a:p>
          <a:p>
            <a:r>
              <a:rPr lang="pt-BR" b="1" dirty="0"/>
              <a:t>Atributos:</a:t>
            </a:r>
            <a:r>
              <a:rPr lang="pt-BR" dirty="0"/>
              <a:t>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String</a:t>
            </a:r>
            <a:r>
              <a:rPr lang="pt-B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titulo</a:t>
            </a:r>
            <a:r>
              <a:rPr lang="pt-BR" dirty="0"/>
              <a:t>,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String</a:t>
            </a:r>
            <a:r>
              <a:rPr lang="pt-B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classificacao</a:t>
            </a:r>
            <a:r>
              <a:rPr lang="pt-BR" dirty="0"/>
              <a:t> (Livro Científico, Entretenimento, etc.), </a:t>
            </a:r>
            <a:r>
              <a:rPr lang="pt-B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Autor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autorPrincipal</a:t>
            </a:r>
            <a:r>
              <a:rPr lang="pt-BR" dirty="0"/>
              <a:t>.</a:t>
            </a:r>
          </a:p>
          <a:p>
            <a:r>
              <a:rPr lang="pt-BR" b="1" dirty="0"/>
              <a:t>Métodos:</a:t>
            </a:r>
            <a:r>
              <a:rPr lang="pt-BR" dirty="0"/>
              <a:t>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consultarDados</a:t>
            </a:r>
            <a:r>
              <a:rPr lang="pt-B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r>
              <a:rPr lang="pt-BR" dirty="0"/>
              <a:t>,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vincularAutor</a:t>
            </a:r>
            <a:r>
              <a:rPr lang="pt-B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r>
              <a:rPr lang="pt-BR" dirty="0"/>
              <a:t>.</a:t>
            </a:r>
          </a:p>
          <a:p>
            <a:r>
              <a:rPr lang="pt-BR" b="1" dirty="0"/>
              <a:t>3. Classe: </a:t>
            </a:r>
            <a:r>
              <a:rPr lang="pt-BR" sz="11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Exemplar</a:t>
            </a:r>
            <a:endParaRPr lang="pt-BR" b="1" dirty="0"/>
          </a:p>
          <a:p>
            <a:r>
              <a:rPr lang="pt-BR" dirty="0"/>
              <a:t>Representa a unidade que o usuário efetivamente retira.</a:t>
            </a:r>
          </a:p>
          <a:p>
            <a:r>
              <a:rPr lang="pt-BR" b="1" dirty="0"/>
              <a:t>Atributos:</a:t>
            </a:r>
            <a:r>
              <a:rPr lang="pt-BR" dirty="0"/>
              <a:t> </a:t>
            </a:r>
            <a:r>
              <a:rPr lang="pt-B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Obra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obra</a:t>
            </a:r>
            <a:r>
              <a:rPr lang="pt-BR" dirty="0"/>
              <a:t>,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String</a:t>
            </a:r>
            <a:r>
              <a:rPr lang="pt-B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lingua</a:t>
            </a:r>
            <a:r>
              <a:rPr lang="pt-BR" dirty="0"/>
              <a:t>,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String</a:t>
            </a:r>
            <a:r>
              <a:rPr lang="pt-B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midia</a:t>
            </a:r>
            <a:r>
              <a:rPr lang="pt-BR" dirty="0"/>
              <a:t> (Física ou Digital), </a:t>
            </a:r>
            <a:r>
              <a:rPr lang="pt-B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Editora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editora</a:t>
            </a:r>
            <a:r>
              <a:rPr lang="pt-BR" dirty="0"/>
              <a:t>,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pt-B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anoEdicao</a:t>
            </a:r>
            <a:r>
              <a:rPr lang="pt-BR" dirty="0"/>
              <a:t>,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boolean</a:t>
            </a:r>
            <a:r>
              <a:rPr lang="pt-B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disponivel</a:t>
            </a:r>
            <a:r>
              <a:rPr lang="pt-BR" dirty="0"/>
              <a:t>.</a:t>
            </a:r>
          </a:p>
          <a:p>
            <a:r>
              <a:rPr lang="pt-BR" b="1" dirty="0"/>
              <a:t>Métodos:</a:t>
            </a:r>
            <a:r>
              <a:rPr lang="pt-BR" dirty="0"/>
              <a:t>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registrarEmprestimo</a:t>
            </a:r>
            <a:r>
              <a:rPr lang="pt-B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r>
              <a:rPr lang="pt-BR" dirty="0"/>
              <a:t>,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registrarDevolucao</a:t>
            </a:r>
            <a:r>
              <a:rPr lang="pt-B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r>
              <a:rPr lang="pt-BR" dirty="0"/>
              <a:t>,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verificarStatus</a:t>
            </a:r>
            <a:r>
              <a:rPr lang="pt-B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r>
              <a:rPr lang="pt-BR" dirty="0"/>
              <a:t>.</a:t>
            </a:r>
          </a:p>
          <a:p>
            <a:r>
              <a:rPr lang="pt-BR" b="1" dirty="0"/>
              <a:t>4. Classe: </a:t>
            </a:r>
            <a:r>
              <a:rPr lang="pt-BR" sz="11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Autor</a:t>
            </a:r>
            <a:endParaRPr lang="pt-BR" b="1" dirty="0"/>
          </a:p>
          <a:p>
            <a:r>
              <a:rPr lang="pt-BR" dirty="0"/>
              <a:t>Controle específico da autoria e origem.</a:t>
            </a:r>
          </a:p>
          <a:p>
            <a:r>
              <a:rPr lang="pt-BR" b="1" dirty="0"/>
              <a:t>Atributos:</a:t>
            </a:r>
            <a:r>
              <a:rPr lang="pt-BR" dirty="0"/>
              <a:t>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String</a:t>
            </a:r>
            <a:r>
              <a:rPr lang="pt-B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nome</a:t>
            </a:r>
            <a:r>
              <a:rPr lang="pt-BR" dirty="0"/>
              <a:t>,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String</a:t>
            </a:r>
            <a:r>
              <a:rPr lang="pt-B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nacionalidade</a:t>
            </a:r>
            <a:r>
              <a:rPr lang="pt-BR" dirty="0"/>
              <a:t>.</a:t>
            </a:r>
          </a:p>
          <a:p>
            <a:r>
              <a:rPr lang="pt-BR" b="1" dirty="0"/>
              <a:t>Métodos:</a:t>
            </a:r>
            <a:r>
              <a:rPr lang="pt-BR" dirty="0"/>
              <a:t>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listarObras</a:t>
            </a:r>
            <a:r>
              <a:rPr lang="pt-B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r>
              <a:rPr lang="pt-BR" dirty="0"/>
              <a:t>.</a:t>
            </a:r>
          </a:p>
          <a:p>
            <a:r>
              <a:rPr lang="pt-BR" b="1" dirty="0"/>
              <a:t>5. Classe: </a:t>
            </a:r>
            <a:r>
              <a:rPr lang="pt-BR" sz="11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Editora</a:t>
            </a:r>
            <a:endParaRPr lang="pt-BR" b="1" dirty="0"/>
          </a:p>
          <a:p>
            <a:r>
              <a:rPr lang="pt-BR" dirty="0"/>
              <a:t>Gerenciamento das empresas que publicam os exemplares.</a:t>
            </a:r>
          </a:p>
          <a:p>
            <a:r>
              <a:rPr lang="pt-BR" b="1" dirty="0"/>
              <a:t>Atributos:</a:t>
            </a:r>
            <a:r>
              <a:rPr lang="pt-BR" dirty="0"/>
              <a:t>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String</a:t>
            </a:r>
            <a:r>
              <a:rPr lang="pt-B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nome</a:t>
            </a:r>
            <a:r>
              <a:rPr lang="pt-BR" dirty="0"/>
              <a:t>,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String</a:t>
            </a:r>
            <a:r>
              <a:rPr lang="pt-B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cidadeSede</a:t>
            </a:r>
            <a:r>
              <a:rPr lang="pt-BR" dirty="0"/>
              <a:t>,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String</a:t>
            </a:r>
            <a:r>
              <a:rPr lang="pt-B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cnpj</a:t>
            </a:r>
            <a:r>
              <a:rPr lang="pt-BR" dirty="0"/>
              <a:t>.</a:t>
            </a:r>
          </a:p>
          <a:p>
            <a:r>
              <a:rPr lang="pt-BR" b="1" dirty="0"/>
              <a:t>Métodos:</a:t>
            </a:r>
            <a:r>
              <a:rPr lang="pt-BR" dirty="0"/>
              <a:t>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cadastrarEditora</a:t>
            </a:r>
            <a:r>
              <a:rPr lang="pt-BR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r>
              <a:rPr lang="pt-BR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20046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B5113DAC-F140-2A76-9415-BB523635E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21CB994A-D389-4E52-2406-B9E31F6D59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DDFC4752-2ADA-4EED-BF9C-EAF02EF6F9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6639407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6B8E7839-FCDC-2D0A-8EF2-8B2714030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97452DD2-3783-5491-DCC9-5F824EE8F8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5589B69E-64AA-BC77-1EF0-3AF813E156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44929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Sem título-1.jpg"/>
          <p:cNvPicPr preferRelativeResize="0"/>
          <p:nvPr/>
        </p:nvPicPr>
        <p:blipFill rotWithShape="1">
          <a:blip r:embed="rId2">
            <a:alphaModFix/>
          </a:blip>
          <a:srcRect l="11705" t="17901" r="9894" b="15970"/>
          <a:stretch/>
        </p:blipFill>
        <p:spPr>
          <a:xfrm>
            <a:off x="0" y="0"/>
            <a:ext cx="9143997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690375" y="1598750"/>
            <a:ext cx="5642700" cy="144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41C39"/>
              </a:buClr>
              <a:buSzPts val="4000"/>
              <a:buFont typeface="Impact"/>
              <a:buNone/>
              <a:defRPr sz="4000">
                <a:solidFill>
                  <a:srgbClr val="841C39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181851" y="2871416"/>
            <a:ext cx="6780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" name="Google Shape;14;p2" title="Logo Libertas 185x7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5388" y="4068275"/>
            <a:ext cx="2172676" cy="88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841C39"/>
              </a:buClr>
              <a:buSzPts val="2800"/>
              <a:buNone/>
              <a:defRPr>
                <a:solidFill>
                  <a:srgbClr val="841C3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400"/>
              <a:buChar char="●"/>
              <a:defRPr sz="2400">
                <a:solidFill>
                  <a:srgbClr val="3C5258"/>
                </a:solidFill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○"/>
              <a:defRPr sz="2000">
                <a:solidFill>
                  <a:srgbClr val="3C5258"/>
                </a:solidFill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■"/>
              <a:defRPr sz="2000">
                <a:solidFill>
                  <a:srgbClr val="3C5258"/>
                </a:solidFill>
              </a:defRPr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●"/>
              <a:defRPr sz="2000">
                <a:solidFill>
                  <a:srgbClr val="3C5258"/>
                </a:solidFill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○"/>
              <a:defRPr sz="2000">
                <a:solidFill>
                  <a:srgbClr val="3C5258"/>
                </a:solidFill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■"/>
              <a:defRPr sz="2000">
                <a:solidFill>
                  <a:srgbClr val="3C5258"/>
                </a:solidFill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●"/>
              <a:defRPr sz="2000">
                <a:solidFill>
                  <a:srgbClr val="3C5258"/>
                </a:solidFill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○"/>
              <a:defRPr sz="2000">
                <a:solidFill>
                  <a:srgbClr val="3C5258"/>
                </a:solidFill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■"/>
              <a:defRPr sz="2000">
                <a:solidFill>
                  <a:srgbClr val="3C5258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4" name="Google Shape;24;p4" title="Sem título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7437998" y="3437502"/>
            <a:ext cx="1311675" cy="210032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5" name="Google Shape;25;p4" title="Logo Libertas 185x7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607" y="4568524"/>
            <a:ext cx="1410280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</p:sldLayoutIdLst>
  <p:transition spd="med">
    <p:fade thruBlk="1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ctrTitle"/>
          </p:nvPr>
        </p:nvSpPr>
        <p:spPr>
          <a:xfrm>
            <a:off x="1690375" y="1598750"/>
            <a:ext cx="5642700" cy="144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POO – Métodos Construtores e Valores Padrões para Objetos</a:t>
            </a:r>
            <a:endParaRPr dirty="0"/>
          </a:p>
        </p:txBody>
      </p:sp>
      <p:sp>
        <p:nvSpPr>
          <p:cNvPr id="44" name="Google Shape;44;p8"/>
          <p:cNvSpPr txBox="1">
            <a:spLocks noGrp="1"/>
          </p:cNvSpPr>
          <p:nvPr>
            <p:ph type="subTitle" idx="1"/>
          </p:nvPr>
        </p:nvSpPr>
        <p:spPr>
          <a:xfrm>
            <a:off x="1181851" y="2871416"/>
            <a:ext cx="6780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Revisão</a:t>
            </a:r>
            <a:endParaRPr dirty="0"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1600" indent="0">
              <a:buNone/>
            </a:pPr>
            <a:r>
              <a:rPr lang="pt-BR" b="1" dirty="0"/>
              <a:t>Classes</a:t>
            </a:r>
            <a:r>
              <a:rPr lang="pt-BR" dirty="0"/>
              <a:t>: Estrutura de vários objetos com características e ações em comum.</a:t>
            </a:r>
          </a:p>
          <a:p>
            <a:pPr marL="558800" lvl="1" indent="0">
              <a:buNone/>
            </a:pPr>
            <a:r>
              <a:rPr lang="pt-BR" dirty="0"/>
              <a:t>Atributos: características, variáveis</a:t>
            </a:r>
          </a:p>
          <a:p>
            <a:pPr marL="558800" lvl="1" indent="0">
              <a:buNone/>
            </a:pPr>
            <a:r>
              <a:rPr lang="pt-BR" dirty="0"/>
              <a:t>Métodos: ações, funções</a:t>
            </a:r>
          </a:p>
          <a:p>
            <a:pPr marL="558800" lvl="1" indent="0">
              <a:buNone/>
            </a:pPr>
            <a:endParaRPr lang="pt-BR" dirty="0"/>
          </a:p>
          <a:p>
            <a:pPr marL="101600" indent="0">
              <a:buNone/>
            </a:pPr>
            <a:r>
              <a:rPr lang="pt-BR" b="1" dirty="0"/>
              <a:t>Objetos</a:t>
            </a:r>
            <a:r>
              <a:rPr lang="pt-BR" dirty="0"/>
              <a:t>: Instâncias das classes. </a:t>
            </a:r>
          </a:p>
          <a:p>
            <a:pPr marL="558800" lvl="1" indent="0">
              <a:buNone/>
            </a:pPr>
            <a:endParaRPr lang="pt-BR" dirty="0"/>
          </a:p>
          <a:p>
            <a:pPr marL="0" indent="0">
              <a:spcAft>
                <a:spcPts val="120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E512601-1508-B14E-6907-D8C6B0D0EBA8}"/>
              </a:ext>
            </a:extLst>
          </p:cNvPr>
          <p:cNvSpPr/>
          <p:nvPr/>
        </p:nvSpPr>
        <p:spPr>
          <a:xfrm>
            <a:off x="5471410" y="1788877"/>
            <a:ext cx="2570813" cy="107179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pt-BR" dirty="0" err="1"/>
              <a:t>class</a:t>
            </a:r>
            <a:r>
              <a:rPr lang="pt-BR" dirty="0"/>
              <a:t> Veiculo {</a:t>
            </a:r>
          </a:p>
          <a:p>
            <a:pPr marL="0" indent="0">
              <a:buNone/>
            </a:pPr>
            <a:r>
              <a:rPr lang="pt-BR" dirty="0"/>
              <a:t>   </a:t>
            </a:r>
            <a:r>
              <a:rPr lang="pt-BR" dirty="0" err="1"/>
              <a:t>String</a:t>
            </a:r>
            <a:r>
              <a:rPr lang="pt-BR" dirty="0"/>
              <a:t> placa;</a:t>
            </a:r>
          </a:p>
          <a:p>
            <a:pPr marL="0" indent="0">
              <a:buNone/>
            </a:pPr>
            <a:r>
              <a:rPr lang="pt-BR" dirty="0"/>
              <a:t>   </a:t>
            </a:r>
            <a:r>
              <a:rPr lang="pt-BR" dirty="0" err="1"/>
              <a:t>int</a:t>
            </a:r>
            <a:r>
              <a:rPr lang="pt-BR" dirty="0"/>
              <a:t> ano;</a:t>
            </a:r>
          </a:p>
          <a:p>
            <a:pPr marL="0" indent="0">
              <a:buNone/>
            </a:pPr>
            <a:r>
              <a:rPr lang="pt-BR" dirty="0"/>
              <a:t>}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C611191-7209-D08F-8B39-02966FFF2593}"/>
              </a:ext>
            </a:extLst>
          </p:cNvPr>
          <p:cNvSpPr/>
          <p:nvPr/>
        </p:nvSpPr>
        <p:spPr>
          <a:xfrm>
            <a:off x="5471410" y="3455126"/>
            <a:ext cx="2570813" cy="107179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pt-BR" dirty="0"/>
              <a:t>Veiculo fusca = new Veiculo();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56BE304C-F3F4-CD20-AF7C-A1A9CD83F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2D0394FF-04FB-68BB-3D10-0660B6AABE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pt-BR" dirty="0"/>
              <a:t>Terminologia de OO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8B60C9E2-B1A9-2149-DBC1-D3C043D1B7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pt-BR" b="1" dirty="0">
                <a:solidFill>
                  <a:srgbClr val="841C39"/>
                </a:solidFill>
              </a:rPr>
              <a:t>Classe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pt-BR" sz="2600" dirty="0"/>
              <a:t>Um "molde" ou "</a:t>
            </a:r>
            <a:r>
              <a:rPr lang="pt-BR" sz="2600" dirty="0" err="1"/>
              <a:t>blueprint</a:t>
            </a:r>
            <a:r>
              <a:rPr lang="pt-BR" sz="2600" dirty="0"/>
              <a:t>" para criar objetos;</a:t>
            </a:r>
            <a:br>
              <a:rPr lang="pt-BR" sz="2600" dirty="0"/>
            </a:br>
            <a:r>
              <a:rPr lang="pt-BR" sz="2600" dirty="0"/>
              <a:t>Define os atributos (propriedades) e métodos (comportamentos) de um objeto;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pt-BR" b="1" dirty="0">
                <a:solidFill>
                  <a:srgbClr val="841C39"/>
                </a:solidFill>
              </a:rPr>
              <a:t>Objeto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pt-BR" sz="2600" dirty="0"/>
              <a:t>Instância de uma classe;</a:t>
            </a:r>
            <a:br>
              <a:rPr lang="pt-BR" sz="2600" dirty="0"/>
            </a:br>
            <a:r>
              <a:rPr lang="pt-BR" sz="2600" dirty="0"/>
              <a:t>Exemplo: Um carro é um objeto da classe "Carro", com atributos como cor, modelo e métodos como acelerar, frear;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pt-BR" b="1" dirty="0">
                <a:solidFill>
                  <a:srgbClr val="841C39"/>
                </a:solidFill>
              </a:rPr>
              <a:t>Atributo (ou Propriedade)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pt-BR" sz="2600" dirty="0"/>
              <a:t>São variáveis dentro da classe que armazenam os dados do objeto;</a:t>
            </a:r>
            <a:br>
              <a:rPr lang="pt-BR" sz="2600" dirty="0"/>
            </a:br>
            <a:r>
              <a:rPr lang="pt-BR" sz="2600" dirty="0"/>
              <a:t>Exemplo: No objeto "Carro", atributos podem ser cor, modelo, ano;</a:t>
            </a:r>
            <a:endParaRPr sz="2600" dirty="0"/>
          </a:p>
        </p:txBody>
      </p:sp>
    </p:spTree>
    <p:extLst>
      <p:ext uri="{BB962C8B-B14F-4D97-AF65-F5344CB8AC3E}">
        <p14:creationId xmlns:p14="http://schemas.microsoft.com/office/powerpoint/2010/main" val="2088020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3966043D-2AF6-FCA1-942A-745C79D4F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B8A110A2-8733-E67E-28A5-2620C3EB19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pt-BR" dirty="0"/>
              <a:t>Terminologia de OO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C627E6EE-9B41-8109-D3CA-C31373D545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pt-BR" b="1" dirty="0">
                <a:solidFill>
                  <a:srgbClr val="841C39"/>
                </a:solidFill>
              </a:rPr>
              <a:t>Método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pt-BR" sz="2900" dirty="0"/>
              <a:t>Função definida dentro de uma classe que representa uma ação ou comportamento do objeto;</a:t>
            </a:r>
            <a:br>
              <a:rPr lang="pt-BR" sz="2900" dirty="0"/>
            </a:br>
            <a:r>
              <a:rPr lang="pt-BR" sz="2900" dirty="0"/>
              <a:t>Exemplo: No objeto "Carro", métodos podem ser acelerar(), frear();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pt-BR" sz="2800" b="1" dirty="0">
                <a:solidFill>
                  <a:srgbClr val="841C39"/>
                </a:solidFill>
              </a:rPr>
              <a:t>Instanciação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pt-BR" sz="2900" dirty="0"/>
              <a:t>Processo de criar um novo objeto a partir de uma classe;</a:t>
            </a:r>
            <a:br>
              <a:rPr lang="pt-BR" sz="2900" dirty="0"/>
            </a:br>
            <a:r>
              <a:rPr lang="pt-BR" sz="2900" dirty="0"/>
              <a:t>Utiliza-se a palavra-chave new em Java para instanciar um objeto;</a:t>
            </a:r>
          </a:p>
        </p:txBody>
      </p:sp>
    </p:spTree>
    <p:extLst>
      <p:ext uri="{BB962C8B-B14F-4D97-AF65-F5344CB8AC3E}">
        <p14:creationId xmlns:p14="http://schemas.microsoft.com/office/powerpoint/2010/main" val="4184055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69EBE7C3-B2E3-5E77-DC8C-06A189B0D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7D397F67-7E19-A7CB-79AD-53E4549B83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Tópicos da aula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4F96054C-18F0-CE5E-188F-618F3F0DC9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/>
              <a:t>Métodos Construtores – Construindo objetos</a:t>
            </a:r>
          </a:p>
          <a:p>
            <a:pPr marL="342900" lvl="0" indent="-34290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/>
              <a:t>Destruindo objetos</a:t>
            </a:r>
          </a:p>
          <a:p>
            <a:pPr marL="342900" lvl="0" indent="-34290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/>
              <a:t>Definindo valores padrões (default) para os Atributos da Classe </a:t>
            </a:r>
          </a:p>
          <a:p>
            <a:pPr marL="342900" lvl="0" indent="-34290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/>
              <a:t>Exercícios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85789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D8315372-F608-438C-308F-3D8B12021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3AB1BB35-1BF9-E5FA-5F2D-39B621FC33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O que são Métodos Construtores?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6ACD3D4A-495C-B000-F3A4-2B210EC386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São métodos especiais invocados no momento da </a:t>
            </a:r>
            <a:r>
              <a:rPr lang="pt-BR" dirty="0">
                <a:solidFill>
                  <a:srgbClr val="841C39"/>
                </a:solidFill>
              </a:rPr>
              <a:t>criação</a:t>
            </a:r>
            <a:r>
              <a:rPr lang="pt-BR" dirty="0"/>
              <a:t> dos objetos (instâncias).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É o primeiro método que um objeto executa.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Em Java existe um construtor padrão que não precisa ser programado.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10121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BB13BD45-47E8-3ECA-7661-61238A323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7D00E8B7-0592-32EF-0965-DAC74B5ABD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Métodos Construtores</a:t>
            </a:r>
            <a:br>
              <a:rPr lang="pt-BR" dirty="0"/>
            </a:b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DF4608E2-2D99-BDFB-25CF-570A33F9C7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Os métodos construtores garantem a inicialização correta da instância do objeto.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Exemplo: </a:t>
            </a:r>
          </a:p>
          <a:p>
            <a:pPr marL="457200" lvl="1" indent="0">
              <a:spcAft>
                <a:spcPts val="1200"/>
              </a:spcAft>
              <a:buNone/>
            </a:pPr>
            <a:r>
              <a:rPr lang="pt-BR" dirty="0"/>
              <a:t>Na classe </a:t>
            </a:r>
            <a:r>
              <a:rPr lang="pt-BR" b="1" dirty="0"/>
              <a:t>Pessoa</a:t>
            </a:r>
            <a:r>
              <a:rPr lang="pt-BR" dirty="0"/>
              <a:t>, o uso do método </a:t>
            </a:r>
            <a:r>
              <a:rPr lang="pt-BR" b="1" i="1" dirty="0" err="1"/>
              <a:t>inicializaPessoa</a:t>
            </a:r>
            <a:r>
              <a:rPr lang="pt-BR" dirty="0"/>
              <a:t> deveria ser obrigatório: esta tarefa deve ser efetuada por um método construtor.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01084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94FBF333-9C86-06F0-1A74-1495D3908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889B55F8-2140-EA0E-9370-D2E021AE2C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pt-BR" dirty="0"/>
              <a:t>Métodos Construtores</a:t>
            </a:r>
            <a:br>
              <a:rPr lang="pt-BR" dirty="0"/>
            </a:b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5D569BBC-FBC2-01DD-E9FD-A5FC0A3DEA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b="1" u="sng" dirty="0"/>
              <a:t>Métodos construtores x outros métodos:</a:t>
            </a:r>
          </a:p>
          <a:p>
            <a:pPr marL="457200" lvl="1" indent="0">
              <a:spcAft>
                <a:spcPts val="1200"/>
              </a:spcAft>
              <a:buNone/>
            </a:pPr>
            <a:r>
              <a:rPr lang="pt-BR" dirty="0"/>
              <a:t>Os métodos construtores...</a:t>
            </a:r>
          </a:p>
          <a:p>
            <a:pPr marL="457200" lvl="1" indent="0">
              <a:spcAft>
                <a:spcPts val="1200"/>
              </a:spcAft>
              <a:buNone/>
            </a:pPr>
            <a:r>
              <a:rPr lang="pt-BR" dirty="0"/>
              <a:t>	Têm o </a:t>
            </a:r>
            <a:r>
              <a:rPr lang="pt-BR" b="1" dirty="0"/>
              <a:t>mesmo nome da classe</a:t>
            </a:r>
            <a:r>
              <a:rPr lang="pt-BR" dirty="0"/>
              <a:t>, respeitando maiúsculas e minúsculas.</a:t>
            </a:r>
          </a:p>
          <a:p>
            <a:pPr marL="457200" lvl="1" indent="0">
              <a:spcAft>
                <a:spcPts val="1200"/>
              </a:spcAft>
              <a:buNone/>
            </a:pPr>
            <a:r>
              <a:rPr lang="pt-BR" b="1" dirty="0"/>
              <a:t>Não retornam valor </a:t>
            </a:r>
            <a:r>
              <a:rPr lang="pt-BR" dirty="0"/>
              <a:t>(nem mesmo </a:t>
            </a:r>
            <a:r>
              <a:rPr lang="pt-BR" b="1" i="1" dirty="0" err="1"/>
              <a:t>void</a:t>
            </a:r>
            <a:r>
              <a:rPr lang="pt-BR" dirty="0"/>
              <a:t>). Devem ser declarados sem retorno.</a:t>
            </a:r>
          </a:p>
          <a:p>
            <a:pPr marL="457200" lvl="1" indent="0">
              <a:spcAft>
                <a:spcPts val="1200"/>
              </a:spcAft>
              <a:buNone/>
            </a:pPr>
            <a:r>
              <a:rPr lang="pt-BR" dirty="0"/>
              <a:t>Não podem ser chamados sem o </a:t>
            </a:r>
            <a:r>
              <a:rPr lang="pt-BR" b="1" dirty="0"/>
              <a:t>new</a:t>
            </a:r>
            <a:r>
              <a:rPr lang="pt-B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822674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CCDF6C09-5413-6B0D-5BAC-96F742502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191B1929-1A93-B50E-BEC4-DD80F97E42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pt-BR" dirty="0"/>
              <a:t>Métodos Construtores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086F333A-9078-2AA6-3888-9B733F09A1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Representação Gráfica de uma Classe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8AEE73F-D8E5-9879-0E9C-6C29F3D0F2A7}"/>
              </a:ext>
            </a:extLst>
          </p:cNvPr>
          <p:cNvSpPr/>
          <p:nvPr/>
        </p:nvSpPr>
        <p:spPr>
          <a:xfrm>
            <a:off x="1101777" y="1821305"/>
            <a:ext cx="3395272" cy="21697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Pessoa</a:t>
            </a:r>
          </a:p>
          <a:p>
            <a:pPr algn="ctr"/>
            <a:endParaRPr lang="pt-BR" dirty="0"/>
          </a:p>
          <a:p>
            <a:r>
              <a:rPr lang="pt-BR" dirty="0"/>
              <a:t>nome: </a:t>
            </a:r>
            <a:r>
              <a:rPr lang="pt-BR" dirty="0" err="1"/>
              <a:t>String</a:t>
            </a:r>
            <a:br>
              <a:rPr lang="pt-BR" dirty="0"/>
            </a:br>
            <a:r>
              <a:rPr lang="pt-BR" dirty="0"/>
              <a:t>idade: </a:t>
            </a:r>
            <a:r>
              <a:rPr lang="pt-BR" dirty="0" err="1"/>
              <a:t>int</a:t>
            </a:r>
            <a:endParaRPr lang="pt-BR" dirty="0"/>
          </a:p>
          <a:p>
            <a:endParaRPr lang="pt-BR" dirty="0"/>
          </a:p>
          <a:p>
            <a:r>
              <a:rPr lang="pt-BR" b="1" dirty="0">
                <a:solidFill>
                  <a:srgbClr val="C00000"/>
                </a:solidFill>
              </a:rPr>
              <a:t>Pessoa()</a:t>
            </a:r>
          </a:p>
          <a:p>
            <a:r>
              <a:rPr lang="pt-BR" dirty="0" err="1"/>
              <a:t>AlteraNome</a:t>
            </a:r>
            <a:r>
              <a:rPr lang="pt-BR" dirty="0"/>
              <a:t>(</a:t>
            </a:r>
            <a:r>
              <a:rPr lang="pt-BR" dirty="0" err="1"/>
              <a:t>novoNome</a:t>
            </a:r>
            <a:r>
              <a:rPr lang="pt-BR" dirty="0"/>
              <a:t>: </a:t>
            </a:r>
            <a:r>
              <a:rPr lang="pt-BR" dirty="0" err="1"/>
              <a:t>String</a:t>
            </a:r>
            <a:r>
              <a:rPr lang="pt-BR" dirty="0"/>
              <a:t>): </a:t>
            </a:r>
            <a:r>
              <a:rPr lang="pt-BR" dirty="0" err="1"/>
              <a:t>void</a:t>
            </a:r>
            <a:endParaRPr lang="pt-BR" dirty="0"/>
          </a:p>
          <a:p>
            <a:r>
              <a:rPr lang="pt-BR" dirty="0" err="1"/>
              <a:t>RetornaNome</a:t>
            </a:r>
            <a:r>
              <a:rPr lang="pt-BR" dirty="0"/>
              <a:t>(): </a:t>
            </a:r>
            <a:r>
              <a:rPr lang="pt-BR" dirty="0" err="1"/>
              <a:t>String</a:t>
            </a:r>
            <a:endParaRPr lang="pt-BR" dirty="0"/>
          </a:p>
          <a:p>
            <a:r>
              <a:rPr lang="pt-BR" dirty="0" err="1"/>
              <a:t>AumentaIdade</a:t>
            </a:r>
            <a:r>
              <a:rPr lang="pt-BR" dirty="0"/>
              <a:t>(aumento </a:t>
            </a:r>
            <a:r>
              <a:rPr lang="pt-BR" dirty="0" err="1"/>
              <a:t>int</a:t>
            </a:r>
            <a:r>
              <a:rPr lang="pt-BR" dirty="0"/>
              <a:t>): </a:t>
            </a:r>
            <a:r>
              <a:rPr lang="pt-BR" dirty="0" err="1"/>
              <a:t>int</a:t>
            </a:r>
            <a:endParaRPr lang="pt-BR" dirty="0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1197C320-F726-AB00-CE51-5FFDE53733DA}"/>
              </a:ext>
            </a:extLst>
          </p:cNvPr>
          <p:cNvCxnSpPr/>
          <p:nvPr/>
        </p:nvCxnSpPr>
        <p:spPr>
          <a:xfrm>
            <a:off x="1109272" y="2211049"/>
            <a:ext cx="3380282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566BB34B-6CA0-FBAF-1CFB-BC98796745A0}"/>
              </a:ext>
            </a:extLst>
          </p:cNvPr>
          <p:cNvCxnSpPr/>
          <p:nvPr/>
        </p:nvCxnSpPr>
        <p:spPr>
          <a:xfrm>
            <a:off x="1101777" y="2893101"/>
            <a:ext cx="3380282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o Explicativo: Linha 5">
            <a:extLst>
              <a:ext uri="{FF2B5EF4-FFF2-40B4-BE49-F238E27FC236}">
                <a16:creationId xmlns:a16="http://schemas.microsoft.com/office/drawing/2014/main" id="{6950F1CA-0845-E676-7700-3F3BF82FA582}"/>
              </a:ext>
            </a:extLst>
          </p:cNvPr>
          <p:cNvSpPr/>
          <p:nvPr/>
        </p:nvSpPr>
        <p:spPr>
          <a:xfrm>
            <a:off x="5621311" y="1986197"/>
            <a:ext cx="2076138" cy="906904"/>
          </a:xfrm>
          <a:prstGeom prst="borderCallout1">
            <a:avLst>
              <a:gd name="adj1" fmla="val 44676"/>
              <a:gd name="adj2" fmla="val -333"/>
              <a:gd name="adj3" fmla="val 128117"/>
              <a:gd name="adj4" fmla="val -171433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spc="-1" dirty="0">
                <a:solidFill>
                  <a:srgbClr val="000000"/>
                </a:solidFill>
              </a:rPr>
              <a:t>Representação Gráfica do</a:t>
            </a:r>
            <a:endParaRPr lang="pt-BR" spc="-1" dirty="0"/>
          </a:p>
          <a:p>
            <a:pPr algn="ctr"/>
            <a:r>
              <a:rPr lang="pt-BR" b="1" spc="-1" dirty="0">
                <a:solidFill>
                  <a:srgbClr val="000000"/>
                </a:solidFill>
              </a:rPr>
              <a:t>Método Construtor</a:t>
            </a:r>
            <a:endParaRPr lang="pt-BR" spc="-1" dirty="0"/>
          </a:p>
        </p:txBody>
      </p:sp>
    </p:spTree>
    <p:extLst>
      <p:ext uri="{BB962C8B-B14F-4D97-AF65-F5344CB8AC3E}">
        <p14:creationId xmlns:p14="http://schemas.microsoft.com/office/powerpoint/2010/main" val="40689080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B74ECA9C-2AB1-AD6A-0B50-55A9F29DD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84ECB646-D2A6-D2E6-64BD-2A14465115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pt-BR" dirty="0"/>
              <a:t>Métodos Construtores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AEC6C6DD-324F-FE91-928B-8AAE5E70E5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u="sng" dirty="0"/>
              <a:t>Exemplo de um Método Construtor em Java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D53E7BC-10D2-9A26-C550-9C28925F2E60}"/>
              </a:ext>
            </a:extLst>
          </p:cNvPr>
          <p:cNvSpPr/>
          <p:nvPr/>
        </p:nvSpPr>
        <p:spPr>
          <a:xfrm>
            <a:off x="404735" y="1693889"/>
            <a:ext cx="5036696" cy="2600793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pt-BR" b="1" spc="-1" dirty="0" err="1">
                <a:solidFill>
                  <a:srgbClr val="000000"/>
                </a:solidFill>
                <a:latin typeface="Courier New" panose="02070309020205020404"/>
              </a:rPr>
              <a:t>public</a:t>
            </a:r>
            <a:r>
              <a:rPr lang="pt-BR" b="1" spc="-1" dirty="0">
                <a:solidFill>
                  <a:srgbClr val="000000"/>
                </a:solidFill>
                <a:latin typeface="Courier New" panose="02070309020205020404"/>
              </a:rPr>
              <a:t> </a:t>
            </a:r>
            <a:r>
              <a:rPr lang="pt-BR" b="1" spc="-1" dirty="0" err="1">
                <a:solidFill>
                  <a:srgbClr val="0505FF"/>
                </a:solidFill>
                <a:latin typeface="Courier New" panose="02070309020205020404"/>
              </a:rPr>
              <a:t>class</a:t>
            </a:r>
            <a:r>
              <a:rPr lang="pt-BR" b="1" spc="-1" dirty="0">
                <a:solidFill>
                  <a:srgbClr val="0505FF"/>
                </a:solidFill>
                <a:latin typeface="Courier New" panose="02070309020205020404"/>
              </a:rPr>
              <a:t> </a:t>
            </a:r>
            <a:r>
              <a:rPr lang="pt-BR" b="1" spc="-1" dirty="0">
                <a:solidFill>
                  <a:srgbClr val="000000"/>
                </a:solidFill>
                <a:latin typeface="Courier New" panose="02070309020205020404"/>
              </a:rPr>
              <a:t>Pessoa{</a:t>
            </a:r>
            <a:endParaRPr lang="pt-BR" spc="-1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r>
              <a:rPr lang="pt-BR" b="1" spc="-1" dirty="0">
                <a:solidFill>
                  <a:srgbClr val="000000"/>
                </a:solidFill>
                <a:latin typeface="Courier New" panose="02070309020205020404"/>
              </a:rPr>
              <a:t>   </a:t>
            </a:r>
            <a:r>
              <a:rPr lang="pt-BR" b="1" spc="-1" dirty="0" err="1">
                <a:solidFill>
                  <a:srgbClr val="000000"/>
                </a:solidFill>
                <a:latin typeface="Courier New" panose="02070309020205020404"/>
              </a:rPr>
              <a:t>String</a:t>
            </a:r>
            <a:r>
              <a:rPr lang="pt-BR" b="1" spc="-1" dirty="0">
                <a:solidFill>
                  <a:srgbClr val="0505FF"/>
                </a:solidFill>
                <a:latin typeface="Courier New" panose="02070309020205020404"/>
              </a:rPr>
              <a:t> </a:t>
            </a:r>
            <a:r>
              <a:rPr lang="pt-BR" b="1" i="1" spc="-1" dirty="0">
                <a:solidFill>
                  <a:srgbClr val="006600"/>
                </a:solidFill>
                <a:latin typeface="Courier New" panose="02070309020205020404"/>
              </a:rPr>
              <a:t>nome</a:t>
            </a:r>
            <a:r>
              <a:rPr lang="pt-BR" b="1" spc="-1" dirty="0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lang="pt-BR" spc="-1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r>
              <a:rPr lang="pt-BR" b="1" spc="-1" dirty="0">
                <a:solidFill>
                  <a:srgbClr val="000000"/>
                </a:solidFill>
                <a:latin typeface="Courier New" panose="02070309020205020404"/>
              </a:rPr>
              <a:t>   </a:t>
            </a:r>
            <a:r>
              <a:rPr lang="pt-BR" b="1" spc="-1" dirty="0" err="1">
                <a:solidFill>
                  <a:srgbClr val="000000"/>
                </a:solidFill>
                <a:latin typeface="Courier New" panose="02070309020205020404"/>
              </a:rPr>
              <a:t>int</a:t>
            </a:r>
            <a:r>
              <a:rPr lang="pt-BR" b="1" spc="-1" dirty="0">
                <a:solidFill>
                  <a:srgbClr val="000000"/>
                </a:solidFill>
                <a:latin typeface="Courier New" panose="02070309020205020404"/>
              </a:rPr>
              <a:t> </a:t>
            </a:r>
            <a:r>
              <a:rPr lang="pt-BR" b="1" i="1" spc="-1" dirty="0">
                <a:solidFill>
                  <a:srgbClr val="006600"/>
                </a:solidFill>
                <a:latin typeface="Courier New" panose="02070309020205020404"/>
              </a:rPr>
              <a:t>idade</a:t>
            </a:r>
            <a:r>
              <a:rPr lang="pt-BR" b="1" spc="-1" dirty="0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lang="pt-BR" spc="-1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r>
              <a:rPr lang="pt-BR" b="1" spc="-1" dirty="0">
                <a:solidFill>
                  <a:srgbClr val="0505FF"/>
                </a:solidFill>
                <a:latin typeface="Courier New" panose="02070309020205020404"/>
              </a:rPr>
              <a:t>   </a:t>
            </a:r>
            <a:r>
              <a:rPr lang="pt-BR" b="1" spc="-1" dirty="0" err="1">
                <a:solidFill>
                  <a:srgbClr val="0505FF"/>
                </a:solidFill>
                <a:latin typeface="Courier New" panose="02070309020205020404"/>
              </a:rPr>
              <a:t>public</a:t>
            </a:r>
            <a:r>
              <a:rPr lang="pt-BR" b="1" spc="-1" dirty="0">
                <a:solidFill>
                  <a:srgbClr val="0505FF"/>
                </a:solidFill>
                <a:latin typeface="Courier New" panose="02070309020205020404"/>
              </a:rPr>
              <a:t> </a:t>
            </a:r>
            <a:r>
              <a:rPr lang="pt-BR" b="1" i="1" spc="-1" dirty="0">
                <a:solidFill>
                  <a:srgbClr val="7030A0"/>
                </a:solidFill>
                <a:latin typeface="Courier New" panose="02070309020205020404"/>
              </a:rPr>
              <a:t>Pessoa</a:t>
            </a:r>
            <a:r>
              <a:rPr lang="pt-BR" b="1" spc="-1" dirty="0">
                <a:solidFill>
                  <a:srgbClr val="7030A0"/>
                </a:solidFill>
                <a:latin typeface="Courier New" panose="02070309020205020404"/>
              </a:rPr>
              <a:t>()</a:t>
            </a:r>
            <a:r>
              <a:rPr lang="pt-BR" b="1" spc="-1" dirty="0">
                <a:solidFill>
                  <a:srgbClr val="000000"/>
                </a:solidFill>
                <a:latin typeface="Courier New" panose="02070309020205020404"/>
              </a:rPr>
              <a:t>{  </a:t>
            </a:r>
            <a:endParaRPr lang="pt-BR" spc="-1" dirty="0">
              <a:solidFill>
                <a:srgbClr val="000000"/>
              </a:solidFill>
            </a:endParaRPr>
          </a:p>
          <a:p>
            <a:pPr marL="273050" indent="-272415">
              <a:lnSpc>
                <a:spcPct val="150000"/>
              </a:lnSpc>
            </a:pPr>
            <a:r>
              <a:rPr lang="pt-BR" b="1" spc="-1" dirty="0">
                <a:solidFill>
                  <a:srgbClr val="000000"/>
                </a:solidFill>
                <a:latin typeface="Courier New" panose="02070309020205020404"/>
              </a:rPr>
              <a:t>		 </a:t>
            </a:r>
            <a:r>
              <a:rPr lang="pt-BR" b="1" spc="-1" dirty="0" err="1">
                <a:solidFill>
                  <a:srgbClr val="000000"/>
                </a:solidFill>
                <a:latin typeface="Courier New" panose="02070309020205020404"/>
              </a:rPr>
              <a:t>System.out.println</a:t>
            </a:r>
            <a:r>
              <a:rPr lang="pt-BR" b="1" spc="-1" dirty="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lang="pt-BR" b="1" spc="-1" dirty="0">
                <a:solidFill>
                  <a:srgbClr val="EB641B"/>
                </a:solidFill>
                <a:latin typeface="Courier New" panose="02070309020205020404"/>
              </a:rPr>
              <a:t>“Olá!”</a:t>
            </a:r>
            <a:r>
              <a:rPr lang="pt-BR" b="1" spc="-1" dirty="0">
                <a:solidFill>
                  <a:srgbClr val="000000"/>
                </a:solidFill>
                <a:latin typeface="Courier New" panose="02070309020205020404"/>
              </a:rPr>
              <a:t>);</a:t>
            </a:r>
            <a:endParaRPr lang="pt-BR" spc="-1" dirty="0">
              <a:solidFill>
                <a:srgbClr val="000000"/>
              </a:solidFill>
            </a:endParaRPr>
          </a:p>
          <a:p>
            <a:pPr marL="273050" indent="-272415">
              <a:lnSpc>
                <a:spcPct val="150000"/>
              </a:lnSpc>
            </a:pPr>
            <a:r>
              <a:rPr lang="pt-BR" b="1" spc="-1" dirty="0">
                <a:solidFill>
                  <a:srgbClr val="000000"/>
                </a:solidFill>
                <a:latin typeface="Courier New" panose="02070309020205020404"/>
              </a:rPr>
              <a:t>   }</a:t>
            </a:r>
            <a:endParaRPr lang="pt-BR" spc="-1" dirty="0">
              <a:solidFill>
                <a:srgbClr val="000000"/>
              </a:solidFill>
            </a:endParaRPr>
          </a:p>
          <a:p>
            <a:pPr marL="273050" indent="-272415">
              <a:lnSpc>
                <a:spcPct val="150000"/>
              </a:lnSpc>
            </a:pPr>
            <a:r>
              <a:rPr lang="pt-BR" b="1" spc="-1" dirty="0">
                <a:solidFill>
                  <a:srgbClr val="000000"/>
                </a:solidFill>
                <a:latin typeface="Courier New" panose="02070309020205020404"/>
              </a:rPr>
              <a:t>}</a:t>
            </a:r>
            <a:endParaRPr lang="pt-BR" spc="-1" dirty="0">
              <a:solidFill>
                <a:srgbClr val="000000"/>
              </a:solidFill>
            </a:endParaRPr>
          </a:p>
        </p:txBody>
      </p:sp>
      <p:sp>
        <p:nvSpPr>
          <p:cNvPr id="3" name="Texto Explicativo: Linha 2">
            <a:extLst>
              <a:ext uri="{FF2B5EF4-FFF2-40B4-BE49-F238E27FC236}">
                <a16:creationId xmlns:a16="http://schemas.microsoft.com/office/drawing/2014/main" id="{B477FA65-38BD-2058-F6EF-8C3F78E25E6A}"/>
              </a:ext>
            </a:extLst>
          </p:cNvPr>
          <p:cNvSpPr/>
          <p:nvPr/>
        </p:nvSpPr>
        <p:spPr>
          <a:xfrm>
            <a:off x="5621311" y="1986197"/>
            <a:ext cx="2076138" cy="906904"/>
          </a:xfrm>
          <a:prstGeom prst="borderCallout1">
            <a:avLst>
              <a:gd name="adj1" fmla="val 44676"/>
              <a:gd name="adj2" fmla="val -333"/>
              <a:gd name="adj3" fmla="val 118200"/>
              <a:gd name="adj4" fmla="val -144718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spc="-1" dirty="0">
                <a:solidFill>
                  <a:srgbClr val="000000"/>
                </a:solidFill>
              </a:rPr>
              <a:t>Método Construtor</a:t>
            </a:r>
            <a:endParaRPr lang="pt-BR" spc="-1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0E06947C-EBB4-0EC4-DCDB-E867BB3C8885}"/>
              </a:ext>
            </a:extLst>
          </p:cNvPr>
          <p:cNvSpPr/>
          <p:nvPr/>
        </p:nvSpPr>
        <p:spPr>
          <a:xfrm>
            <a:off x="697043" y="2878111"/>
            <a:ext cx="3949908" cy="981856"/>
          </a:xfrm>
          <a:prstGeom prst="round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33185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35F67B6C-2957-6735-9A9A-500DC0186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DD6F4AEB-29B0-D2EA-FF57-14A8C5420D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Métodos Construtores</a:t>
            </a:r>
            <a:br>
              <a:rPr lang="pt-BR" dirty="0"/>
            </a:b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C004D394-467D-EAAC-C3E3-E9D3464389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Construtor padrão:</a:t>
            </a:r>
          </a:p>
          <a:p>
            <a:pPr marL="457200" lvl="1" indent="0">
              <a:spcAft>
                <a:spcPts val="1200"/>
              </a:spcAft>
              <a:buNone/>
            </a:pPr>
            <a:r>
              <a:rPr lang="pt-BR" dirty="0"/>
              <a:t>Inicializa dados da instância com o valor padrão do tipo nativo padrão, ou </a:t>
            </a:r>
            <a:r>
              <a:rPr lang="pt-BR" dirty="0" err="1"/>
              <a:t>null</a:t>
            </a:r>
            <a:r>
              <a:rPr lang="pt-BR" dirty="0"/>
              <a:t> (para instâncias de classes)</a:t>
            </a:r>
          </a:p>
          <a:p>
            <a:pPr marL="457200" lvl="1" indent="0">
              <a:spcAft>
                <a:spcPts val="120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C34B303-393A-A2A2-B0DC-61A7086707CA}"/>
              </a:ext>
            </a:extLst>
          </p:cNvPr>
          <p:cNvSpPr txBox="1"/>
          <p:nvPr/>
        </p:nvSpPr>
        <p:spPr>
          <a:xfrm>
            <a:off x="1131756" y="2883758"/>
            <a:ext cx="5801193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3050" indent="-272415">
              <a:lnSpc>
                <a:spcPct val="100000"/>
              </a:lnSpc>
              <a:spcBef>
                <a:spcPts val="575"/>
              </a:spcBef>
            </a:pPr>
            <a:r>
              <a:rPr lang="pt-BR" sz="2000" u="sng" dirty="0">
                <a:solidFill>
                  <a:srgbClr val="3C5258"/>
                </a:solidFill>
              </a:rPr>
              <a:t>tipo nativo </a:t>
            </a:r>
            <a:r>
              <a:rPr lang="pt-BR" sz="2000" dirty="0">
                <a:solidFill>
                  <a:srgbClr val="3C5258"/>
                </a:solidFill>
              </a:rPr>
              <a:t>			</a:t>
            </a:r>
            <a:r>
              <a:rPr lang="pt-BR" sz="2000" u="sng" dirty="0">
                <a:solidFill>
                  <a:srgbClr val="3C5258"/>
                </a:solidFill>
              </a:rPr>
              <a:t>valor padrão</a:t>
            </a:r>
          </a:p>
          <a:p>
            <a:pPr marL="273050" indent="-272415">
              <a:lnSpc>
                <a:spcPct val="100000"/>
              </a:lnSpc>
              <a:spcBef>
                <a:spcPts val="575"/>
              </a:spcBef>
            </a:pPr>
            <a:r>
              <a:rPr lang="pt-BR" sz="2000" dirty="0" err="1">
                <a:solidFill>
                  <a:srgbClr val="3C5258"/>
                </a:solidFill>
              </a:rPr>
              <a:t>boolean</a:t>
            </a:r>
            <a:r>
              <a:rPr lang="pt-BR" sz="2000" dirty="0">
                <a:solidFill>
                  <a:srgbClr val="3C5258"/>
                </a:solidFill>
              </a:rPr>
              <a:t>				false</a:t>
            </a:r>
          </a:p>
          <a:p>
            <a:pPr marL="273050" lvl="2" indent="-272415">
              <a:spcBef>
                <a:spcPts val="575"/>
              </a:spcBef>
            </a:pPr>
            <a:r>
              <a:rPr lang="pt-BR" sz="2000" dirty="0">
                <a:solidFill>
                  <a:srgbClr val="3C5258"/>
                </a:solidFill>
              </a:rPr>
              <a:t>char				espaço</a:t>
            </a:r>
          </a:p>
          <a:p>
            <a:pPr marL="273050" indent="-272415">
              <a:lnSpc>
                <a:spcPct val="100000"/>
              </a:lnSpc>
              <a:spcBef>
                <a:spcPts val="575"/>
              </a:spcBef>
            </a:pPr>
            <a:r>
              <a:rPr lang="pt-BR" sz="2000" dirty="0">
                <a:solidFill>
                  <a:srgbClr val="3C5258"/>
                </a:solidFill>
              </a:rPr>
              <a:t>tipos numéricos	             		zero do tipo</a:t>
            </a:r>
          </a:p>
        </p:txBody>
      </p:sp>
    </p:spTree>
    <p:extLst>
      <p:ext uri="{BB962C8B-B14F-4D97-AF65-F5344CB8AC3E}">
        <p14:creationId xmlns:p14="http://schemas.microsoft.com/office/powerpoint/2010/main" val="9022365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19B9AFCE-058A-FE77-2428-1FF8D9899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57BB025B-0A55-01FA-A57B-3D7FA96A1C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pt-BR" dirty="0"/>
              <a:t>Métodos Construtores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A62F5607-F0AF-23D8-8204-8D6B6F42A5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Métodos Construtores na criação de um Objeto</a:t>
            </a:r>
            <a:br>
              <a:rPr lang="pt-BR" dirty="0"/>
            </a:br>
            <a:endParaRPr lang="pt-BR" dirty="0"/>
          </a:p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3600" dirty="0"/>
              <a:t>Pessoa p = </a:t>
            </a:r>
            <a:r>
              <a:rPr lang="pt-BR" sz="3600" dirty="0">
                <a:solidFill>
                  <a:srgbClr val="C00000"/>
                </a:solidFill>
              </a:rPr>
              <a:t>new</a:t>
            </a:r>
            <a:r>
              <a:rPr lang="pt-BR" sz="3600" dirty="0"/>
              <a:t> Pessoa();</a:t>
            </a:r>
            <a:endParaRPr sz="3600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26E8A7F-CAC7-777E-47CB-F872A5A016F9}"/>
              </a:ext>
            </a:extLst>
          </p:cNvPr>
          <p:cNvSpPr/>
          <p:nvPr/>
        </p:nvSpPr>
        <p:spPr>
          <a:xfrm>
            <a:off x="924931" y="3487114"/>
            <a:ext cx="1791324" cy="75258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spc="-1" dirty="0">
                <a:solidFill>
                  <a:srgbClr val="0033CC"/>
                </a:solidFill>
                <a:latin typeface="Lucida Sans Unicode"/>
              </a:rPr>
              <a:t>Declaração de referência para a classe </a:t>
            </a:r>
            <a:r>
              <a:rPr lang="pt-BR" sz="1200" spc="-1" dirty="0">
                <a:solidFill>
                  <a:srgbClr val="006600"/>
                </a:solidFill>
                <a:latin typeface="Lucida Sans Unicode"/>
              </a:rPr>
              <a:t>Pessoa</a:t>
            </a:r>
            <a:endParaRPr lang="pt-BR" sz="1200" spc="-1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1FF8C59-4E99-9D2B-5AF3-58DF7FC5B384}"/>
              </a:ext>
            </a:extLst>
          </p:cNvPr>
          <p:cNvSpPr/>
          <p:nvPr/>
        </p:nvSpPr>
        <p:spPr>
          <a:xfrm>
            <a:off x="3141212" y="3868788"/>
            <a:ext cx="1791324" cy="58287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</a:pPr>
            <a:r>
              <a:rPr lang="pt-BR" sz="1200" spc="-1" dirty="0">
                <a:solidFill>
                  <a:srgbClr val="0033CC"/>
                </a:solidFill>
                <a:latin typeface="Lucida Sans Unicode"/>
              </a:rPr>
              <a:t>Associação da referência à instância</a:t>
            </a:r>
            <a:endParaRPr lang="pt-BR" sz="1200" spc="-1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1EDA4FA-60C9-D4ED-4F3F-77177996A5EF}"/>
              </a:ext>
            </a:extLst>
          </p:cNvPr>
          <p:cNvSpPr/>
          <p:nvPr/>
        </p:nvSpPr>
        <p:spPr>
          <a:xfrm>
            <a:off x="4642103" y="3222652"/>
            <a:ext cx="1259174" cy="52892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</a:pPr>
            <a:r>
              <a:rPr lang="pt-BR" sz="1200" spc="-1" dirty="0">
                <a:solidFill>
                  <a:srgbClr val="7030A0"/>
                </a:solidFill>
                <a:latin typeface="Lucida Sans Unicode"/>
              </a:rPr>
              <a:t>Atribuição da instância</a:t>
            </a:r>
            <a:endParaRPr lang="pt-BR" sz="1200" spc="-1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ADE8B68-0701-67B2-FADF-6DDB4F50B172}"/>
              </a:ext>
            </a:extLst>
          </p:cNvPr>
          <p:cNvSpPr/>
          <p:nvPr/>
        </p:nvSpPr>
        <p:spPr>
          <a:xfrm>
            <a:off x="5817731" y="3924603"/>
            <a:ext cx="1791324" cy="75258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</a:pPr>
            <a:r>
              <a:rPr lang="pt-BR" sz="1200" spc="-1" dirty="0">
                <a:solidFill>
                  <a:srgbClr val="EB641B"/>
                </a:solidFill>
                <a:latin typeface="Lucida Sans Unicode"/>
              </a:rPr>
              <a:t>Invocação do método construtor Pessoa()</a:t>
            </a:r>
            <a:endParaRPr lang="pt-BR" sz="1200" spc="-1" dirty="0"/>
          </a:p>
        </p:txBody>
      </p:sp>
      <p:cxnSp>
        <p:nvCxnSpPr>
          <p:cNvPr id="7" name="Conector: Angulado 6">
            <a:extLst>
              <a:ext uri="{FF2B5EF4-FFF2-40B4-BE49-F238E27FC236}">
                <a16:creationId xmlns:a16="http://schemas.microsoft.com/office/drawing/2014/main" id="{D5AE8B3A-3A57-F45B-856C-55F74B157C4B}"/>
              </a:ext>
            </a:extLst>
          </p:cNvPr>
          <p:cNvCxnSpPr>
            <a:cxnSpLocks/>
            <a:endCxn id="5" idx="0"/>
          </p:cNvCxnSpPr>
          <p:nvPr/>
        </p:nvCxnSpPr>
        <p:spPr>
          <a:xfrm rot="16200000" flipH="1">
            <a:off x="5929022" y="3140232"/>
            <a:ext cx="1063926" cy="50481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70E2BFC5-7CF4-E26A-A881-D1F93D7FA17F}"/>
              </a:ext>
            </a:extLst>
          </p:cNvPr>
          <p:cNvCxnSpPr>
            <a:cxnSpLocks/>
          </p:cNvCxnSpPr>
          <p:nvPr/>
        </p:nvCxnSpPr>
        <p:spPr>
          <a:xfrm>
            <a:off x="5271690" y="2860675"/>
            <a:ext cx="187377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155D2888-EA26-7963-A26E-34136B859B88}"/>
              </a:ext>
            </a:extLst>
          </p:cNvPr>
          <p:cNvCxnSpPr>
            <a:cxnSpLocks/>
          </p:cNvCxnSpPr>
          <p:nvPr/>
        </p:nvCxnSpPr>
        <p:spPr>
          <a:xfrm>
            <a:off x="1951368" y="2858225"/>
            <a:ext cx="184114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: Angulado 14">
            <a:extLst>
              <a:ext uri="{FF2B5EF4-FFF2-40B4-BE49-F238E27FC236}">
                <a16:creationId xmlns:a16="http://schemas.microsoft.com/office/drawing/2014/main" id="{E5F53AE4-548F-FF3D-E988-045D3CE6E09E}"/>
              </a:ext>
            </a:extLst>
          </p:cNvPr>
          <p:cNvCxnSpPr>
            <a:cxnSpLocks/>
            <a:endCxn id="4" idx="0"/>
          </p:cNvCxnSpPr>
          <p:nvPr/>
        </p:nvCxnSpPr>
        <p:spPr>
          <a:xfrm rot="16200000" flipH="1">
            <a:off x="4918231" y="2869193"/>
            <a:ext cx="361978" cy="34493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E40619F1-3F59-36DA-9AE7-69572D7EF84C}"/>
              </a:ext>
            </a:extLst>
          </p:cNvPr>
          <p:cNvCxnSpPr>
            <a:cxnSpLocks/>
            <a:endCxn id="3" idx="0"/>
          </p:cNvCxnSpPr>
          <p:nvPr/>
        </p:nvCxnSpPr>
        <p:spPr>
          <a:xfrm flipH="1">
            <a:off x="4036874" y="2698230"/>
            <a:ext cx="19124" cy="11705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: Angulado 33">
            <a:extLst>
              <a:ext uri="{FF2B5EF4-FFF2-40B4-BE49-F238E27FC236}">
                <a16:creationId xmlns:a16="http://schemas.microsoft.com/office/drawing/2014/main" id="{D96EEC74-0A7E-28D7-A3EC-96C2CC29127A}"/>
              </a:ext>
            </a:extLst>
          </p:cNvPr>
          <p:cNvCxnSpPr>
            <a:cxnSpLocks/>
          </p:cNvCxnSpPr>
          <p:nvPr/>
        </p:nvCxnSpPr>
        <p:spPr>
          <a:xfrm rot="5400000">
            <a:off x="1557737" y="3062772"/>
            <a:ext cx="628889" cy="21979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86F8C688-83B0-77F4-6D89-4A702AD9A114}"/>
              </a:ext>
            </a:extLst>
          </p:cNvPr>
          <p:cNvCxnSpPr>
            <a:cxnSpLocks/>
          </p:cNvCxnSpPr>
          <p:nvPr/>
        </p:nvCxnSpPr>
        <p:spPr>
          <a:xfrm>
            <a:off x="4362137" y="2858225"/>
            <a:ext cx="80947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50747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3D306A9F-CD60-0F56-A389-6466991C2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E264B28F-84B8-23DE-17FC-78AC6FBDE8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Destruindo os Objetos Criados (o destrutor)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AB0868AD-165E-8219-80B1-EA28FCDEFC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A linguagem Java assume a responsabilidade de destruir qualquer objeto que você tenha criado e não esteja mais usando. 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Ela faz isso através de um processo especial chamado coletor de lixo (</a:t>
            </a:r>
            <a:r>
              <a:rPr lang="pt-BR" b="1" dirty="0" err="1"/>
              <a:t>garbage</a:t>
            </a:r>
            <a:r>
              <a:rPr lang="pt-BR" b="1" dirty="0"/>
              <a:t> </a:t>
            </a:r>
            <a:r>
              <a:rPr lang="pt-BR" b="1" dirty="0" err="1"/>
              <a:t>collector</a:t>
            </a:r>
            <a:r>
              <a:rPr lang="pt-BR" dirty="0"/>
              <a:t>), que é executado em intervalos regulares, examinando cada objeto para ver se ele ainda é referenciado por alguma variável. 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Caso o objeto não seja utilizado ao menos por uma variável, ele é destruído e sua memória é liberada.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20288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CF770702-576A-5C6D-18ED-2728DC66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A033F1EA-C0FA-1823-5247-D866C82522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/>
              <a:t>Definindo valores padrões (default) para os Atributos da Classe</a:t>
            </a:r>
            <a:br>
              <a:rPr lang="pt-BR" dirty="0"/>
            </a:b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6E849240-EFB6-CD68-33FD-D278664B61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Representação Gráfica de uma Classe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B833F9F-561F-93CB-56AD-5BEBF8463839}"/>
              </a:ext>
            </a:extLst>
          </p:cNvPr>
          <p:cNvSpPr/>
          <p:nvPr/>
        </p:nvSpPr>
        <p:spPr>
          <a:xfrm>
            <a:off x="846944" y="2053653"/>
            <a:ext cx="3395272" cy="21697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Pessoa</a:t>
            </a:r>
          </a:p>
          <a:p>
            <a:pPr algn="ctr"/>
            <a:endParaRPr lang="pt-BR" dirty="0"/>
          </a:p>
          <a:p>
            <a:r>
              <a:rPr lang="pt-BR" dirty="0">
                <a:solidFill>
                  <a:srgbClr val="C00000"/>
                </a:solidFill>
              </a:rPr>
              <a:t>nome: </a:t>
            </a:r>
            <a:r>
              <a:rPr lang="pt-BR" dirty="0" err="1">
                <a:solidFill>
                  <a:srgbClr val="C00000"/>
                </a:solidFill>
              </a:rPr>
              <a:t>String</a:t>
            </a:r>
            <a:r>
              <a:rPr lang="pt-BR" dirty="0">
                <a:solidFill>
                  <a:srgbClr val="C00000"/>
                </a:solidFill>
              </a:rPr>
              <a:t> = “Fulano”</a:t>
            </a:r>
            <a:br>
              <a:rPr lang="pt-BR" dirty="0">
                <a:solidFill>
                  <a:srgbClr val="C00000"/>
                </a:solidFill>
              </a:rPr>
            </a:br>
            <a:r>
              <a:rPr lang="pt-BR" dirty="0">
                <a:solidFill>
                  <a:srgbClr val="C00000"/>
                </a:solidFill>
              </a:rPr>
              <a:t>idade: </a:t>
            </a:r>
            <a:r>
              <a:rPr lang="pt-BR" dirty="0" err="1">
                <a:solidFill>
                  <a:srgbClr val="C00000"/>
                </a:solidFill>
              </a:rPr>
              <a:t>int</a:t>
            </a:r>
            <a:r>
              <a:rPr lang="pt-BR" dirty="0">
                <a:solidFill>
                  <a:srgbClr val="C00000"/>
                </a:solidFill>
              </a:rPr>
              <a:t> = 0</a:t>
            </a:r>
          </a:p>
          <a:p>
            <a:endParaRPr lang="pt-BR" dirty="0"/>
          </a:p>
          <a:p>
            <a:r>
              <a:rPr lang="pt-BR" dirty="0">
                <a:solidFill>
                  <a:srgbClr val="474747"/>
                </a:solidFill>
              </a:rPr>
              <a:t>Pessoa()</a:t>
            </a:r>
          </a:p>
          <a:p>
            <a:r>
              <a:rPr lang="pt-BR" dirty="0" err="1"/>
              <a:t>AlteraNome</a:t>
            </a:r>
            <a:r>
              <a:rPr lang="pt-BR" dirty="0"/>
              <a:t>(</a:t>
            </a:r>
            <a:r>
              <a:rPr lang="pt-BR" dirty="0" err="1"/>
              <a:t>novoNome</a:t>
            </a:r>
            <a:r>
              <a:rPr lang="pt-BR" dirty="0"/>
              <a:t>: </a:t>
            </a:r>
            <a:r>
              <a:rPr lang="pt-BR" dirty="0" err="1"/>
              <a:t>String</a:t>
            </a:r>
            <a:r>
              <a:rPr lang="pt-BR" dirty="0"/>
              <a:t>): </a:t>
            </a:r>
            <a:r>
              <a:rPr lang="pt-BR" dirty="0" err="1"/>
              <a:t>void</a:t>
            </a:r>
            <a:endParaRPr lang="pt-BR" dirty="0"/>
          </a:p>
          <a:p>
            <a:r>
              <a:rPr lang="pt-BR" dirty="0" err="1"/>
              <a:t>RetornaNome</a:t>
            </a:r>
            <a:r>
              <a:rPr lang="pt-BR" dirty="0"/>
              <a:t>(): </a:t>
            </a:r>
            <a:r>
              <a:rPr lang="pt-BR" dirty="0" err="1"/>
              <a:t>String</a:t>
            </a:r>
            <a:endParaRPr lang="pt-BR" dirty="0"/>
          </a:p>
          <a:p>
            <a:r>
              <a:rPr lang="pt-BR" dirty="0" err="1"/>
              <a:t>AumentaIdade</a:t>
            </a:r>
            <a:r>
              <a:rPr lang="pt-BR" dirty="0"/>
              <a:t>(aumento </a:t>
            </a:r>
            <a:r>
              <a:rPr lang="pt-BR" dirty="0" err="1"/>
              <a:t>int</a:t>
            </a:r>
            <a:r>
              <a:rPr lang="pt-BR" dirty="0"/>
              <a:t>): </a:t>
            </a:r>
            <a:r>
              <a:rPr lang="pt-BR" dirty="0" err="1"/>
              <a:t>int</a:t>
            </a:r>
            <a:endParaRPr lang="pt-BR" dirty="0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DE3B9C27-973F-4014-99E1-D3C68BD9A116}"/>
              </a:ext>
            </a:extLst>
          </p:cNvPr>
          <p:cNvCxnSpPr/>
          <p:nvPr/>
        </p:nvCxnSpPr>
        <p:spPr>
          <a:xfrm>
            <a:off x="854439" y="2443397"/>
            <a:ext cx="3380282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7E7CEFE7-AFEB-B16D-C6B5-2D5A8C86D83A}"/>
              </a:ext>
            </a:extLst>
          </p:cNvPr>
          <p:cNvCxnSpPr/>
          <p:nvPr/>
        </p:nvCxnSpPr>
        <p:spPr>
          <a:xfrm>
            <a:off x="846944" y="3125449"/>
            <a:ext cx="3380282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o Explicativo: Linha 4">
            <a:extLst>
              <a:ext uri="{FF2B5EF4-FFF2-40B4-BE49-F238E27FC236}">
                <a16:creationId xmlns:a16="http://schemas.microsoft.com/office/drawing/2014/main" id="{7235872B-B588-3EAD-5351-E9B5511A1800}"/>
              </a:ext>
            </a:extLst>
          </p:cNvPr>
          <p:cNvSpPr/>
          <p:nvPr/>
        </p:nvSpPr>
        <p:spPr>
          <a:xfrm>
            <a:off x="5621311" y="1986197"/>
            <a:ext cx="2308486" cy="906904"/>
          </a:xfrm>
          <a:prstGeom prst="borderCallout1">
            <a:avLst>
              <a:gd name="adj1" fmla="val 44676"/>
              <a:gd name="adj2" fmla="val -333"/>
              <a:gd name="adj3" fmla="val 87621"/>
              <a:gd name="adj4" fmla="val -117537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pc="-1" dirty="0">
                <a:solidFill>
                  <a:srgbClr val="000000"/>
                </a:solidFill>
              </a:rPr>
              <a:t>Representação Gráfica de</a:t>
            </a:r>
            <a:endParaRPr lang="pt-BR" spc="-1" dirty="0"/>
          </a:p>
          <a:p>
            <a:pPr algn="ctr"/>
            <a:r>
              <a:rPr lang="pt-BR" spc="-1" dirty="0">
                <a:solidFill>
                  <a:srgbClr val="000000"/>
                </a:solidFill>
              </a:rPr>
              <a:t>Atributos com Valores Padrões</a:t>
            </a:r>
            <a:endParaRPr lang="pt-BR" spc="-1" dirty="0"/>
          </a:p>
        </p:txBody>
      </p:sp>
    </p:spTree>
    <p:extLst>
      <p:ext uri="{BB962C8B-B14F-4D97-AF65-F5344CB8AC3E}">
        <p14:creationId xmlns:p14="http://schemas.microsoft.com/office/powerpoint/2010/main" val="27461814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3591A31A-0F77-8007-48C8-7AA0C7527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A5FD7A4C-2A5A-A0BF-8BD6-0B2F914AFB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 dirty="0"/>
              <a:t>Definindo valores padrões (default) para os Atributos da Classe – 1ª forma</a:t>
            </a:r>
            <a:br>
              <a:rPr lang="pt-BR" dirty="0"/>
            </a:b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712F2B44-4AF1-4F2F-906A-2EB8835235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39EDE29-C9DA-77D9-2D7B-32BED3CF935F}"/>
              </a:ext>
            </a:extLst>
          </p:cNvPr>
          <p:cNvSpPr/>
          <p:nvPr/>
        </p:nvSpPr>
        <p:spPr>
          <a:xfrm>
            <a:off x="404735" y="1693889"/>
            <a:ext cx="5036696" cy="2600793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pt-BR" b="1" spc="-1" dirty="0" err="1">
                <a:solidFill>
                  <a:srgbClr val="000000"/>
                </a:solidFill>
                <a:latin typeface="Courier New" panose="02070309020205020404"/>
              </a:rPr>
              <a:t>public</a:t>
            </a:r>
            <a:r>
              <a:rPr lang="pt-BR" b="1" spc="-1" dirty="0">
                <a:solidFill>
                  <a:srgbClr val="000000"/>
                </a:solidFill>
                <a:latin typeface="Courier New" panose="02070309020205020404"/>
              </a:rPr>
              <a:t> </a:t>
            </a:r>
            <a:r>
              <a:rPr lang="pt-BR" b="1" spc="-1" dirty="0" err="1">
                <a:solidFill>
                  <a:srgbClr val="0505FF"/>
                </a:solidFill>
                <a:latin typeface="Courier New" panose="02070309020205020404"/>
              </a:rPr>
              <a:t>class</a:t>
            </a:r>
            <a:r>
              <a:rPr lang="pt-BR" b="1" spc="-1" dirty="0">
                <a:solidFill>
                  <a:srgbClr val="0505FF"/>
                </a:solidFill>
                <a:latin typeface="Courier New" panose="02070309020205020404"/>
              </a:rPr>
              <a:t> </a:t>
            </a:r>
            <a:r>
              <a:rPr lang="pt-BR" b="1" spc="-1" dirty="0">
                <a:solidFill>
                  <a:srgbClr val="000000"/>
                </a:solidFill>
                <a:latin typeface="Courier New" panose="02070309020205020404"/>
              </a:rPr>
              <a:t>Pessoa{</a:t>
            </a:r>
            <a:endParaRPr lang="pt-BR" spc="-1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r>
              <a:rPr lang="pt-BR" b="1" spc="-1" dirty="0">
                <a:solidFill>
                  <a:srgbClr val="000000"/>
                </a:solidFill>
                <a:latin typeface="Courier New" panose="02070309020205020404"/>
              </a:rPr>
              <a:t>   </a:t>
            </a:r>
            <a:r>
              <a:rPr lang="pt-BR" b="1" spc="-1" dirty="0" err="1">
                <a:solidFill>
                  <a:srgbClr val="000000"/>
                </a:solidFill>
                <a:latin typeface="Courier New" panose="02070309020205020404"/>
              </a:rPr>
              <a:t>String</a:t>
            </a:r>
            <a:r>
              <a:rPr lang="pt-BR" b="1" spc="-1" dirty="0">
                <a:solidFill>
                  <a:srgbClr val="0505FF"/>
                </a:solidFill>
                <a:latin typeface="Courier New" panose="02070309020205020404"/>
              </a:rPr>
              <a:t> </a:t>
            </a:r>
            <a:r>
              <a:rPr lang="pt-BR" b="1" i="1" spc="-1" dirty="0">
                <a:solidFill>
                  <a:srgbClr val="006600"/>
                </a:solidFill>
                <a:latin typeface="Courier New" panose="02070309020205020404"/>
              </a:rPr>
              <a:t>nome</a:t>
            </a:r>
            <a:r>
              <a:rPr lang="pt-BR" b="1" spc="-1" dirty="0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lang="pt-BR" spc="-1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r>
              <a:rPr lang="pt-BR" b="1" spc="-1" dirty="0">
                <a:solidFill>
                  <a:srgbClr val="000000"/>
                </a:solidFill>
                <a:latin typeface="Courier New" panose="02070309020205020404"/>
              </a:rPr>
              <a:t>   </a:t>
            </a:r>
            <a:r>
              <a:rPr lang="pt-BR" b="1" spc="-1" dirty="0" err="1">
                <a:solidFill>
                  <a:srgbClr val="000000"/>
                </a:solidFill>
                <a:latin typeface="Courier New" panose="02070309020205020404"/>
              </a:rPr>
              <a:t>int</a:t>
            </a:r>
            <a:r>
              <a:rPr lang="pt-BR" b="1" spc="-1" dirty="0">
                <a:solidFill>
                  <a:srgbClr val="000000"/>
                </a:solidFill>
                <a:latin typeface="Courier New" panose="02070309020205020404"/>
              </a:rPr>
              <a:t> </a:t>
            </a:r>
            <a:r>
              <a:rPr lang="pt-BR" b="1" i="1" spc="-1" dirty="0">
                <a:solidFill>
                  <a:srgbClr val="006600"/>
                </a:solidFill>
                <a:latin typeface="Courier New" panose="02070309020205020404"/>
              </a:rPr>
              <a:t>idade</a:t>
            </a:r>
            <a:r>
              <a:rPr lang="pt-BR" b="1" spc="-1" dirty="0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lang="pt-BR" spc="-1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r>
              <a:rPr lang="pt-BR" b="1" spc="-1" dirty="0">
                <a:solidFill>
                  <a:srgbClr val="0505FF"/>
                </a:solidFill>
                <a:latin typeface="Courier New" panose="02070309020205020404"/>
              </a:rPr>
              <a:t>   </a:t>
            </a:r>
            <a:r>
              <a:rPr lang="pt-BR" b="1" spc="-1" dirty="0" err="1">
                <a:solidFill>
                  <a:srgbClr val="0505FF"/>
                </a:solidFill>
                <a:latin typeface="Courier New" panose="02070309020205020404"/>
              </a:rPr>
              <a:t>public</a:t>
            </a:r>
            <a:r>
              <a:rPr lang="pt-BR" b="1" spc="-1" dirty="0">
                <a:solidFill>
                  <a:srgbClr val="0505FF"/>
                </a:solidFill>
                <a:latin typeface="Courier New" panose="02070309020205020404"/>
              </a:rPr>
              <a:t> </a:t>
            </a:r>
            <a:r>
              <a:rPr lang="pt-BR" b="1" i="1" spc="-1" dirty="0">
                <a:solidFill>
                  <a:srgbClr val="7030A0"/>
                </a:solidFill>
                <a:latin typeface="Courier New" panose="02070309020205020404"/>
              </a:rPr>
              <a:t>Pessoa</a:t>
            </a:r>
            <a:r>
              <a:rPr lang="pt-BR" b="1" spc="-1" dirty="0">
                <a:solidFill>
                  <a:srgbClr val="7030A0"/>
                </a:solidFill>
                <a:latin typeface="Courier New" panose="02070309020205020404"/>
              </a:rPr>
              <a:t>()</a:t>
            </a:r>
            <a:r>
              <a:rPr lang="pt-BR" b="1" spc="-1" dirty="0">
                <a:solidFill>
                  <a:srgbClr val="000000"/>
                </a:solidFill>
                <a:latin typeface="Courier New" panose="02070309020205020404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pt-BR" b="1" i="1" spc="-1" dirty="0">
                <a:solidFill>
                  <a:srgbClr val="006600"/>
                </a:solidFill>
                <a:latin typeface="Courier New" panose="02070309020205020404"/>
              </a:rPr>
              <a:t>	nome </a:t>
            </a:r>
            <a:r>
              <a:rPr lang="pt-BR" b="1" i="1" spc="-1" dirty="0">
                <a:solidFill>
                  <a:srgbClr val="000000"/>
                </a:solidFill>
                <a:latin typeface="Courier New" panose="02070309020205020404"/>
              </a:rPr>
              <a:t>= </a:t>
            </a:r>
            <a:r>
              <a:rPr lang="pt-BR" b="1" i="1" spc="-1" dirty="0">
                <a:solidFill>
                  <a:srgbClr val="EB641B"/>
                </a:solidFill>
                <a:latin typeface="Courier New" panose="02070309020205020404"/>
              </a:rPr>
              <a:t>“Fulano”</a:t>
            </a:r>
            <a:r>
              <a:rPr lang="pt-BR" b="1" i="1" spc="-1" dirty="0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lang="pt-BR" spc="-1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r>
              <a:rPr lang="pt-BR" b="1" i="1" spc="-1" dirty="0">
                <a:solidFill>
                  <a:srgbClr val="000000"/>
                </a:solidFill>
                <a:latin typeface="Courier New" panose="02070309020205020404"/>
              </a:rPr>
              <a:t>	</a:t>
            </a:r>
            <a:r>
              <a:rPr lang="pt-BR" b="1" i="1" spc="-1" dirty="0">
                <a:solidFill>
                  <a:srgbClr val="006600"/>
                </a:solidFill>
                <a:latin typeface="Courier New" panose="02070309020205020404"/>
              </a:rPr>
              <a:t>idade </a:t>
            </a:r>
            <a:r>
              <a:rPr lang="pt-BR" b="1" i="1" spc="-1" dirty="0">
                <a:solidFill>
                  <a:srgbClr val="000000"/>
                </a:solidFill>
                <a:latin typeface="Courier New" panose="02070309020205020404"/>
              </a:rPr>
              <a:t>= 0;</a:t>
            </a:r>
            <a:endParaRPr lang="pt-BR" spc="-1" dirty="0">
              <a:solidFill>
                <a:srgbClr val="000000"/>
              </a:solidFill>
            </a:endParaRPr>
          </a:p>
          <a:p>
            <a:pPr marL="273050" indent="-272415">
              <a:lnSpc>
                <a:spcPct val="150000"/>
              </a:lnSpc>
            </a:pPr>
            <a:r>
              <a:rPr lang="pt-BR" b="1" spc="-1" dirty="0">
                <a:solidFill>
                  <a:srgbClr val="000000"/>
                </a:solidFill>
                <a:latin typeface="Courier New" panose="02070309020205020404"/>
              </a:rPr>
              <a:t>	}</a:t>
            </a:r>
            <a:endParaRPr lang="pt-BR" spc="-1" dirty="0">
              <a:solidFill>
                <a:srgbClr val="000000"/>
              </a:solidFill>
            </a:endParaRPr>
          </a:p>
          <a:p>
            <a:pPr marL="273050" indent="-272415">
              <a:lnSpc>
                <a:spcPct val="150000"/>
              </a:lnSpc>
            </a:pPr>
            <a:r>
              <a:rPr lang="pt-BR" b="1" spc="-1" dirty="0">
                <a:solidFill>
                  <a:srgbClr val="000000"/>
                </a:solidFill>
                <a:latin typeface="Courier New" panose="02070309020205020404"/>
              </a:rPr>
              <a:t>}</a:t>
            </a:r>
            <a:endParaRPr lang="pt-BR" spc="-1" dirty="0">
              <a:solidFill>
                <a:srgbClr val="000000"/>
              </a:solidFill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63E0A66-D0D3-C07A-55D1-711BA6925390}"/>
              </a:ext>
            </a:extLst>
          </p:cNvPr>
          <p:cNvSpPr/>
          <p:nvPr/>
        </p:nvSpPr>
        <p:spPr>
          <a:xfrm>
            <a:off x="592112" y="2705724"/>
            <a:ext cx="3462728" cy="1285301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exto Explicativo: Linha 5">
            <a:extLst>
              <a:ext uri="{FF2B5EF4-FFF2-40B4-BE49-F238E27FC236}">
                <a16:creationId xmlns:a16="http://schemas.microsoft.com/office/drawing/2014/main" id="{1F4B5C5E-5D64-C11E-76A9-84EB655FD095}"/>
              </a:ext>
            </a:extLst>
          </p:cNvPr>
          <p:cNvSpPr/>
          <p:nvPr/>
        </p:nvSpPr>
        <p:spPr>
          <a:xfrm>
            <a:off x="6363324" y="1798820"/>
            <a:ext cx="2308486" cy="906904"/>
          </a:xfrm>
          <a:prstGeom prst="borderCallout1">
            <a:avLst>
              <a:gd name="adj1" fmla="val 44676"/>
              <a:gd name="adj2" fmla="val -333"/>
              <a:gd name="adj3" fmla="val 159522"/>
              <a:gd name="adj4" fmla="val -129875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pc="-1" dirty="0">
                <a:solidFill>
                  <a:srgbClr val="000000"/>
                </a:solidFill>
              </a:rPr>
              <a:t>Atributos com  valores </a:t>
            </a:r>
            <a:endParaRPr lang="pt-BR" spc="-1" dirty="0"/>
          </a:p>
          <a:p>
            <a:pPr algn="ctr"/>
            <a:r>
              <a:rPr lang="pt-BR" i="1" spc="-1" dirty="0">
                <a:solidFill>
                  <a:srgbClr val="000000"/>
                </a:solidFill>
              </a:rPr>
              <a:t>default </a:t>
            </a:r>
            <a:r>
              <a:rPr lang="pt-BR" spc="-1" dirty="0">
                <a:solidFill>
                  <a:srgbClr val="000000"/>
                </a:solidFill>
              </a:rPr>
              <a:t>na criação do</a:t>
            </a:r>
            <a:endParaRPr lang="pt-BR" spc="-1" dirty="0"/>
          </a:p>
          <a:p>
            <a:pPr algn="ctr"/>
            <a:r>
              <a:rPr lang="pt-BR" spc="-1" dirty="0">
                <a:solidFill>
                  <a:srgbClr val="000000"/>
                </a:solidFill>
              </a:rPr>
              <a:t>Objeto...</a:t>
            </a:r>
            <a:endParaRPr lang="pt-BR" spc="-1" dirty="0"/>
          </a:p>
        </p:txBody>
      </p:sp>
    </p:spTree>
    <p:extLst>
      <p:ext uri="{BB962C8B-B14F-4D97-AF65-F5344CB8AC3E}">
        <p14:creationId xmlns:p14="http://schemas.microsoft.com/office/powerpoint/2010/main" val="35281786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1DA42EF3-D3FF-10A7-A122-147AAB9A5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500EB545-B777-CF46-8274-48852142EC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 dirty="0"/>
              <a:t>Definindo valores padrões (default) para os Atributos da Classe – 2ª forma</a:t>
            </a:r>
            <a:br>
              <a:rPr lang="pt-BR" dirty="0"/>
            </a:b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926BA371-7EFF-5BA5-9B84-9C7E0B2625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DC61A54-698F-7369-4793-4599A3CDF339}"/>
              </a:ext>
            </a:extLst>
          </p:cNvPr>
          <p:cNvSpPr/>
          <p:nvPr/>
        </p:nvSpPr>
        <p:spPr>
          <a:xfrm>
            <a:off x="404735" y="1693889"/>
            <a:ext cx="5036696" cy="2600793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pt-BR" b="1" spc="-1" dirty="0" err="1">
                <a:solidFill>
                  <a:srgbClr val="000000"/>
                </a:solidFill>
                <a:latin typeface="Courier New" panose="02070309020205020404"/>
              </a:rPr>
              <a:t>public</a:t>
            </a:r>
            <a:r>
              <a:rPr lang="pt-BR" b="1" spc="-1" dirty="0">
                <a:solidFill>
                  <a:srgbClr val="000000"/>
                </a:solidFill>
                <a:latin typeface="Courier New" panose="02070309020205020404"/>
              </a:rPr>
              <a:t> </a:t>
            </a:r>
            <a:r>
              <a:rPr lang="pt-BR" b="1" spc="-1" dirty="0" err="1">
                <a:solidFill>
                  <a:srgbClr val="0505FF"/>
                </a:solidFill>
                <a:latin typeface="Courier New" panose="02070309020205020404"/>
              </a:rPr>
              <a:t>class</a:t>
            </a:r>
            <a:r>
              <a:rPr lang="pt-BR" b="1" spc="-1" dirty="0">
                <a:solidFill>
                  <a:srgbClr val="0505FF"/>
                </a:solidFill>
                <a:latin typeface="Courier New" panose="02070309020205020404"/>
              </a:rPr>
              <a:t> </a:t>
            </a:r>
            <a:r>
              <a:rPr lang="pt-BR" b="1" spc="-1" dirty="0">
                <a:solidFill>
                  <a:srgbClr val="000000"/>
                </a:solidFill>
                <a:latin typeface="Courier New" panose="02070309020205020404"/>
              </a:rPr>
              <a:t>Pessoa{</a:t>
            </a:r>
            <a:endParaRPr lang="pt-BR" spc="-1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r>
              <a:rPr lang="pt-BR" b="1" spc="-1" dirty="0">
                <a:solidFill>
                  <a:srgbClr val="000000"/>
                </a:solidFill>
                <a:latin typeface="Courier New" panose="02070309020205020404"/>
              </a:rPr>
              <a:t>   </a:t>
            </a:r>
            <a:r>
              <a:rPr lang="pt-BR" b="1" spc="-1" dirty="0" err="1">
                <a:solidFill>
                  <a:srgbClr val="000000"/>
                </a:solidFill>
                <a:latin typeface="Courier New" panose="02070309020205020404"/>
              </a:rPr>
              <a:t>String</a:t>
            </a:r>
            <a:r>
              <a:rPr lang="pt-BR" b="1" spc="-1" dirty="0">
                <a:solidFill>
                  <a:srgbClr val="0505FF"/>
                </a:solidFill>
                <a:latin typeface="Courier New" panose="02070309020205020404"/>
              </a:rPr>
              <a:t> </a:t>
            </a:r>
            <a:r>
              <a:rPr lang="pt-BR" b="1" i="1" spc="-1" dirty="0">
                <a:solidFill>
                  <a:srgbClr val="006600"/>
                </a:solidFill>
                <a:latin typeface="Courier New" panose="02070309020205020404"/>
              </a:rPr>
              <a:t>nome = </a:t>
            </a:r>
            <a:r>
              <a:rPr lang="pt-BR" b="1" i="1" spc="-1" dirty="0">
                <a:solidFill>
                  <a:srgbClr val="EB641B"/>
                </a:solidFill>
                <a:latin typeface="Courier New" panose="02070309020205020404"/>
              </a:rPr>
              <a:t>“Fulano”</a:t>
            </a:r>
            <a:r>
              <a:rPr lang="pt-BR" b="1" i="1" spc="-1" dirty="0">
                <a:solidFill>
                  <a:srgbClr val="000000"/>
                </a:solidFill>
                <a:latin typeface="Courier New" panose="02070309020205020404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pt-BR" b="1" spc="-1" dirty="0">
                <a:solidFill>
                  <a:srgbClr val="000000"/>
                </a:solidFill>
                <a:latin typeface="Courier New" panose="02070309020205020404"/>
              </a:rPr>
              <a:t>   </a:t>
            </a:r>
            <a:r>
              <a:rPr lang="pt-BR" b="1" spc="-1" dirty="0" err="1">
                <a:solidFill>
                  <a:srgbClr val="000000"/>
                </a:solidFill>
                <a:latin typeface="Courier New" panose="02070309020205020404"/>
              </a:rPr>
              <a:t>int</a:t>
            </a:r>
            <a:r>
              <a:rPr lang="pt-BR" b="1" spc="-1" dirty="0">
                <a:solidFill>
                  <a:srgbClr val="000000"/>
                </a:solidFill>
                <a:latin typeface="Courier New" panose="02070309020205020404"/>
              </a:rPr>
              <a:t> </a:t>
            </a:r>
            <a:r>
              <a:rPr lang="pt-BR" b="1" i="1" spc="-1" dirty="0">
                <a:solidFill>
                  <a:srgbClr val="006600"/>
                </a:solidFill>
                <a:latin typeface="Courier New" panose="02070309020205020404"/>
              </a:rPr>
              <a:t>idade </a:t>
            </a:r>
            <a:r>
              <a:rPr lang="pt-BR" b="1" i="1" spc="-1" dirty="0">
                <a:solidFill>
                  <a:srgbClr val="000000"/>
                </a:solidFill>
                <a:latin typeface="Courier New" panose="02070309020205020404"/>
              </a:rPr>
              <a:t>= 0</a:t>
            </a:r>
            <a:r>
              <a:rPr lang="pt-BR" b="1" spc="-1" dirty="0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lang="pt-BR" spc="-1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r>
              <a:rPr lang="pt-BR" b="1" spc="-1" dirty="0">
                <a:solidFill>
                  <a:srgbClr val="0505FF"/>
                </a:solidFill>
                <a:latin typeface="Courier New" panose="02070309020205020404"/>
              </a:rPr>
              <a:t>   </a:t>
            </a:r>
            <a:r>
              <a:rPr lang="pt-BR" b="1" spc="-1" dirty="0" err="1">
                <a:solidFill>
                  <a:srgbClr val="0505FF"/>
                </a:solidFill>
                <a:latin typeface="Courier New" panose="02070309020205020404"/>
              </a:rPr>
              <a:t>public</a:t>
            </a:r>
            <a:r>
              <a:rPr lang="pt-BR" b="1" spc="-1" dirty="0">
                <a:solidFill>
                  <a:srgbClr val="0505FF"/>
                </a:solidFill>
                <a:latin typeface="Courier New" panose="02070309020205020404"/>
              </a:rPr>
              <a:t> </a:t>
            </a:r>
            <a:r>
              <a:rPr lang="pt-BR" b="1" i="1" spc="-1" dirty="0">
                <a:solidFill>
                  <a:srgbClr val="7030A0"/>
                </a:solidFill>
                <a:latin typeface="Courier New" panose="02070309020205020404"/>
              </a:rPr>
              <a:t>Pessoa</a:t>
            </a:r>
            <a:r>
              <a:rPr lang="pt-BR" b="1" spc="-1" dirty="0">
                <a:solidFill>
                  <a:srgbClr val="7030A0"/>
                </a:solidFill>
                <a:latin typeface="Courier New" panose="02070309020205020404"/>
              </a:rPr>
              <a:t>()</a:t>
            </a:r>
            <a:r>
              <a:rPr lang="pt-BR" b="1" spc="-1" dirty="0">
                <a:solidFill>
                  <a:srgbClr val="000000"/>
                </a:solidFill>
                <a:latin typeface="Courier New" panose="02070309020205020404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pt-BR" b="1" i="1" spc="-1" dirty="0">
                <a:solidFill>
                  <a:srgbClr val="006600"/>
                </a:solidFill>
                <a:latin typeface="Courier New" panose="02070309020205020404"/>
              </a:rPr>
              <a:t>	</a:t>
            </a:r>
          </a:p>
          <a:p>
            <a:pPr>
              <a:lnSpc>
                <a:spcPct val="150000"/>
              </a:lnSpc>
            </a:pPr>
            <a:r>
              <a:rPr lang="pt-BR" b="1" i="1" spc="-1" dirty="0">
                <a:solidFill>
                  <a:srgbClr val="006600"/>
                </a:solidFill>
                <a:latin typeface="Courier New" panose="02070309020205020404"/>
              </a:rPr>
              <a:t>   </a:t>
            </a:r>
            <a:r>
              <a:rPr lang="pt-BR" b="1" spc="-1" dirty="0">
                <a:solidFill>
                  <a:srgbClr val="000000"/>
                </a:solidFill>
                <a:latin typeface="Courier New" panose="02070309020205020404"/>
              </a:rPr>
              <a:t>}</a:t>
            </a:r>
            <a:endParaRPr lang="pt-BR" spc="-1" dirty="0">
              <a:solidFill>
                <a:srgbClr val="000000"/>
              </a:solidFill>
            </a:endParaRPr>
          </a:p>
          <a:p>
            <a:pPr marL="273050" indent="-272415">
              <a:lnSpc>
                <a:spcPct val="150000"/>
              </a:lnSpc>
            </a:pPr>
            <a:r>
              <a:rPr lang="pt-BR" b="1" spc="-1" dirty="0">
                <a:solidFill>
                  <a:srgbClr val="000000"/>
                </a:solidFill>
                <a:latin typeface="Courier New" panose="02070309020205020404"/>
              </a:rPr>
              <a:t>}</a:t>
            </a:r>
            <a:endParaRPr lang="pt-BR" spc="-1" dirty="0">
              <a:solidFill>
                <a:srgbClr val="000000"/>
              </a:solidFill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A44B132-0290-1232-D888-3B01C7370E32}"/>
              </a:ext>
            </a:extLst>
          </p:cNvPr>
          <p:cNvSpPr/>
          <p:nvPr/>
        </p:nvSpPr>
        <p:spPr>
          <a:xfrm>
            <a:off x="592112" y="2211049"/>
            <a:ext cx="3013022" cy="667062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exto Explicativo: Linha 5">
            <a:extLst>
              <a:ext uri="{FF2B5EF4-FFF2-40B4-BE49-F238E27FC236}">
                <a16:creationId xmlns:a16="http://schemas.microsoft.com/office/drawing/2014/main" id="{7C955A18-81BB-F85D-0604-0BDED8C36D2E}"/>
              </a:ext>
            </a:extLst>
          </p:cNvPr>
          <p:cNvSpPr/>
          <p:nvPr/>
        </p:nvSpPr>
        <p:spPr>
          <a:xfrm>
            <a:off x="6363324" y="1798820"/>
            <a:ext cx="2308486" cy="906904"/>
          </a:xfrm>
          <a:prstGeom prst="borderCallout1">
            <a:avLst>
              <a:gd name="adj1" fmla="val 44676"/>
              <a:gd name="adj2" fmla="val -333"/>
              <a:gd name="adj3" fmla="val 78530"/>
              <a:gd name="adj4" fmla="val -120459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pc="-1" dirty="0">
                <a:solidFill>
                  <a:srgbClr val="000000"/>
                </a:solidFill>
              </a:rPr>
              <a:t>Atributos com valores </a:t>
            </a:r>
            <a:endParaRPr lang="pt-BR" spc="-1" dirty="0"/>
          </a:p>
          <a:p>
            <a:pPr algn="ctr"/>
            <a:r>
              <a:rPr lang="pt-BR" i="1" spc="-1" dirty="0">
                <a:solidFill>
                  <a:srgbClr val="000000"/>
                </a:solidFill>
              </a:rPr>
              <a:t>default </a:t>
            </a:r>
            <a:r>
              <a:rPr lang="pt-BR" spc="-1" dirty="0">
                <a:solidFill>
                  <a:srgbClr val="000000"/>
                </a:solidFill>
              </a:rPr>
              <a:t>na criação do</a:t>
            </a:r>
            <a:endParaRPr lang="pt-BR" spc="-1" dirty="0"/>
          </a:p>
          <a:p>
            <a:pPr algn="ctr"/>
            <a:r>
              <a:rPr lang="pt-BR" spc="-1" dirty="0">
                <a:solidFill>
                  <a:srgbClr val="000000"/>
                </a:solidFill>
              </a:rPr>
              <a:t>Objeto...</a:t>
            </a:r>
            <a:endParaRPr lang="pt-BR" spc="-1" dirty="0"/>
          </a:p>
        </p:txBody>
      </p:sp>
    </p:spTree>
    <p:extLst>
      <p:ext uri="{BB962C8B-B14F-4D97-AF65-F5344CB8AC3E}">
        <p14:creationId xmlns:p14="http://schemas.microsoft.com/office/powerpoint/2010/main" val="11693548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F60E8ACC-88CB-213E-5FB9-486C5272F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B16D088F-F190-8A88-F2D8-FB30192CB8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Exemplo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568EE88F-AEB2-9C5D-EF3E-DCAC832344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000" dirty="0"/>
              <a:t>Implemente também os métodos construtores e inicie os atributos com valores defaults nas classes do Sistema de Estacionamento...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96AD747-66C7-A24D-E887-D588151D6213}"/>
              </a:ext>
            </a:extLst>
          </p:cNvPr>
          <p:cNvSpPr/>
          <p:nvPr/>
        </p:nvSpPr>
        <p:spPr>
          <a:xfrm>
            <a:off x="846944" y="2053653"/>
            <a:ext cx="3395272" cy="21697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Estacionamento</a:t>
            </a:r>
          </a:p>
          <a:p>
            <a:pPr algn="ctr"/>
            <a:endParaRPr lang="pt-BR" dirty="0"/>
          </a:p>
          <a:p>
            <a:r>
              <a:rPr lang="pt-BR" dirty="0">
                <a:solidFill>
                  <a:srgbClr val="000000"/>
                </a:solidFill>
              </a:rPr>
              <a:t>placa: </a:t>
            </a:r>
            <a:r>
              <a:rPr lang="pt-BR" dirty="0" err="1">
                <a:solidFill>
                  <a:srgbClr val="000000"/>
                </a:solidFill>
              </a:rPr>
              <a:t>String</a:t>
            </a:r>
            <a:r>
              <a:rPr lang="pt-BR" dirty="0">
                <a:solidFill>
                  <a:srgbClr val="000000"/>
                </a:solidFill>
              </a:rPr>
              <a:t> = “OLP1010”</a:t>
            </a:r>
            <a:br>
              <a:rPr lang="pt-BR" dirty="0">
                <a:solidFill>
                  <a:srgbClr val="000000"/>
                </a:solidFill>
              </a:rPr>
            </a:br>
            <a:r>
              <a:rPr lang="pt-BR" dirty="0">
                <a:solidFill>
                  <a:srgbClr val="000000"/>
                </a:solidFill>
              </a:rPr>
              <a:t>entrada: </a:t>
            </a:r>
            <a:r>
              <a:rPr lang="pt-BR" dirty="0" err="1">
                <a:solidFill>
                  <a:srgbClr val="000000"/>
                </a:solidFill>
              </a:rPr>
              <a:t>String</a:t>
            </a:r>
            <a:r>
              <a:rPr lang="pt-BR" dirty="0">
                <a:solidFill>
                  <a:srgbClr val="000000"/>
                </a:solidFill>
              </a:rPr>
              <a:t> = “10:00”</a:t>
            </a:r>
            <a:br>
              <a:rPr lang="pt-BR" dirty="0">
                <a:solidFill>
                  <a:srgbClr val="000000"/>
                </a:solidFill>
              </a:rPr>
            </a:br>
            <a:r>
              <a:rPr lang="pt-BR" dirty="0">
                <a:solidFill>
                  <a:srgbClr val="000000"/>
                </a:solidFill>
              </a:rPr>
              <a:t>saída: </a:t>
            </a:r>
            <a:r>
              <a:rPr lang="pt-BR" dirty="0" err="1">
                <a:solidFill>
                  <a:srgbClr val="000000"/>
                </a:solidFill>
              </a:rPr>
              <a:t>String</a:t>
            </a:r>
            <a:r>
              <a:rPr lang="pt-BR" dirty="0">
                <a:solidFill>
                  <a:srgbClr val="000000"/>
                </a:solidFill>
              </a:rPr>
              <a:t> = “10:30”</a:t>
            </a:r>
          </a:p>
          <a:p>
            <a:r>
              <a:rPr lang="pt-BR" dirty="0">
                <a:solidFill>
                  <a:srgbClr val="000000"/>
                </a:solidFill>
              </a:rPr>
              <a:t>valor: </a:t>
            </a:r>
            <a:r>
              <a:rPr lang="pt-BR" dirty="0" err="1">
                <a:solidFill>
                  <a:srgbClr val="000000"/>
                </a:solidFill>
              </a:rPr>
              <a:t>double</a:t>
            </a:r>
            <a:r>
              <a:rPr lang="pt-BR" dirty="0">
                <a:solidFill>
                  <a:srgbClr val="000000"/>
                </a:solidFill>
              </a:rPr>
              <a:t> = 5.00</a:t>
            </a:r>
          </a:p>
          <a:p>
            <a:endParaRPr lang="pt-BR" dirty="0">
              <a:solidFill>
                <a:srgbClr val="000000"/>
              </a:solidFill>
            </a:endParaRPr>
          </a:p>
          <a:p>
            <a:r>
              <a:rPr lang="pt-BR" dirty="0">
                <a:solidFill>
                  <a:srgbClr val="474747"/>
                </a:solidFill>
              </a:rPr>
              <a:t>Estacionamento()</a:t>
            </a:r>
          </a:p>
          <a:p>
            <a:r>
              <a:rPr lang="pt-BR" dirty="0" err="1">
                <a:solidFill>
                  <a:srgbClr val="474747"/>
                </a:solidFill>
              </a:rPr>
              <a:t>calculaValor</a:t>
            </a:r>
            <a:r>
              <a:rPr lang="pt-BR" dirty="0">
                <a:solidFill>
                  <a:srgbClr val="474747"/>
                </a:solidFill>
              </a:rPr>
              <a:t>()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7A7637C3-3645-23F5-6A3D-E8385D04F021}"/>
              </a:ext>
            </a:extLst>
          </p:cNvPr>
          <p:cNvCxnSpPr/>
          <p:nvPr/>
        </p:nvCxnSpPr>
        <p:spPr>
          <a:xfrm>
            <a:off x="854439" y="2443397"/>
            <a:ext cx="3380282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1C5EA8D0-E2AE-0DA7-031A-F9751A047A75}"/>
              </a:ext>
            </a:extLst>
          </p:cNvPr>
          <p:cNvCxnSpPr/>
          <p:nvPr/>
        </p:nvCxnSpPr>
        <p:spPr>
          <a:xfrm>
            <a:off x="861934" y="3515193"/>
            <a:ext cx="3380282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80207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7B7A6FD8-3EA3-CA32-19DE-46D15FB83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9B40198A-76EA-17AF-5E4D-8649608FE4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Exercício 00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94B14C78-66E2-11C7-47AC-08C8B2F2E1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Crie uma classe chamada </a:t>
            </a:r>
            <a:r>
              <a:rPr lang="pt-BR" b="1" dirty="0"/>
              <a:t>Time</a:t>
            </a:r>
            <a:r>
              <a:rPr lang="pt-BR" dirty="0"/>
              <a:t>, contendo o nome do time, a cor da camisa e o número da sua classificação no campeonato brasileiro.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Crie um construtor que atribua como padrão a cor da camisa como “branca” e a sua classificação como 99.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Teste em uma </a:t>
            </a:r>
            <a:r>
              <a:rPr lang="pt-BR" b="1" i="1" dirty="0" err="1"/>
              <a:t>class</a:t>
            </a:r>
            <a:r>
              <a:rPr lang="pt-BR" b="1" i="1" dirty="0"/>
              <a:t> </a:t>
            </a:r>
            <a:r>
              <a:rPr lang="pt-BR" b="1" i="1" dirty="0" err="1"/>
              <a:t>Main</a:t>
            </a:r>
            <a:r>
              <a:rPr lang="pt-BR" b="1" i="1" dirty="0"/>
              <a:t> </a:t>
            </a:r>
            <a:r>
              <a:rPr lang="pt-BR" dirty="0"/>
              <a:t>a instanciação de um novo Time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273281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D0DDDF4C-2DDF-1318-F3C8-A862EEE7A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800082C8-395A-4CA7-4C98-6EFFD56C23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Exercício 01</a:t>
            </a:r>
            <a:br>
              <a:rPr lang="pt-BR" dirty="0"/>
            </a:b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63EEA31F-9CD5-7F0E-DD3C-70D975927E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Implemente em Java a Classe ‘Conta’ abaixo...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2E57988-E862-3CC6-7907-422D754E76C0}"/>
              </a:ext>
            </a:extLst>
          </p:cNvPr>
          <p:cNvSpPr/>
          <p:nvPr/>
        </p:nvSpPr>
        <p:spPr>
          <a:xfrm>
            <a:off x="1783829" y="1776334"/>
            <a:ext cx="3395272" cy="3102023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Conta</a:t>
            </a:r>
          </a:p>
          <a:p>
            <a:pPr algn="ctr"/>
            <a:endParaRPr lang="pt-BR" dirty="0"/>
          </a:p>
          <a:p>
            <a:r>
              <a:rPr lang="pt-BR" spc="-1" dirty="0">
                <a:solidFill>
                  <a:srgbClr val="000000"/>
                </a:solidFill>
              </a:rPr>
              <a:t>dono: </a:t>
            </a:r>
            <a:r>
              <a:rPr lang="pt-BR" spc="-1" dirty="0" err="1">
                <a:solidFill>
                  <a:srgbClr val="000000"/>
                </a:solidFill>
              </a:rPr>
              <a:t>String</a:t>
            </a:r>
            <a:r>
              <a:rPr lang="pt-BR" spc="-1" dirty="0">
                <a:solidFill>
                  <a:srgbClr val="000000"/>
                </a:solidFill>
              </a:rPr>
              <a:t> = “Fulano”</a:t>
            </a:r>
            <a:endParaRPr lang="pt-BR" spc="-1" dirty="0"/>
          </a:p>
          <a:p>
            <a:r>
              <a:rPr lang="pt-BR" spc="-1" dirty="0">
                <a:solidFill>
                  <a:srgbClr val="000000"/>
                </a:solidFill>
              </a:rPr>
              <a:t>numero: </a:t>
            </a:r>
            <a:r>
              <a:rPr lang="pt-BR" spc="-1" dirty="0" err="1">
                <a:solidFill>
                  <a:srgbClr val="000000"/>
                </a:solidFill>
              </a:rPr>
              <a:t>int</a:t>
            </a:r>
            <a:r>
              <a:rPr lang="pt-BR" spc="-1" dirty="0">
                <a:solidFill>
                  <a:srgbClr val="000000"/>
                </a:solidFill>
              </a:rPr>
              <a:t> = 123</a:t>
            </a:r>
            <a:endParaRPr lang="pt-BR" spc="-1" dirty="0"/>
          </a:p>
          <a:p>
            <a:r>
              <a:rPr lang="pt-BR" spc="-1" dirty="0">
                <a:solidFill>
                  <a:srgbClr val="000000"/>
                </a:solidFill>
              </a:rPr>
              <a:t>saldo: </a:t>
            </a:r>
            <a:r>
              <a:rPr lang="pt-BR" spc="-1" dirty="0" err="1">
                <a:solidFill>
                  <a:srgbClr val="000000"/>
                </a:solidFill>
              </a:rPr>
              <a:t>double</a:t>
            </a:r>
            <a:r>
              <a:rPr lang="pt-BR" spc="-1" dirty="0">
                <a:solidFill>
                  <a:srgbClr val="000000"/>
                </a:solidFill>
              </a:rPr>
              <a:t> = 0</a:t>
            </a:r>
            <a:endParaRPr lang="pt-BR" spc="-1" dirty="0"/>
          </a:p>
          <a:p>
            <a:r>
              <a:rPr lang="pt-BR" spc="-1" dirty="0">
                <a:solidFill>
                  <a:srgbClr val="000000"/>
                </a:solidFill>
              </a:rPr>
              <a:t>limite: </a:t>
            </a:r>
            <a:r>
              <a:rPr lang="pt-BR" spc="-1" dirty="0" err="1">
                <a:solidFill>
                  <a:srgbClr val="000000"/>
                </a:solidFill>
              </a:rPr>
              <a:t>double</a:t>
            </a:r>
            <a:r>
              <a:rPr lang="pt-BR" spc="-1" dirty="0">
                <a:solidFill>
                  <a:srgbClr val="000000"/>
                </a:solidFill>
              </a:rPr>
              <a:t> = 100</a:t>
            </a:r>
            <a:endParaRPr lang="pt-BR" spc="-1" dirty="0"/>
          </a:p>
          <a:p>
            <a:endParaRPr lang="pt-BR" dirty="0">
              <a:solidFill>
                <a:srgbClr val="000000"/>
              </a:solidFill>
            </a:endParaRPr>
          </a:p>
          <a:p>
            <a:r>
              <a:rPr lang="pt-BR" spc="-1" dirty="0">
                <a:solidFill>
                  <a:srgbClr val="000000"/>
                </a:solidFill>
              </a:rPr>
              <a:t>saque(quantidade: </a:t>
            </a:r>
            <a:r>
              <a:rPr lang="pt-BR" spc="-1" dirty="0" err="1">
                <a:solidFill>
                  <a:srgbClr val="000000"/>
                </a:solidFill>
              </a:rPr>
              <a:t>double</a:t>
            </a:r>
            <a:r>
              <a:rPr lang="pt-BR" spc="-1" dirty="0">
                <a:solidFill>
                  <a:srgbClr val="000000"/>
                </a:solidFill>
              </a:rPr>
              <a:t>): </a:t>
            </a:r>
            <a:r>
              <a:rPr lang="pt-BR" spc="-1" dirty="0" err="1">
                <a:solidFill>
                  <a:srgbClr val="000000"/>
                </a:solidFill>
              </a:rPr>
              <a:t>void</a:t>
            </a:r>
            <a:endParaRPr lang="pt-BR" spc="-1" dirty="0"/>
          </a:p>
          <a:p>
            <a:r>
              <a:rPr lang="pt-BR" spc="-1" dirty="0">
                <a:solidFill>
                  <a:srgbClr val="000000"/>
                </a:solidFill>
              </a:rPr>
              <a:t>deposito(quantidade: </a:t>
            </a:r>
            <a:r>
              <a:rPr lang="pt-BR" spc="-1" dirty="0" err="1">
                <a:solidFill>
                  <a:srgbClr val="000000"/>
                </a:solidFill>
              </a:rPr>
              <a:t>double</a:t>
            </a:r>
            <a:r>
              <a:rPr lang="pt-BR" spc="-1" dirty="0">
                <a:solidFill>
                  <a:srgbClr val="000000"/>
                </a:solidFill>
              </a:rPr>
              <a:t>): </a:t>
            </a:r>
            <a:r>
              <a:rPr lang="pt-BR" spc="-1" dirty="0" err="1">
                <a:solidFill>
                  <a:srgbClr val="000000"/>
                </a:solidFill>
              </a:rPr>
              <a:t>void</a:t>
            </a:r>
            <a:endParaRPr lang="pt-BR" spc="-1" dirty="0"/>
          </a:p>
          <a:p>
            <a:r>
              <a:rPr lang="pt-BR" spc="-1" dirty="0" err="1">
                <a:solidFill>
                  <a:srgbClr val="000000"/>
                </a:solidFill>
              </a:rPr>
              <a:t>verificaSaldo</a:t>
            </a:r>
            <a:r>
              <a:rPr lang="pt-BR" spc="-1" dirty="0">
                <a:solidFill>
                  <a:srgbClr val="000000"/>
                </a:solidFill>
              </a:rPr>
              <a:t>(): </a:t>
            </a:r>
            <a:r>
              <a:rPr lang="pt-BR" spc="-1" dirty="0" err="1">
                <a:solidFill>
                  <a:srgbClr val="000000"/>
                </a:solidFill>
              </a:rPr>
              <a:t>double</a:t>
            </a:r>
            <a:endParaRPr lang="pt-BR" spc="-1" dirty="0"/>
          </a:p>
          <a:p>
            <a:r>
              <a:rPr lang="pt-BR" spc="-1" dirty="0" err="1">
                <a:solidFill>
                  <a:srgbClr val="000000"/>
                </a:solidFill>
              </a:rPr>
              <a:t>verificaLimite</a:t>
            </a:r>
            <a:r>
              <a:rPr lang="pt-BR" spc="-1" dirty="0">
                <a:solidFill>
                  <a:srgbClr val="000000"/>
                </a:solidFill>
              </a:rPr>
              <a:t>(): </a:t>
            </a:r>
            <a:r>
              <a:rPr lang="pt-BR" spc="-1" dirty="0" err="1">
                <a:solidFill>
                  <a:srgbClr val="000000"/>
                </a:solidFill>
              </a:rPr>
              <a:t>double</a:t>
            </a:r>
            <a:endParaRPr lang="pt-BR" spc="-1" dirty="0"/>
          </a:p>
          <a:p>
            <a:r>
              <a:rPr lang="pt-BR" spc="-1" dirty="0" err="1">
                <a:solidFill>
                  <a:srgbClr val="000000"/>
                </a:solidFill>
              </a:rPr>
              <a:t>alteraLimite</a:t>
            </a:r>
            <a:r>
              <a:rPr lang="pt-BR" spc="-1" dirty="0">
                <a:solidFill>
                  <a:srgbClr val="000000"/>
                </a:solidFill>
              </a:rPr>
              <a:t>(</a:t>
            </a:r>
            <a:r>
              <a:rPr lang="pt-BR" spc="-1" dirty="0" err="1">
                <a:solidFill>
                  <a:srgbClr val="000000"/>
                </a:solidFill>
              </a:rPr>
              <a:t>novoLimite</a:t>
            </a:r>
            <a:r>
              <a:rPr lang="pt-BR" spc="-1" dirty="0">
                <a:solidFill>
                  <a:srgbClr val="000000"/>
                </a:solidFill>
              </a:rPr>
              <a:t>: </a:t>
            </a:r>
            <a:r>
              <a:rPr lang="pt-BR" spc="-1" dirty="0" err="1">
                <a:solidFill>
                  <a:srgbClr val="000000"/>
                </a:solidFill>
              </a:rPr>
              <a:t>double</a:t>
            </a:r>
            <a:r>
              <a:rPr lang="pt-BR" spc="-1" dirty="0">
                <a:solidFill>
                  <a:srgbClr val="000000"/>
                </a:solidFill>
              </a:rPr>
              <a:t>): </a:t>
            </a:r>
            <a:r>
              <a:rPr lang="pt-BR" spc="-1" dirty="0" err="1">
                <a:solidFill>
                  <a:srgbClr val="000000"/>
                </a:solidFill>
              </a:rPr>
              <a:t>void</a:t>
            </a:r>
            <a:endParaRPr lang="pt-BR" spc="-1" dirty="0"/>
          </a:p>
          <a:p>
            <a:r>
              <a:rPr lang="pt-BR" spc="-1" dirty="0" err="1">
                <a:solidFill>
                  <a:srgbClr val="000000"/>
                </a:solidFill>
              </a:rPr>
              <a:t>aumentaLimite</a:t>
            </a:r>
            <a:r>
              <a:rPr lang="pt-BR" spc="-1" dirty="0">
                <a:solidFill>
                  <a:srgbClr val="000000"/>
                </a:solidFill>
              </a:rPr>
              <a:t>(quantidade: </a:t>
            </a:r>
            <a:r>
              <a:rPr lang="pt-BR" spc="-1" dirty="0" err="1">
                <a:solidFill>
                  <a:srgbClr val="000000"/>
                </a:solidFill>
              </a:rPr>
              <a:t>double</a:t>
            </a:r>
            <a:r>
              <a:rPr lang="pt-BR" spc="-1" dirty="0">
                <a:solidFill>
                  <a:srgbClr val="000000"/>
                </a:solidFill>
              </a:rPr>
              <a:t>): </a:t>
            </a:r>
            <a:r>
              <a:rPr lang="pt-BR" spc="-1" dirty="0" err="1">
                <a:solidFill>
                  <a:srgbClr val="000000"/>
                </a:solidFill>
              </a:rPr>
              <a:t>void</a:t>
            </a:r>
            <a:endParaRPr lang="pt-BR" spc="-1" dirty="0"/>
          </a:p>
          <a:p>
            <a:r>
              <a:rPr lang="pt-BR" spc="-1" dirty="0" err="1">
                <a:solidFill>
                  <a:srgbClr val="000000"/>
                </a:solidFill>
              </a:rPr>
              <a:t>dimuniLimite</a:t>
            </a:r>
            <a:r>
              <a:rPr lang="pt-BR" spc="-1" dirty="0">
                <a:solidFill>
                  <a:srgbClr val="000000"/>
                </a:solidFill>
              </a:rPr>
              <a:t>(quantidade: </a:t>
            </a:r>
            <a:r>
              <a:rPr lang="pt-BR" spc="-1" dirty="0" err="1">
                <a:solidFill>
                  <a:srgbClr val="000000"/>
                </a:solidFill>
              </a:rPr>
              <a:t>double</a:t>
            </a:r>
            <a:r>
              <a:rPr lang="pt-BR" spc="-1" dirty="0">
                <a:solidFill>
                  <a:srgbClr val="000000"/>
                </a:solidFill>
              </a:rPr>
              <a:t>): </a:t>
            </a:r>
            <a:r>
              <a:rPr lang="pt-BR" spc="-1" dirty="0" err="1">
                <a:solidFill>
                  <a:srgbClr val="000000"/>
                </a:solidFill>
              </a:rPr>
              <a:t>void</a:t>
            </a:r>
            <a:endParaRPr lang="pt-BR" spc="-1" dirty="0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3E951294-BE83-ABE9-C438-01A708958C93}"/>
              </a:ext>
            </a:extLst>
          </p:cNvPr>
          <p:cNvCxnSpPr/>
          <p:nvPr/>
        </p:nvCxnSpPr>
        <p:spPr>
          <a:xfrm>
            <a:off x="1776334" y="2083633"/>
            <a:ext cx="3410263" cy="0"/>
          </a:xfrm>
          <a:prstGeom prst="line">
            <a:avLst/>
          </a:prstGeom>
          <a:ln w="1905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79744AF9-F0A8-7F28-127B-101FFD56F2BC}"/>
              </a:ext>
            </a:extLst>
          </p:cNvPr>
          <p:cNvCxnSpPr/>
          <p:nvPr/>
        </p:nvCxnSpPr>
        <p:spPr>
          <a:xfrm>
            <a:off x="1776333" y="3252865"/>
            <a:ext cx="3410263" cy="0"/>
          </a:xfrm>
          <a:prstGeom prst="line">
            <a:avLst/>
          </a:prstGeom>
          <a:ln w="1905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6" name="Texto Explicativo: Linha 5">
            <a:extLst>
              <a:ext uri="{FF2B5EF4-FFF2-40B4-BE49-F238E27FC236}">
                <a16:creationId xmlns:a16="http://schemas.microsoft.com/office/drawing/2014/main" id="{D7CA50B5-75F8-0360-CC08-FBA7940ED25C}"/>
              </a:ext>
            </a:extLst>
          </p:cNvPr>
          <p:cNvSpPr/>
          <p:nvPr/>
        </p:nvSpPr>
        <p:spPr>
          <a:xfrm>
            <a:off x="5966085" y="2368441"/>
            <a:ext cx="1858780" cy="270294"/>
          </a:xfrm>
          <a:prstGeom prst="borderCallout1">
            <a:avLst>
              <a:gd name="adj1" fmla="val 40934"/>
              <a:gd name="adj2" fmla="val -269"/>
              <a:gd name="adj3" fmla="val 392566"/>
              <a:gd name="adj4" fmla="val -81075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300" dirty="0"/>
              <a:t>Diminui Saldo</a:t>
            </a:r>
          </a:p>
        </p:txBody>
      </p:sp>
      <p:sp>
        <p:nvSpPr>
          <p:cNvPr id="7" name="Texto Explicativo: Linha 6">
            <a:extLst>
              <a:ext uri="{FF2B5EF4-FFF2-40B4-BE49-F238E27FC236}">
                <a16:creationId xmlns:a16="http://schemas.microsoft.com/office/drawing/2014/main" id="{16469636-2364-02ED-9FEA-97D3AF90346F}"/>
              </a:ext>
            </a:extLst>
          </p:cNvPr>
          <p:cNvSpPr/>
          <p:nvPr/>
        </p:nvSpPr>
        <p:spPr>
          <a:xfrm>
            <a:off x="5966085" y="2658329"/>
            <a:ext cx="1858780" cy="270294"/>
          </a:xfrm>
          <a:prstGeom prst="borderCallout1">
            <a:avLst>
              <a:gd name="adj1" fmla="val 40934"/>
              <a:gd name="adj2" fmla="val -269"/>
              <a:gd name="adj3" fmla="val 356518"/>
              <a:gd name="adj4" fmla="val -69381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300" dirty="0"/>
              <a:t>Aumenta Saldo</a:t>
            </a:r>
          </a:p>
        </p:txBody>
      </p:sp>
      <p:sp>
        <p:nvSpPr>
          <p:cNvPr id="8" name="Texto Explicativo: Linha 7">
            <a:extLst>
              <a:ext uri="{FF2B5EF4-FFF2-40B4-BE49-F238E27FC236}">
                <a16:creationId xmlns:a16="http://schemas.microsoft.com/office/drawing/2014/main" id="{CB7ABC25-D2FF-BB0E-CE97-3BD25350EC59}"/>
              </a:ext>
            </a:extLst>
          </p:cNvPr>
          <p:cNvSpPr/>
          <p:nvPr/>
        </p:nvSpPr>
        <p:spPr>
          <a:xfrm>
            <a:off x="5966085" y="2961253"/>
            <a:ext cx="1858780" cy="270294"/>
          </a:xfrm>
          <a:prstGeom prst="borderCallout1">
            <a:avLst>
              <a:gd name="adj1" fmla="val 40934"/>
              <a:gd name="adj2" fmla="val -269"/>
              <a:gd name="adj3" fmla="val 356517"/>
              <a:gd name="adj4" fmla="val -80268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300" dirty="0"/>
              <a:t>Retorna Saldo</a:t>
            </a:r>
          </a:p>
        </p:txBody>
      </p:sp>
      <p:sp>
        <p:nvSpPr>
          <p:cNvPr id="9" name="Texto Explicativo: Linha 8">
            <a:extLst>
              <a:ext uri="{FF2B5EF4-FFF2-40B4-BE49-F238E27FC236}">
                <a16:creationId xmlns:a16="http://schemas.microsoft.com/office/drawing/2014/main" id="{96D5532E-F17C-0FAA-BCFC-24494360D245}"/>
              </a:ext>
            </a:extLst>
          </p:cNvPr>
          <p:cNvSpPr/>
          <p:nvPr/>
        </p:nvSpPr>
        <p:spPr>
          <a:xfrm>
            <a:off x="5966085" y="3264177"/>
            <a:ext cx="1858780" cy="270294"/>
          </a:xfrm>
          <a:prstGeom prst="borderCallout1">
            <a:avLst>
              <a:gd name="adj1" fmla="val 40934"/>
              <a:gd name="adj2" fmla="val -269"/>
              <a:gd name="adj3" fmla="val 312151"/>
              <a:gd name="adj4" fmla="val -73817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300" dirty="0"/>
              <a:t>Retorna Limite</a:t>
            </a:r>
          </a:p>
        </p:txBody>
      </p:sp>
      <p:sp>
        <p:nvSpPr>
          <p:cNvPr id="10" name="Texto Explicativo: Linha 9">
            <a:extLst>
              <a:ext uri="{FF2B5EF4-FFF2-40B4-BE49-F238E27FC236}">
                <a16:creationId xmlns:a16="http://schemas.microsoft.com/office/drawing/2014/main" id="{E8AADA22-9CB9-0435-9162-F8AD01C59617}"/>
              </a:ext>
            </a:extLst>
          </p:cNvPr>
          <p:cNvSpPr/>
          <p:nvPr/>
        </p:nvSpPr>
        <p:spPr>
          <a:xfrm>
            <a:off x="5966085" y="3575891"/>
            <a:ext cx="1858780" cy="270294"/>
          </a:xfrm>
          <a:prstGeom prst="borderCallout1">
            <a:avLst>
              <a:gd name="adj1" fmla="val 40934"/>
              <a:gd name="adj2" fmla="val -269"/>
              <a:gd name="adj3" fmla="val 267784"/>
              <a:gd name="adj4" fmla="val -62123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300" dirty="0"/>
              <a:t>Altera Limite</a:t>
            </a:r>
          </a:p>
        </p:txBody>
      </p:sp>
      <p:sp>
        <p:nvSpPr>
          <p:cNvPr id="11" name="Texto Explicativo: Linha 10">
            <a:extLst>
              <a:ext uri="{FF2B5EF4-FFF2-40B4-BE49-F238E27FC236}">
                <a16:creationId xmlns:a16="http://schemas.microsoft.com/office/drawing/2014/main" id="{4851AF71-5A16-C21B-AF08-C9D74B7241C5}"/>
              </a:ext>
            </a:extLst>
          </p:cNvPr>
          <p:cNvSpPr/>
          <p:nvPr/>
        </p:nvSpPr>
        <p:spPr>
          <a:xfrm>
            <a:off x="5966085" y="3887605"/>
            <a:ext cx="1858780" cy="270294"/>
          </a:xfrm>
          <a:prstGeom prst="borderCallout1">
            <a:avLst>
              <a:gd name="adj1" fmla="val 40934"/>
              <a:gd name="adj2" fmla="val -269"/>
              <a:gd name="adj3" fmla="val 212325"/>
              <a:gd name="adj4" fmla="val -45591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300" dirty="0"/>
              <a:t>Soma valor ao limite</a:t>
            </a:r>
          </a:p>
        </p:txBody>
      </p:sp>
      <p:sp>
        <p:nvSpPr>
          <p:cNvPr id="12" name="Texto Explicativo: Linha 11">
            <a:extLst>
              <a:ext uri="{FF2B5EF4-FFF2-40B4-BE49-F238E27FC236}">
                <a16:creationId xmlns:a16="http://schemas.microsoft.com/office/drawing/2014/main" id="{89757BD8-D292-6A43-E8FB-EC2AD0C45B4D}"/>
              </a:ext>
            </a:extLst>
          </p:cNvPr>
          <p:cNvSpPr/>
          <p:nvPr/>
        </p:nvSpPr>
        <p:spPr>
          <a:xfrm>
            <a:off x="5966085" y="4199319"/>
            <a:ext cx="1858780" cy="270294"/>
          </a:xfrm>
          <a:prstGeom prst="borderCallout1">
            <a:avLst>
              <a:gd name="adj1" fmla="val 40934"/>
              <a:gd name="adj2" fmla="val -269"/>
              <a:gd name="adj3" fmla="val 195687"/>
              <a:gd name="adj4" fmla="val -52042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300" dirty="0"/>
              <a:t>Subtrai valor ao limite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2508837-EB85-562A-CC03-FCFC7FD72525}"/>
              </a:ext>
            </a:extLst>
          </p:cNvPr>
          <p:cNvSpPr txBox="1"/>
          <p:nvPr/>
        </p:nvSpPr>
        <p:spPr>
          <a:xfrm>
            <a:off x="2802432" y="4858805"/>
            <a:ext cx="13580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diagrama UML</a:t>
            </a:r>
          </a:p>
        </p:txBody>
      </p:sp>
    </p:spTree>
    <p:extLst>
      <p:ext uri="{BB962C8B-B14F-4D97-AF65-F5344CB8AC3E}">
        <p14:creationId xmlns:p14="http://schemas.microsoft.com/office/powerpoint/2010/main" val="28986304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309D7D48-8E21-C329-96D5-5B73BDF7F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C5CD14C0-FC2C-414A-CCDD-3DCDB0B7FA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Exercício 02</a:t>
            </a:r>
            <a:br>
              <a:rPr lang="pt-BR" dirty="0"/>
            </a:b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BBF4939E-CBC3-53CF-7F82-E4629D13E0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Crie uma classe chamada calculadora, que contenha dois atributos do tipo inteiro e tenha os métodos de soma, subtração, multiplicação e divisão. 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Crie uma classe chamada </a:t>
            </a:r>
            <a:r>
              <a:rPr lang="pt-BR" dirty="0" err="1"/>
              <a:t>CalculadoraTeste</a:t>
            </a:r>
            <a:r>
              <a:rPr lang="pt-BR" dirty="0"/>
              <a:t> que teste a classe criada anteriormente (classe que possui o método </a:t>
            </a:r>
            <a:r>
              <a:rPr lang="pt-BR" dirty="0" err="1"/>
              <a:t>Main</a:t>
            </a:r>
            <a:r>
              <a:rPr lang="pt-B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616803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F626915C-8E6B-83B2-C580-9BC8B0225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B1D8F7CA-DF3F-8C67-A97E-80E1F5D35A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Exercício 03</a:t>
            </a:r>
            <a:br>
              <a:rPr lang="pt-BR" dirty="0"/>
            </a:b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F51578B1-2341-5555-FA7E-62B333266B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002374" y="1132338"/>
            <a:ext cx="4897381" cy="37844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600" dirty="0"/>
              <a:t>Crie uma classe ‘</a:t>
            </a:r>
            <a:r>
              <a:rPr lang="pt-BR" sz="2600" b="1" dirty="0" err="1"/>
              <a:t>Retangulo</a:t>
            </a:r>
            <a:r>
              <a:rPr lang="pt-BR" sz="2600" dirty="0"/>
              <a:t>’ que obedeça à descrição abaixo</a:t>
            </a:r>
            <a:br>
              <a:rPr lang="pt-BR" dirty="0"/>
            </a:br>
            <a:r>
              <a:rPr lang="pt-BR" dirty="0"/>
              <a:t>Crie também uma classe </a:t>
            </a:r>
            <a:r>
              <a:rPr lang="pt-BR" b="1" dirty="0" err="1"/>
              <a:t>TestaRetangulo</a:t>
            </a:r>
            <a:r>
              <a:rPr lang="pt-BR" dirty="0"/>
              <a:t>, que possua o método </a:t>
            </a:r>
            <a:r>
              <a:rPr lang="pt-BR" b="1" dirty="0" err="1"/>
              <a:t>main</a:t>
            </a:r>
            <a:r>
              <a:rPr lang="pt-BR" dirty="0"/>
              <a:t>. Realize as seguintes operações:</a:t>
            </a:r>
            <a:br>
              <a:rPr lang="pt-BR" dirty="0"/>
            </a:br>
            <a:r>
              <a:rPr lang="pt-BR" dirty="0"/>
              <a:t>Instancie a classe </a:t>
            </a:r>
            <a:r>
              <a:rPr lang="pt-BR" b="1" dirty="0" err="1"/>
              <a:t>Retangulo</a:t>
            </a:r>
            <a:r>
              <a:rPr lang="pt-BR" dirty="0"/>
              <a:t>, criando um objeto </a:t>
            </a:r>
            <a:r>
              <a:rPr lang="pt-BR" b="1" dirty="0" err="1"/>
              <a:t>novoRetangulo</a:t>
            </a:r>
            <a:r>
              <a:rPr lang="pt-BR" dirty="0"/>
              <a:t> do tipo </a:t>
            </a:r>
            <a:r>
              <a:rPr lang="pt-BR" b="1" dirty="0" err="1"/>
              <a:t>Retangulo</a:t>
            </a:r>
            <a:r>
              <a:rPr lang="pt-BR" dirty="0"/>
              <a:t>.</a:t>
            </a:r>
            <a:br>
              <a:rPr lang="pt-BR" dirty="0"/>
            </a:br>
            <a:r>
              <a:rPr lang="pt-BR" dirty="0"/>
              <a:t>Atribua o valor 10 ao atributo lado1</a:t>
            </a:r>
            <a:br>
              <a:rPr lang="pt-BR" dirty="0"/>
            </a:br>
            <a:r>
              <a:rPr lang="pt-BR" dirty="0"/>
              <a:t>Atribua o valor 5 ao atributo lado2</a:t>
            </a:r>
            <a:br>
              <a:rPr lang="pt-BR" dirty="0"/>
            </a:br>
            <a:r>
              <a:rPr lang="pt-BR" dirty="0"/>
              <a:t>Chame o método </a:t>
            </a:r>
            <a:r>
              <a:rPr lang="pt-BR" b="1" dirty="0" err="1"/>
              <a:t>calcularArea</a:t>
            </a:r>
            <a:r>
              <a:rPr lang="pt-BR" dirty="0"/>
              <a:t>.</a:t>
            </a:r>
            <a:br>
              <a:rPr lang="pt-BR" dirty="0"/>
            </a:br>
            <a:r>
              <a:rPr lang="pt-BR" dirty="0"/>
              <a:t>Chame o método </a:t>
            </a:r>
            <a:r>
              <a:rPr lang="pt-BR" b="1" dirty="0" err="1"/>
              <a:t>calcularPerimetro</a:t>
            </a:r>
            <a:r>
              <a:rPr lang="pt-BR" dirty="0"/>
              <a:t>.</a:t>
            </a:r>
            <a:br>
              <a:rPr lang="pt-BR" dirty="0"/>
            </a:br>
            <a:r>
              <a:rPr lang="pt-BR" dirty="0"/>
              <a:t>Atribua o valor 7 ao atributo lado2</a:t>
            </a:r>
            <a:br>
              <a:rPr lang="pt-BR" dirty="0"/>
            </a:br>
            <a:r>
              <a:rPr lang="pt-BR" dirty="0"/>
              <a:t>Chame o método </a:t>
            </a:r>
            <a:r>
              <a:rPr lang="pt-BR" b="1" dirty="0" err="1"/>
              <a:t>calcularArea</a:t>
            </a:r>
            <a:r>
              <a:rPr lang="pt-BR" dirty="0"/>
              <a:t>.</a:t>
            </a:r>
            <a:br>
              <a:rPr lang="pt-BR" dirty="0"/>
            </a:br>
            <a:r>
              <a:rPr lang="pt-BR" dirty="0"/>
              <a:t>Chame o método </a:t>
            </a:r>
            <a:r>
              <a:rPr lang="pt-BR" b="1" dirty="0" err="1"/>
              <a:t>calcularPerimetro</a:t>
            </a:r>
            <a:endParaRPr lang="pt-BR" b="1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C4471B2-E372-192A-A1D3-355972083C96}"/>
              </a:ext>
            </a:extLst>
          </p:cNvPr>
          <p:cNvSpPr/>
          <p:nvPr/>
        </p:nvSpPr>
        <p:spPr>
          <a:xfrm>
            <a:off x="412229" y="1603948"/>
            <a:ext cx="3395272" cy="21697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 err="1"/>
              <a:t>Retangulo</a:t>
            </a:r>
            <a:endParaRPr lang="pt-BR" b="1" dirty="0"/>
          </a:p>
          <a:p>
            <a:pPr algn="ctr"/>
            <a:endParaRPr lang="pt-BR" dirty="0"/>
          </a:p>
          <a:p>
            <a:r>
              <a:rPr lang="en-US" dirty="0">
                <a:solidFill>
                  <a:srgbClr val="000000"/>
                </a:solidFill>
              </a:rPr>
              <a:t>lado1: double</a:t>
            </a:r>
          </a:p>
          <a:p>
            <a:r>
              <a:rPr lang="en-US" dirty="0">
                <a:solidFill>
                  <a:srgbClr val="000000"/>
                </a:solidFill>
              </a:rPr>
              <a:t>lado2: double</a:t>
            </a:r>
          </a:p>
          <a:p>
            <a:r>
              <a:rPr lang="en-US" dirty="0">
                <a:solidFill>
                  <a:srgbClr val="000000"/>
                </a:solidFill>
              </a:rPr>
              <a:t>area: double</a:t>
            </a:r>
          </a:p>
          <a:p>
            <a:r>
              <a:rPr lang="en-US" dirty="0" err="1">
                <a:solidFill>
                  <a:srgbClr val="000000"/>
                </a:solidFill>
              </a:rPr>
              <a:t>perimetro</a:t>
            </a:r>
            <a:r>
              <a:rPr lang="en-US" dirty="0">
                <a:solidFill>
                  <a:srgbClr val="000000"/>
                </a:solidFill>
              </a:rPr>
              <a:t>: double</a:t>
            </a:r>
          </a:p>
          <a:p>
            <a:endParaRPr lang="pt-BR" dirty="0">
              <a:solidFill>
                <a:srgbClr val="000000"/>
              </a:solidFill>
            </a:endParaRPr>
          </a:p>
          <a:p>
            <a:r>
              <a:rPr lang="pt-BR" sz="1300" dirty="0" err="1">
                <a:solidFill>
                  <a:srgbClr val="474747"/>
                </a:solidFill>
              </a:rPr>
              <a:t>CalculaArea</a:t>
            </a:r>
            <a:r>
              <a:rPr lang="pt-BR" sz="1300" dirty="0">
                <a:solidFill>
                  <a:srgbClr val="474747"/>
                </a:solidFill>
              </a:rPr>
              <a:t>(novoLado1, novoLado2): </a:t>
            </a:r>
            <a:r>
              <a:rPr lang="pt-BR" sz="1300" dirty="0" err="1">
                <a:solidFill>
                  <a:srgbClr val="474747"/>
                </a:solidFill>
              </a:rPr>
              <a:t>void</a:t>
            </a:r>
            <a:endParaRPr lang="pt-BR" sz="1300" dirty="0">
              <a:solidFill>
                <a:srgbClr val="474747"/>
              </a:solidFill>
            </a:endParaRPr>
          </a:p>
          <a:p>
            <a:r>
              <a:rPr lang="pt-BR" sz="1300" dirty="0" err="1">
                <a:solidFill>
                  <a:srgbClr val="474747"/>
                </a:solidFill>
              </a:rPr>
              <a:t>CalculaPerimetro</a:t>
            </a:r>
            <a:r>
              <a:rPr lang="pt-BR" sz="1300" dirty="0">
                <a:solidFill>
                  <a:srgbClr val="474747"/>
                </a:solidFill>
              </a:rPr>
              <a:t>(): </a:t>
            </a:r>
            <a:r>
              <a:rPr lang="pt-BR" sz="1300" dirty="0" err="1">
                <a:solidFill>
                  <a:srgbClr val="474747"/>
                </a:solidFill>
              </a:rPr>
              <a:t>double</a:t>
            </a:r>
            <a:r>
              <a:rPr lang="pt-BR" sz="1300" dirty="0">
                <a:solidFill>
                  <a:srgbClr val="474747"/>
                </a:solidFill>
              </a:rPr>
              <a:t>()</a:t>
            </a:r>
          </a:p>
          <a:p>
            <a:r>
              <a:rPr lang="pt-BR" sz="1300" dirty="0" err="1">
                <a:solidFill>
                  <a:srgbClr val="474747"/>
                </a:solidFill>
              </a:rPr>
              <a:t>calculaValor</a:t>
            </a:r>
            <a:r>
              <a:rPr lang="pt-BR" sz="1300" dirty="0">
                <a:solidFill>
                  <a:srgbClr val="474747"/>
                </a:solidFill>
              </a:rPr>
              <a:t>()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1C173DDA-B4FF-6505-26C6-EF5B8B433C7D}"/>
              </a:ext>
            </a:extLst>
          </p:cNvPr>
          <p:cNvCxnSpPr>
            <a:cxnSpLocks/>
          </p:cNvCxnSpPr>
          <p:nvPr/>
        </p:nvCxnSpPr>
        <p:spPr>
          <a:xfrm>
            <a:off x="419724" y="1993692"/>
            <a:ext cx="3380282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EF127EE5-8545-15AA-A0BF-7CF068DF1A79}"/>
              </a:ext>
            </a:extLst>
          </p:cNvPr>
          <p:cNvCxnSpPr>
            <a:cxnSpLocks/>
          </p:cNvCxnSpPr>
          <p:nvPr/>
        </p:nvCxnSpPr>
        <p:spPr>
          <a:xfrm>
            <a:off x="427219" y="3065488"/>
            <a:ext cx="3380282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18494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C4ED25C9-DDB5-2CB6-3FFC-BFC3B56D6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71078AA8-13E6-33BA-A725-8FC6F1C55B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Exercício 04 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78508DCF-0D73-1E6B-0A65-32A0CD249D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Para entender as necessidades de informação de uma biblioteca universitária foi proposto um sistema que deve atender as seguintes características: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pt-BR" dirty="0"/>
              <a:t>- O cadastro dos usuários da biblioteca com endereço completo. Os usuários podem ser classificados em três grupos: Professores, Alunos e Funcionários.</a:t>
            </a:r>
            <a:br>
              <a:rPr lang="pt-BR" dirty="0"/>
            </a:br>
            <a:r>
              <a:rPr lang="pt-BR" dirty="0"/>
              <a:t>- O cadastro das obras da biblioteca, que podem ser classificadas em: Livros científicos, periódicos informativos, periódicos diversos, entretenimento, etc.</a:t>
            </a:r>
            <a:br>
              <a:rPr lang="pt-BR" dirty="0"/>
            </a:br>
            <a:r>
              <a:rPr lang="pt-BR" dirty="0"/>
              <a:t>- A língua e a mídia em que se encontra o exemplar da obra.</a:t>
            </a:r>
            <a:br>
              <a:rPr lang="pt-BR" dirty="0"/>
            </a:br>
            <a:r>
              <a:rPr lang="pt-BR" dirty="0"/>
              <a:t>- Os autores da obra com o controle da nacionalidade do autor.</a:t>
            </a:r>
            <a:br>
              <a:rPr lang="pt-BR" dirty="0"/>
            </a:br>
            <a:r>
              <a:rPr lang="pt-BR" dirty="0"/>
              <a:t>- As editoras dos exemplares com o ano de edição de cada exemplar.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>
                <a:highlight>
                  <a:srgbClr val="FFFF00"/>
                </a:highlight>
              </a:rPr>
              <a:t>Identifique</a:t>
            </a:r>
            <a:r>
              <a:rPr lang="pt-BR" dirty="0"/>
              <a:t> os possíveis objetos com seus respectivos atributos e métodos.</a:t>
            </a:r>
          </a:p>
          <a:p>
            <a:pPr marL="0" lvl="0" indent="0">
              <a:spcAft>
                <a:spcPts val="1200"/>
              </a:spcAft>
              <a:buNone/>
            </a:pPr>
            <a:r>
              <a:rPr lang="pt-BR" dirty="0"/>
              <a:t>(não precisa codificar, apenas escreva quais são as classes, atributos e métodos)</a:t>
            </a:r>
          </a:p>
        </p:txBody>
      </p:sp>
    </p:spTree>
    <p:extLst>
      <p:ext uri="{BB962C8B-B14F-4D97-AF65-F5344CB8AC3E}">
        <p14:creationId xmlns:p14="http://schemas.microsoft.com/office/powerpoint/2010/main" val="2792574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D2768398-2A5A-12E0-A44E-6A5810A1D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D4B00309-42A2-6C6C-7824-A15488B6F4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Exercício 04 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21A5EC33-4DF2-1E3D-729F-16A8F58C42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b="1" dirty="0" err="1"/>
              <a:t>Usuario</a:t>
            </a:r>
            <a:r>
              <a:rPr lang="pt-BR" dirty="0"/>
              <a:t> [</a:t>
            </a:r>
            <a:br>
              <a:rPr lang="pt-BR" dirty="0"/>
            </a:br>
            <a:r>
              <a:rPr lang="pt-BR" dirty="0" err="1"/>
              <a:t>String</a:t>
            </a:r>
            <a:r>
              <a:rPr lang="pt-BR" dirty="0"/>
              <a:t> nome, </a:t>
            </a:r>
            <a:r>
              <a:rPr lang="pt-BR" dirty="0" err="1"/>
              <a:t>String</a:t>
            </a:r>
            <a:r>
              <a:rPr lang="pt-BR" dirty="0"/>
              <a:t> endereço, </a:t>
            </a:r>
            <a:br>
              <a:rPr lang="pt-BR" dirty="0"/>
            </a:br>
            <a:r>
              <a:rPr lang="pt-BR" dirty="0" err="1"/>
              <a:t>String</a:t>
            </a:r>
            <a:r>
              <a:rPr lang="pt-BR" dirty="0"/>
              <a:t> bairro, </a:t>
            </a:r>
            <a:r>
              <a:rPr lang="pt-BR" dirty="0" err="1"/>
              <a:t>String</a:t>
            </a:r>
            <a:r>
              <a:rPr lang="pt-BR" dirty="0"/>
              <a:t> cidade, </a:t>
            </a:r>
            <a:br>
              <a:rPr lang="pt-BR" dirty="0"/>
            </a:br>
            <a:r>
              <a:rPr lang="pt-BR" dirty="0" err="1"/>
              <a:t>String</a:t>
            </a:r>
            <a:r>
              <a:rPr lang="pt-BR" dirty="0"/>
              <a:t> uf, </a:t>
            </a:r>
            <a:r>
              <a:rPr lang="pt-BR" dirty="0" err="1"/>
              <a:t>String</a:t>
            </a:r>
            <a:r>
              <a:rPr lang="pt-BR" dirty="0"/>
              <a:t> grupo]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b="1" dirty="0"/>
              <a:t>Obra</a:t>
            </a:r>
            <a:r>
              <a:rPr lang="pt-BR" dirty="0"/>
              <a:t> [</a:t>
            </a:r>
            <a:br>
              <a:rPr lang="pt-BR" dirty="0"/>
            </a:br>
            <a:r>
              <a:rPr lang="pt-BR" dirty="0" err="1"/>
              <a:t>String</a:t>
            </a:r>
            <a:r>
              <a:rPr lang="pt-BR" dirty="0"/>
              <a:t> título, </a:t>
            </a:r>
            <a:r>
              <a:rPr lang="pt-BR" dirty="0" err="1"/>
              <a:t>String</a:t>
            </a:r>
            <a:r>
              <a:rPr lang="pt-BR" dirty="0"/>
              <a:t> autor, </a:t>
            </a:r>
            <a:br>
              <a:rPr lang="pt-BR" dirty="0"/>
            </a:br>
            <a:r>
              <a:rPr lang="pt-BR" dirty="0" err="1"/>
              <a:t>int</a:t>
            </a:r>
            <a:r>
              <a:rPr lang="pt-BR" dirty="0"/>
              <a:t> ano, </a:t>
            </a:r>
            <a:r>
              <a:rPr lang="pt-BR" dirty="0" err="1"/>
              <a:t>String</a:t>
            </a:r>
            <a:r>
              <a:rPr lang="pt-BR" dirty="0"/>
              <a:t> </a:t>
            </a:r>
            <a:r>
              <a:rPr lang="pt-BR" dirty="0" err="1"/>
              <a:t>classificacao</a:t>
            </a:r>
            <a:r>
              <a:rPr lang="pt-BR" dirty="0"/>
              <a:t>, </a:t>
            </a:r>
            <a:br>
              <a:rPr lang="pt-BR" dirty="0"/>
            </a:br>
            <a:r>
              <a:rPr lang="pt-BR" dirty="0" err="1"/>
              <a:t>String</a:t>
            </a:r>
            <a:r>
              <a:rPr lang="pt-BR" dirty="0"/>
              <a:t> língua, </a:t>
            </a:r>
            <a:r>
              <a:rPr lang="pt-BR" dirty="0" err="1"/>
              <a:t>String</a:t>
            </a:r>
            <a:r>
              <a:rPr lang="pt-BR" dirty="0"/>
              <a:t> mídia, </a:t>
            </a:r>
            <a:r>
              <a:rPr lang="pt-BR" dirty="0" err="1"/>
              <a:t>String</a:t>
            </a:r>
            <a:r>
              <a:rPr lang="pt-BR" dirty="0"/>
              <a:t> editora]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b="1" dirty="0"/>
              <a:t>Autor</a:t>
            </a:r>
            <a:r>
              <a:rPr lang="pt-BR" dirty="0"/>
              <a:t> [</a:t>
            </a:r>
            <a:br>
              <a:rPr lang="pt-BR" dirty="0"/>
            </a:br>
            <a:r>
              <a:rPr lang="pt-BR" dirty="0" err="1"/>
              <a:t>String</a:t>
            </a:r>
            <a:r>
              <a:rPr lang="pt-BR" dirty="0"/>
              <a:t> nome, </a:t>
            </a:r>
            <a:br>
              <a:rPr lang="pt-BR" dirty="0"/>
            </a:br>
            <a:r>
              <a:rPr lang="pt-BR" dirty="0" err="1"/>
              <a:t>String</a:t>
            </a:r>
            <a:r>
              <a:rPr lang="pt-BR" dirty="0"/>
              <a:t> nacionalidade]</a:t>
            </a:r>
          </a:p>
        </p:txBody>
      </p:sp>
    </p:spTree>
    <p:extLst>
      <p:ext uri="{BB962C8B-B14F-4D97-AF65-F5344CB8AC3E}">
        <p14:creationId xmlns:p14="http://schemas.microsoft.com/office/powerpoint/2010/main" val="1135842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D2104F17-AEF0-6CF9-2D90-20E394541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E59EF55C-8067-C26E-0DDB-45364D6375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Exercício 05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30CB2DDF-1D2E-1358-45B6-B25CE93269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Deseja-se criar um programa para gerenciar os filmes disponíveis em uma plataforma online. Para isto, os filmes deverão possuir o seu título, ano de lançamento, categoria e nota média (de 0 à 5).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Crie um método votar em será passado por parâmetro a nota que o usuário deseja dar para o filme. Deverá ser calculado a média de votações para atribuir ao atributo nota do objeto.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Peça para 20 usuários votarem em algum filme que você instanciou.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1222410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2158</Words>
  <Application>Microsoft Office PowerPoint</Application>
  <PresentationFormat>Apresentação na tela (16:9)</PresentationFormat>
  <Paragraphs>224</Paragraphs>
  <Slides>24</Slides>
  <Notes>24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29" baseType="lpstr">
      <vt:lpstr>Arial</vt:lpstr>
      <vt:lpstr>Courier New</vt:lpstr>
      <vt:lpstr>Impact</vt:lpstr>
      <vt:lpstr>Lucida Sans Unicode</vt:lpstr>
      <vt:lpstr>Simple Light</vt:lpstr>
      <vt:lpstr>POO – Métodos Construtores e Valores Padrões para Objetos</vt:lpstr>
      <vt:lpstr>Revisão</vt:lpstr>
      <vt:lpstr>Terminologia de OO</vt:lpstr>
      <vt:lpstr>Terminologia de OO</vt:lpstr>
      <vt:lpstr>Tópicos da aula</vt:lpstr>
      <vt:lpstr>O que são Métodos Construtores?</vt:lpstr>
      <vt:lpstr>Métodos Construtores </vt:lpstr>
      <vt:lpstr>Métodos Construtores </vt:lpstr>
      <vt:lpstr>Métodos Construtores</vt:lpstr>
      <vt:lpstr>Métodos Construtores</vt:lpstr>
      <vt:lpstr>Métodos Construtores </vt:lpstr>
      <vt:lpstr>Métodos Construtores</vt:lpstr>
      <vt:lpstr>Destruindo os Objetos Criados (o destrutor)</vt:lpstr>
      <vt:lpstr>Definindo valores padrões (default) para os Atributos da Classe </vt:lpstr>
      <vt:lpstr>Definindo valores padrões (default) para os Atributos da Classe – 1ª forma </vt:lpstr>
      <vt:lpstr>Definindo valores padrões (default) para os Atributos da Classe – 2ª forma </vt:lpstr>
      <vt:lpstr>Exemplo</vt:lpstr>
      <vt:lpstr>Exercício 00</vt:lpstr>
      <vt:lpstr>Exercício 01 </vt:lpstr>
      <vt:lpstr>Exercício 02 </vt:lpstr>
      <vt:lpstr>Exercício 03 </vt:lpstr>
      <vt:lpstr>Exercício 04 </vt:lpstr>
      <vt:lpstr>Exercício 04 </vt:lpstr>
      <vt:lpstr>Exercício 05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Juliano Caetano</cp:lastModifiedBy>
  <cp:revision>3</cp:revision>
  <dcterms:modified xsi:type="dcterms:W3CDTF">2026-03-01T16:15:34Z</dcterms:modified>
</cp:coreProperties>
</file>