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3"/>
  </p:notes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77" r:id="rId9"/>
    <p:sldId id="278" r:id="rId10"/>
    <p:sldId id="260" r:id="rId11"/>
    <p:sldId id="261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52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C4937CD-59A3-1E0B-EB87-5CAC87C4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30FCCC8-989A-8023-AD5D-96C9F12F91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B0663CB-38A3-F143-5FD1-C2D54635E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7350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8CFD936-596F-5D8E-0313-2379941E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94CB9A1-659B-DFA5-6F05-E11EFBAFAA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61E715D-A6B5-A367-423A-1942DD0B8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5899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41C3003-8113-449F-D939-BC1F7D36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E6ABA49-2C26-0871-FCC6-5F818B9CA9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CC95C4A-A58F-29F9-D173-919040475D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647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4A765E6-F871-010F-DEA0-6BD9D2F7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9318ECB-BA5C-0607-528A-7976B896AE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1D07905-B843-DF2B-850B-6A2615134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3193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45334DA-265F-2624-BF1F-4FB62634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CE632FB-1AD7-5C93-BF06-67E349D72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DA2385F-72A7-6BB9-886A-F34AB74C9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9607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0FECE07-860E-50AE-DF72-9E8ADF212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43A166F-B139-AA94-E3E2-BF39B30BA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2AC396F-D137-2320-CAC3-461737D815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911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64AB126-9D30-AED4-FA7B-589E8BD8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77EB9E9-27E6-A933-B717-EC3DF7F02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2018311-4A17-67FE-D284-9774F9D14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1348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f032c298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f032c298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32c29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32c29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42138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200"/>
              <a:buNone/>
              <a:defRPr sz="2200"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9pPr>
          </a:lstStyle>
          <a:p>
            <a:endParaRPr/>
          </a:p>
        </p:txBody>
      </p:sp>
      <p:pic>
        <p:nvPicPr>
          <p:cNvPr id="32" name="Google Shape;32;p6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" y="1815774"/>
            <a:ext cx="2081851" cy="333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1063425" y="1152475"/>
            <a:ext cx="421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800"/>
              <a:buChar char="●"/>
              <a:defRPr>
                <a:solidFill>
                  <a:srgbClr val="3C5258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○"/>
              <a:defRPr>
                <a:solidFill>
                  <a:srgbClr val="3C5258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■"/>
              <a:defRPr>
                <a:solidFill>
                  <a:srgbClr val="3C5258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●"/>
              <a:defRPr>
                <a:solidFill>
                  <a:srgbClr val="3C5258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○"/>
              <a:defRPr>
                <a:solidFill>
                  <a:srgbClr val="3C5258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■"/>
              <a:defRPr>
                <a:solidFill>
                  <a:srgbClr val="3C5258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●"/>
              <a:defRPr>
                <a:solidFill>
                  <a:srgbClr val="3C5258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○"/>
              <a:defRPr>
                <a:solidFill>
                  <a:srgbClr val="3C5258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■"/>
              <a:defRPr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7" name="Google Shape;37;p7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 title="Sem título-1.png"/>
          <p:cNvPicPr preferRelativeResize="0"/>
          <p:nvPr/>
        </p:nvPicPr>
        <p:blipFill rotWithShape="1">
          <a:blip r:embed="rId4">
            <a:alphaModFix/>
          </a:blip>
          <a:srcRect t="7114" r="22779"/>
          <a:stretch/>
        </p:blipFill>
        <p:spPr>
          <a:xfrm>
            <a:off x="6936925" y="0"/>
            <a:ext cx="2207074" cy="4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POO – Mensagens entre Classes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da Aula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Mensagens entre Classes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Definição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Representação Gráfica – Diagrama de Classes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Exemplos de Mensagens implementas em Java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22A49B2-CE30-AE19-E9D4-C89245DA5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2E4A14D3-4B21-F8C2-6F48-45A60E7E29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Mensagem entre Classes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E391631-BEE0-701D-9D00-A684961C3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389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dirty="0"/>
              <a:t>Os Objetos das Classes se comunicam entre si através de mensagem...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Espaço Reservado para Conteúdo 4">
            <a:extLst>
              <a:ext uri="{FF2B5EF4-FFF2-40B4-BE49-F238E27FC236}">
                <a16:creationId xmlns:a16="http://schemas.microsoft.com/office/drawing/2014/main" id="{14AACDE5-047F-856B-B800-F98898FC7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799" y="2446244"/>
            <a:ext cx="2678578" cy="1644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Espaço Reservado para Conteúdo 4">
            <a:extLst>
              <a:ext uri="{FF2B5EF4-FFF2-40B4-BE49-F238E27FC236}">
                <a16:creationId xmlns:a16="http://schemas.microsoft.com/office/drawing/2014/main" id="{98B34337-1776-D6F9-1576-87BB62BBF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454" y="2446245"/>
            <a:ext cx="2187795" cy="1644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D46EACE-B0A4-C42C-297B-E2B4026C1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025" y="2109787"/>
            <a:ext cx="21113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400" b="1" dirty="0">
                <a:solidFill>
                  <a:srgbClr val="006600"/>
                </a:solidFill>
              </a:rPr>
              <a:t>Objeto Carro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8471C3-C96B-7F94-DEB1-8D59DFC6A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0" y="2109787"/>
            <a:ext cx="2171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400" b="1" dirty="0">
                <a:solidFill>
                  <a:srgbClr val="006600"/>
                </a:solidFill>
              </a:rPr>
              <a:t>Objeto Motor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B613230-3E5A-EFD8-01D0-FABC6E4BBF7E}"/>
              </a:ext>
            </a:extLst>
          </p:cNvPr>
          <p:cNvSpPr/>
          <p:nvPr/>
        </p:nvSpPr>
        <p:spPr>
          <a:xfrm>
            <a:off x="1046438" y="4706471"/>
            <a:ext cx="6822141" cy="37987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pt-BR">
                <a:solidFill>
                  <a:schemeClr val="tx1"/>
                </a:solidFill>
              </a:rPr>
              <a:t>Para que o </a:t>
            </a:r>
            <a:r>
              <a:rPr lang="pt-BR" b="1">
                <a:solidFill>
                  <a:srgbClr val="006600"/>
                </a:solidFill>
              </a:rPr>
              <a:t>Carro </a:t>
            </a:r>
            <a:r>
              <a:rPr lang="pt-BR" b="1">
                <a:solidFill>
                  <a:srgbClr val="0000CC"/>
                </a:solidFill>
              </a:rPr>
              <a:t>ande</a:t>
            </a:r>
            <a:r>
              <a:rPr lang="pt-BR">
                <a:solidFill>
                  <a:srgbClr val="0000CC"/>
                </a:solidFill>
              </a:rPr>
              <a:t> </a:t>
            </a:r>
            <a:r>
              <a:rPr lang="pt-BR" b="1">
                <a:solidFill>
                  <a:srgbClr val="FF0000"/>
                </a:solidFill>
              </a:rPr>
              <a:t>é necessário </a:t>
            </a:r>
            <a:r>
              <a:rPr lang="pt-BR">
                <a:solidFill>
                  <a:schemeClr val="tx1"/>
                </a:solidFill>
              </a:rPr>
              <a:t>que o </a:t>
            </a:r>
            <a:r>
              <a:rPr lang="pt-BR" b="1">
                <a:solidFill>
                  <a:srgbClr val="006600"/>
                </a:solidFill>
              </a:rPr>
              <a:t>Motor</a:t>
            </a:r>
            <a:r>
              <a:rPr lang="pt-BR">
                <a:solidFill>
                  <a:srgbClr val="006600"/>
                </a:solidFill>
              </a:rPr>
              <a:t> </a:t>
            </a:r>
            <a:r>
              <a:rPr lang="pt-BR">
                <a:solidFill>
                  <a:schemeClr val="tx1"/>
                </a:solidFill>
              </a:rPr>
              <a:t>esteja</a:t>
            </a:r>
            <a:r>
              <a:rPr lang="pt-BR"/>
              <a:t> </a:t>
            </a:r>
            <a:r>
              <a:rPr lang="pt-BR" b="1">
                <a:solidFill>
                  <a:srgbClr val="0000CC"/>
                </a:solidFill>
              </a:rPr>
              <a:t>ligado</a:t>
            </a:r>
            <a:r>
              <a:rPr lang="pt-BR">
                <a:solidFill>
                  <a:schemeClr val="tx1"/>
                </a:solidFill>
              </a:rPr>
              <a:t>!!!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3670A4A-5524-B14B-9E0B-B254D7EC6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438" y="4130675"/>
            <a:ext cx="2112962" cy="4000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000" b="1" dirty="0">
                <a:solidFill>
                  <a:srgbClr val="0000CC"/>
                </a:solidFill>
              </a:rPr>
              <a:t>Método Andar()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4FD92C8-17EF-5A04-3B25-A4DCA4ED5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7369" y="4149548"/>
            <a:ext cx="1985963" cy="4000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000" b="1" dirty="0">
                <a:solidFill>
                  <a:srgbClr val="0000CC"/>
                </a:solidFill>
              </a:rPr>
              <a:t>Método Ligar()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9BC27AFF-F91F-7766-A0C1-05D1E581B24B}"/>
              </a:ext>
            </a:extLst>
          </p:cNvPr>
          <p:cNvSpPr/>
          <p:nvPr/>
        </p:nvSpPr>
        <p:spPr>
          <a:xfrm>
            <a:off x="3319241" y="4085935"/>
            <a:ext cx="3097212" cy="36830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60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82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" presetClass="entr" presetSubtype="3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1F6987C-CCB8-F3FA-6EE9-F29501616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B581239-9F10-8360-6350-B452D8EDC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Mensagem entre Classes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7D5DE50-2AEE-AC9B-9F80-EBEABE93FA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A </a:t>
            </a:r>
            <a:r>
              <a:rPr lang="pt-BR" altLang="pt-BR" b="1" dirty="0">
                <a:solidFill>
                  <a:srgbClr val="006600"/>
                </a:solidFill>
              </a:rPr>
              <a:t>mensagem</a:t>
            </a:r>
            <a:r>
              <a:rPr lang="pt-BR" altLang="pt-BR" dirty="0">
                <a:solidFill>
                  <a:srgbClr val="006600"/>
                </a:solidFill>
              </a:rPr>
              <a:t> </a:t>
            </a:r>
            <a:r>
              <a:rPr lang="pt-BR" altLang="pt-BR" dirty="0"/>
              <a:t>especifica que </a:t>
            </a:r>
            <a:r>
              <a:rPr lang="pt-BR" altLang="pt-BR" b="1" dirty="0">
                <a:solidFill>
                  <a:srgbClr val="0070C0"/>
                </a:solidFill>
              </a:rPr>
              <a:t>um determinado método de um objeto</a:t>
            </a:r>
            <a:r>
              <a:rPr lang="pt-BR" altLang="pt-BR" dirty="0"/>
              <a:t> </a:t>
            </a:r>
            <a:r>
              <a:rPr lang="pt-BR" altLang="pt-BR" b="1" dirty="0">
                <a:solidFill>
                  <a:srgbClr val="FF0000"/>
                </a:solidFill>
              </a:rPr>
              <a:t>necessita utilizar </a:t>
            </a:r>
            <a:r>
              <a:rPr lang="pt-BR" altLang="pt-BR" b="1" dirty="0">
                <a:solidFill>
                  <a:srgbClr val="7030A0"/>
                </a:solidFill>
              </a:rPr>
              <a:t>um ou mais métodos de outro objeto</a:t>
            </a:r>
            <a:r>
              <a:rPr lang="pt-BR" altLang="pt-BR" dirty="0"/>
              <a:t>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Podem ser passados objetos como parâmetros, e, opcionalmente, algum resultado ou valor pode ser retornado.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001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D6F5267-6882-5719-D22A-B46B61BA4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66E9B811-B3C7-E4AB-5EE7-E18ABD6F4D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Mensagens e Métodos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49532D0-668E-F256-D5CF-9562FFDC4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Essa troca de mensagens acontece através dos métodos.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Para enviar uma mensagem, deve-se: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identificar o objeto que receberá a mensagem;</a:t>
            </a:r>
            <a:br>
              <a:rPr lang="pt-BR" dirty="0"/>
            </a:br>
            <a:r>
              <a:rPr lang="pt-BR" dirty="0"/>
              <a:t>identificar o método que o objeto deverá executar;</a:t>
            </a:r>
            <a:br>
              <a:rPr lang="pt-BR" dirty="0"/>
            </a:br>
            <a:r>
              <a:rPr lang="pt-BR" dirty="0"/>
              <a:t>passar os argumentos requeridos pelo método.</a:t>
            </a:r>
          </a:p>
        </p:txBody>
      </p:sp>
    </p:spTree>
    <p:extLst>
      <p:ext uri="{BB962C8B-B14F-4D97-AF65-F5344CB8AC3E}">
        <p14:creationId xmlns:p14="http://schemas.microsoft.com/office/powerpoint/2010/main" val="2269893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0D246D0-4D1F-9251-07B2-FB8A3AF6D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0DD258A-9536-37BD-0E41-2F7A3E58F3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Representação Gráfica das Classes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245AA0D-1F3E-C1AE-DB1C-EB01A0CD9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upo 3">
            <a:extLst>
              <a:ext uri="{FF2B5EF4-FFF2-40B4-BE49-F238E27FC236}">
                <a16:creationId xmlns:a16="http://schemas.microsoft.com/office/drawing/2014/main" id="{AD8E9AF4-E990-82CA-6773-09E18273F11D}"/>
              </a:ext>
            </a:extLst>
          </p:cNvPr>
          <p:cNvGrpSpPr>
            <a:grpSpLocks/>
          </p:cNvGrpSpPr>
          <p:nvPr/>
        </p:nvGrpSpPr>
        <p:grpSpPr bwMode="auto">
          <a:xfrm>
            <a:off x="5875338" y="1131924"/>
            <a:ext cx="2582862" cy="2879651"/>
            <a:chOff x="3347864" y="2420888"/>
            <a:chExt cx="2232248" cy="2210923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84EF6926-381A-3229-C056-D4E6C3833536}"/>
                </a:ext>
              </a:extLst>
            </p:cNvPr>
            <p:cNvSpPr/>
            <p:nvPr/>
          </p:nvSpPr>
          <p:spPr>
            <a:xfrm>
              <a:off x="3347864" y="2420888"/>
              <a:ext cx="2232248" cy="287315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Carro</a:t>
              </a: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B0CECD3-DFAB-9BA1-1B93-25C84443F671}"/>
                </a:ext>
              </a:extLst>
            </p:cNvPr>
            <p:cNvSpPr/>
            <p:nvPr/>
          </p:nvSpPr>
          <p:spPr>
            <a:xfrm>
              <a:off x="3347864" y="2708203"/>
              <a:ext cx="2232248" cy="752158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-</a:t>
              </a:r>
              <a:r>
                <a:rPr lang="pt-BR" sz="1800" dirty="0">
                  <a:solidFill>
                    <a:srgbClr val="000000"/>
                  </a:solidFill>
                </a:rPr>
                <a:t> modelo: </a:t>
              </a:r>
              <a:r>
                <a:rPr lang="pt-BR" sz="1800" dirty="0" err="1">
                  <a:solidFill>
                    <a:srgbClr val="000000"/>
                  </a:solidFill>
                </a:rPr>
                <a:t>String</a:t>
              </a:r>
              <a:endParaRPr lang="pt-BR" sz="1800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-</a:t>
              </a:r>
              <a:r>
                <a:rPr lang="pt-BR" sz="1800" dirty="0">
                  <a:solidFill>
                    <a:srgbClr val="000000"/>
                  </a:solidFill>
                </a:rPr>
                <a:t> marca: </a:t>
              </a:r>
              <a:r>
                <a:rPr lang="pt-BR" sz="1800" dirty="0" err="1">
                  <a:solidFill>
                    <a:srgbClr val="000000"/>
                  </a:solidFill>
                </a:rPr>
                <a:t>String</a:t>
              </a:r>
              <a:endParaRPr lang="pt-BR" sz="1800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FF0000"/>
                  </a:solidFill>
                </a:rPr>
                <a:t>- motor: Motor</a:t>
              </a: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5C6D16A2-BD72-A239-BA10-DA0BDD0456F1}"/>
                </a:ext>
              </a:extLst>
            </p:cNvPr>
            <p:cNvSpPr/>
            <p:nvPr/>
          </p:nvSpPr>
          <p:spPr>
            <a:xfrm>
              <a:off x="3347864" y="3466200"/>
              <a:ext cx="2232248" cy="1165611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+ </a:t>
              </a:r>
              <a:r>
                <a:rPr lang="pt-BR" sz="1800" dirty="0">
                  <a:solidFill>
                    <a:srgbClr val="000000"/>
                  </a:solidFill>
                </a:rPr>
                <a:t>Carro()</a:t>
              </a:r>
              <a:endParaRPr lang="pt-BR" sz="1800" b="1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+</a:t>
              </a:r>
              <a:r>
                <a:rPr lang="pt-BR" sz="1800" dirty="0">
                  <a:solidFill>
                    <a:srgbClr val="000000"/>
                  </a:solidFill>
                </a:rPr>
                <a:t> </a:t>
              </a:r>
              <a:r>
                <a:rPr lang="pt-BR" sz="1800" dirty="0" err="1">
                  <a:solidFill>
                    <a:srgbClr val="000000"/>
                  </a:solidFill>
                </a:rPr>
                <a:t>GETs</a:t>
              </a:r>
              <a:r>
                <a:rPr lang="pt-BR" sz="1800" dirty="0">
                  <a:solidFill>
                    <a:srgbClr val="000000"/>
                  </a:solidFill>
                </a:rPr>
                <a:t>()</a:t>
              </a: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+</a:t>
              </a:r>
              <a:r>
                <a:rPr lang="pt-BR" sz="1800" dirty="0">
                  <a:solidFill>
                    <a:srgbClr val="000000"/>
                  </a:solidFill>
                </a:rPr>
                <a:t> </a:t>
              </a:r>
              <a:r>
                <a:rPr lang="pt-BR" sz="1800" dirty="0" err="1">
                  <a:solidFill>
                    <a:srgbClr val="000000"/>
                  </a:solidFill>
                </a:rPr>
                <a:t>SETs</a:t>
              </a:r>
              <a:r>
                <a:rPr lang="pt-BR" sz="1800" dirty="0">
                  <a:solidFill>
                    <a:srgbClr val="000000"/>
                  </a:solidFill>
                </a:rPr>
                <a:t>()</a:t>
              </a: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FF0000"/>
                  </a:solidFill>
                </a:rPr>
                <a:t>+ andar()</a:t>
              </a: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FF0000"/>
                  </a:solidFill>
                </a:rPr>
                <a:t>+ parar()</a:t>
              </a:r>
            </a:p>
          </p:txBody>
        </p:sp>
      </p:grpSp>
      <p:grpSp>
        <p:nvGrpSpPr>
          <p:cNvPr id="6" name="Grupo 3">
            <a:extLst>
              <a:ext uri="{FF2B5EF4-FFF2-40B4-BE49-F238E27FC236}">
                <a16:creationId xmlns:a16="http://schemas.microsoft.com/office/drawing/2014/main" id="{DCF6173C-8E99-30ED-E1A2-1C848ED8978A}"/>
              </a:ext>
            </a:extLst>
          </p:cNvPr>
          <p:cNvGrpSpPr>
            <a:grpSpLocks/>
          </p:cNvGrpSpPr>
          <p:nvPr/>
        </p:nvGrpSpPr>
        <p:grpSpPr bwMode="auto">
          <a:xfrm>
            <a:off x="371806" y="1131924"/>
            <a:ext cx="2687161" cy="2879651"/>
            <a:chOff x="3347864" y="2420888"/>
            <a:chExt cx="2232248" cy="22128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16547C8-B667-FA49-791D-025382255584}"/>
                </a:ext>
              </a:extLst>
            </p:cNvPr>
            <p:cNvSpPr/>
            <p:nvPr/>
          </p:nvSpPr>
          <p:spPr>
            <a:xfrm>
              <a:off x="3347864" y="2420888"/>
              <a:ext cx="2232248" cy="287255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Motor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ACA1AAB-E562-BBBE-6034-984F33D29084}"/>
                </a:ext>
              </a:extLst>
            </p:cNvPr>
            <p:cNvSpPr/>
            <p:nvPr/>
          </p:nvSpPr>
          <p:spPr>
            <a:xfrm>
              <a:off x="3347864" y="2708143"/>
              <a:ext cx="2232248" cy="752002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-</a:t>
              </a:r>
              <a:r>
                <a:rPr lang="pt-BR" sz="1800" dirty="0">
                  <a:solidFill>
                    <a:srgbClr val="000000"/>
                  </a:solidFill>
                </a:rPr>
                <a:t> potencia: </a:t>
              </a:r>
              <a:r>
                <a:rPr lang="pt-BR" sz="1800" dirty="0" err="1">
                  <a:solidFill>
                    <a:srgbClr val="000000"/>
                  </a:solidFill>
                </a:rPr>
                <a:t>String</a:t>
              </a:r>
              <a:endParaRPr lang="pt-BR" sz="1800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-</a:t>
              </a:r>
              <a:r>
                <a:rPr lang="pt-BR" sz="1800" dirty="0">
                  <a:solidFill>
                    <a:srgbClr val="000000"/>
                  </a:solidFill>
                </a:rPr>
                <a:t> </a:t>
              </a:r>
              <a:r>
                <a:rPr lang="pt-BR" sz="1800" dirty="0" err="1">
                  <a:solidFill>
                    <a:srgbClr val="000000"/>
                  </a:solidFill>
                </a:rPr>
                <a:t>combustivel</a:t>
              </a:r>
              <a:r>
                <a:rPr lang="pt-BR" sz="1800" dirty="0">
                  <a:solidFill>
                    <a:srgbClr val="000000"/>
                  </a:solidFill>
                </a:rPr>
                <a:t>: </a:t>
              </a:r>
              <a:r>
                <a:rPr lang="pt-BR" sz="1800" dirty="0" err="1">
                  <a:solidFill>
                    <a:srgbClr val="000000"/>
                  </a:solidFill>
                </a:rPr>
                <a:t>String</a:t>
              </a:r>
              <a:endParaRPr lang="pt-BR" sz="1800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-</a:t>
              </a:r>
              <a:r>
                <a:rPr lang="pt-BR" sz="1800" dirty="0">
                  <a:solidFill>
                    <a:srgbClr val="000000"/>
                  </a:solidFill>
                </a:rPr>
                <a:t> ligado: </a:t>
              </a:r>
              <a:r>
                <a:rPr lang="pt-BR" sz="1800" dirty="0" err="1">
                  <a:solidFill>
                    <a:srgbClr val="000000"/>
                  </a:solidFill>
                </a:rPr>
                <a:t>Boolean</a:t>
              </a:r>
              <a:endParaRPr lang="pt-BR" sz="1800" dirty="0">
                <a:solidFill>
                  <a:srgbClr val="000000"/>
                </a:solidFill>
              </a:endParaRP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800ED94-A327-0DDE-A6A8-726E7765EBA7}"/>
                </a:ext>
              </a:extLst>
            </p:cNvPr>
            <p:cNvSpPr/>
            <p:nvPr/>
          </p:nvSpPr>
          <p:spPr>
            <a:xfrm>
              <a:off x="3347864" y="3468319"/>
              <a:ext cx="2232248" cy="1165369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+ </a:t>
              </a:r>
              <a:r>
                <a:rPr lang="pt-BR" sz="1800" dirty="0">
                  <a:solidFill>
                    <a:srgbClr val="000000"/>
                  </a:solidFill>
                </a:rPr>
                <a:t>Motor()</a:t>
              </a:r>
              <a:endParaRPr lang="pt-BR" sz="1800" b="1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+</a:t>
              </a:r>
              <a:r>
                <a:rPr lang="pt-BR" sz="1800" dirty="0">
                  <a:solidFill>
                    <a:srgbClr val="000000"/>
                  </a:solidFill>
                </a:rPr>
                <a:t> </a:t>
              </a:r>
              <a:r>
                <a:rPr lang="pt-BR" sz="1800" dirty="0" err="1">
                  <a:solidFill>
                    <a:srgbClr val="000000"/>
                  </a:solidFill>
                </a:rPr>
                <a:t>GETs</a:t>
              </a:r>
              <a:r>
                <a:rPr lang="pt-BR" sz="1800" dirty="0">
                  <a:solidFill>
                    <a:srgbClr val="000000"/>
                  </a:solidFill>
                </a:rPr>
                <a:t>()</a:t>
              </a: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000000"/>
                  </a:solidFill>
                </a:rPr>
                <a:t>+</a:t>
              </a:r>
              <a:r>
                <a:rPr lang="pt-BR" sz="1800" dirty="0">
                  <a:solidFill>
                    <a:srgbClr val="000000"/>
                  </a:solidFill>
                </a:rPr>
                <a:t> </a:t>
              </a:r>
              <a:r>
                <a:rPr lang="pt-BR" sz="1800" dirty="0" err="1">
                  <a:solidFill>
                    <a:srgbClr val="000000"/>
                  </a:solidFill>
                </a:rPr>
                <a:t>SETs</a:t>
              </a:r>
              <a:r>
                <a:rPr lang="pt-BR" sz="1800" dirty="0">
                  <a:solidFill>
                    <a:srgbClr val="000000"/>
                  </a:solidFill>
                </a:rPr>
                <a:t>()</a:t>
              </a: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FF0000"/>
                  </a:solidFill>
                </a:rPr>
                <a:t>+ ligar()</a:t>
              </a:r>
            </a:p>
            <a:p>
              <a:pPr defTabSz="405960" eaLnBrk="1" hangingPunct="1">
                <a:defRPr/>
              </a:pPr>
              <a:r>
                <a:rPr lang="pt-BR" sz="1800" b="1" dirty="0">
                  <a:solidFill>
                    <a:srgbClr val="FF0000"/>
                  </a:solidFill>
                </a:rPr>
                <a:t>+ desligar()</a:t>
              </a:r>
            </a:p>
          </p:txBody>
        </p:sp>
      </p:grpSp>
      <p:cxnSp>
        <p:nvCxnSpPr>
          <p:cNvPr id="10" name="Conector reto 12">
            <a:extLst>
              <a:ext uri="{FF2B5EF4-FFF2-40B4-BE49-F238E27FC236}">
                <a16:creationId xmlns:a16="http://schemas.microsoft.com/office/drawing/2014/main" id="{EA021A86-5547-2F52-42B8-0B7A63151B92}"/>
              </a:ext>
            </a:extLst>
          </p:cNvPr>
          <p:cNvCxnSpPr>
            <a:cxnSpLocks noChangeShapeType="1"/>
            <a:stCxn id="8" idx="3"/>
            <a:endCxn id="4" idx="1"/>
          </p:cNvCxnSpPr>
          <p:nvPr/>
        </p:nvCxnSpPr>
        <p:spPr bwMode="auto">
          <a:xfrm>
            <a:off x="3058967" y="1995059"/>
            <a:ext cx="2816371" cy="913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A118C5CB-8484-940C-8F86-96A65D135F03}"/>
              </a:ext>
            </a:extLst>
          </p:cNvPr>
          <p:cNvSpPr txBox="1">
            <a:spLocks/>
          </p:cNvSpPr>
          <p:nvPr/>
        </p:nvSpPr>
        <p:spPr bwMode="auto">
          <a:xfrm>
            <a:off x="685800" y="3815623"/>
            <a:ext cx="7772400" cy="978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9pPr>
          </a:lstStyle>
          <a:p>
            <a:pPr eaLnBrk="1" hangingPunct="1"/>
            <a:r>
              <a:rPr lang="pt-BR" altLang="en-US" sz="2000" dirty="0">
                <a:solidFill>
                  <a:schemeClr val="tx1"/>
                </a:solidFill>
              </a:rPr>
              <a:t>Ao executar o método andar do carro, deve ser executado o método ligar do motor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68381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F6D5127-C1EC-5977-A0B3-CE5CC862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A675900-2754-BB9F-0B10-3DF59DFD2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Implementação da Classe ‘Motor’ em Java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D12C789-7339-C8C4-0191-40EF71238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584EC79-9256-F3CF-6552-AD3B9F37A3E7}"/>
              </a:ext>
            </a:extLst>
          </p:cNvPr>
          <p:cNvSpPr/>
          <p:nvPr/>
        </p:nvSpPr>
        <p:spPr>
          <a:xfrm>
            <a:off x="311700" y="1129553"/>
            <a:ext cx="8520600" cy="391757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pt-BR" sz="18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i="1" dirty="0">
                <a:latin typeface="Courier New" pitchFamily="49" charset="0"/>
                <a:cs typeface="Courier New" pitchFamily="49" charset="0"/>
              </a:rPr>
              <a:t>Motor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private</a:t>
            </a:r>
            <a:r>
              <a:rPr lang="pt-BR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GB" sz="18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potencia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private</a:t>
            </a:r>
            <a:r>
              <a:rPr lang="pt-BR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pt-BR" sz="18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ligado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pt-BR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i="1" dirty="0">
                <a:latin typeface="Courier New" pitchFamily="49" charset="0"/>
                <a:cs typeface="Courier New" pitchFamily="49" charset="0"/>
              </a:rPr>
              <a:t>Motor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(){  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GB" sz="18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Ligar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{  </a:t>
            </a:r>
          </a:p>
          <a:p>
            <a:pPr>
              <a:defRPr/>
            </a:pPr>
            <a:r>
              <a:rPr lang="en-GB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		 </a:t>
            </a:r>
            <a:r>
              <a:rPr lang="en-GB" sz="18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ligado</a:t>
            </a:r>
            <a:r>
              <a:rPr lang="en-GB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pt-BR" sz="18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	 SOUT(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“Motor </a:t>
            </a:r>
            <a:r>
              <a:rPr lang="en-GB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Ligado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!”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GB" sz="18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Desligar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{  </a:t>
            </a:r>
          </a:p>
          <a:p>
            <a:pPr>
              <a:defRPr/>
            </a:pPr>
            <a:r>
              <a:rPr lang="en-GB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		 </a:t>
            </a:r>
            <a:r>
              <a:rPr lang="en-GB" sz="18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ligado</a:t>
            </a:r>
            <a:r>
              <a:rPr lang="en-GB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pt-BR" sz="18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	 SOUT(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“Motor </a:t>
            </a:r>
            <a:r>
              <a:rPr lang="en-GB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Desligado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!”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GB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17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738B16A-3B28-EF76-BD1C-83234BAB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0A94EF8-1F11-20C5-27DA-D31247688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Implementação da Classe ‘Carro’ em Java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F3AF38B0-9703-C9FE-D9C2-98CAFF82F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C6E4501-DC38-6522-6609-F11761204C8F}"/>
              </a:ext>
            </a:extLst>
          </p:cNvPr>
          <p:cNvSpPr/>
          <p:nvPr/>
        </p:nvSpPr>
        <p:spPr>
          <a:xfrm>
            <a:off x="311700" y="1129553"/>
            <a:ext cx="8520600" cy="391757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pt-BR" sz="18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i="1" dirty="0">
                <a:latin typeface="Courier New" pitchFamily="49" charset="0"/>
                <a:cs typeface="Courier New" pitchFamily="49" charset="0"/>
              </a:rPr>
              <a:t>Carro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private</a:t>
            </a:r>
            <a:r>
              <a:rPr lang="pt-BR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GB" sz="18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modelo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private</a:t>
            </a:r>
            <a:r>
              <a:rPr lang="pt-BR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Motor</a:t>
            </a:r>
            <a:r>
              <a:rPr lang="pt-BR" sz="18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i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motor</a:t>
            </a: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pt-BR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Motor()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pt-BR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i="1" dirty="0">
                <a:latin typeface="Courier New" pitchFamily="49" charset="0"/>
                <a:cs typeface="Courier New" pitchFamily="49" charset="0"/>
              </a:rPr>
              <a:t>Carro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(){  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Andar()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{  </a:t>
            </a:r>
          </a:p>
          <a:p>
            <a:pPr>
              <a:defRPr/>
            </a:pPr>
            <a:r>
              <a:rPr lang="en-GB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		 </a:t>
            </a:r>
            <a:r>
              <a:rPr lang="en-GB" sz="18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motor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8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Ligar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	 SOUT(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“Carro </a:t>
            </a:r>
            <a:r>
              <a:rPr lang="en-GB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Andando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...”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Parar()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{  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	 SOUT(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“Carro </a:t>
            </a:r>
            <a:r>
              <a:rPr lang="en-GB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Parando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...”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		 </a:t>
            </a:r>
            <a:r>
              <a:rPr lang="en-GB" sz="18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motor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8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Desligar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GB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79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1B9316D-1B21-E5AC-4298-DEEA38A9E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BFE311D-92BA-0A42-C27D-AF4BFF6DC0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Implementação da Classe ‘Carro’ em Java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EE46CF1-6974-1C68-C217-1E6C9BF76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5881079-2DE6-519D-5352-2A2E3346F79D}"/>
              </a:ext>
            </a:extLst>
          </p:cNvPr>
          <p:cNvSpPr/>
          <p:nvPr/>
        </p:nvSpPr>
        <p:spPr>
          <a:xfrm>
            <a:off x="311700" y="1129553"/>
            <a:ext cx="8520600" cy="391757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pt-BR" sz="18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i="1" dirty="0">
                <a:latin typeface="Courier New" pitchFamily="49" charset="0"/>
                <a:cs typeface="Courier New" pitchFamily="49" charset="0"/>
              </a:rPr>
              <a:t>Carro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private</a:t>
            </a:r>
            <a:r>
              <a:rPr lang="pt-BR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GB" sz="18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modelo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private</a:t>
            </a:r>
            <a:r>
              <a:rPr lang="pt-BR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Motor</a:t>
            </a:r>
            <a:r>
              <a:rPr lang="pt-BR" sz="18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i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motor</a:t>
            </a: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pt-BR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Motor()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pt-BR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i="1" dirty="0">
                <a:latin typeface="Courier New" pitchFamily="49" charset="0"/>
                <a:cs typeface="Courier New" pitchFamily="49" charset="0"/>
              </a:rPr>
              <a:t>Carro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(){  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Andar()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{  </a:t>
            </a:r>
          </a:p>
          <a:p>
            <a:pPr>
              <a:defRPr/>
            </a:pPr>
            <a:r>
              <a:rPr lang="en-GB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		 </a:t>
            </a:r>
            <a:r>
              <a:rPr lang="en-GB" sz="18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motor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8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Ligar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	 SOUT(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“Carro </a:t>
            </a:r>
            <a:r>
              <a:rPr lang="en-GB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Andando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...”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sz="18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public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Parar()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{  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	 SOUT(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“Carro </a:t>
            </a:r>
            <a:r>
              <a:rPr lang="en-GB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Parando</a:t>
            </a:r>
            <a:r>
              <a:rPr lang="en-GB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...”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		 </a:t>
            </a:r>
            <a:r>
              <a:rPr lang="en-GB" sz="18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motor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8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Desligar</a:t>
            </a:r>
            <a:r>
              <a:rPr lang="en-GB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GB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exto explicativo retangular com cantos arredondados 10">
            <a:extLst>
              <a:ext uri="{FF2B5EF4-FFF2-40B4-BE49-F238E27FC236}">
                <a16:creationId xmlns:a16="http://schemas.microsoft.com/office/drawing/2014/main" id="{7D054F96-941F-17EA-E064-3C64D973CE72}"/>
              </a:ext>
            </a:extLst>
          </p:cNvPr>
          <p:cNvSpPr/>
          <p:nvPr/>
        </p:nvSpPr>
        <p:spPr bwMode="auto">
          <a:xfrm>
            <a:off x="5865907" y="3358130"/>
            <a:ext cx="2904565" cy="657412"/>
          </a:xfrm>
          <a:prstGeom prst="wedgeRoundRectCallout">
            <a:avLst>
              <a:gd name="adj1" fmla="val -76994"/>
              <a:gd name="adj2" fmla="val 106409"/>
              <a:gd name="adj3" fmla="val 16667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pt-BR" sz="1600" b="1" dirty="0">
                <a:latin typeface="+mj-lt"/>
              </a:rPr>
              <a:t>Executa o Método </a:t>
            </a:r>
          </a:p>
          <a:p>
            <a:pPr algn="ctr" eaLnBrk="1" hangingPunct="1">
              <a:defRPr/>
            </a:pPr>
            <a:r>
              <a:rPr lang="pt-BR" sz="1600" b="1" dirty="0">
                <a:latin typeface="+mj-lt"/>
              </a:rPr>
              <a:t>‘Desligar’ da classe ‘Motor’</a:t>
            </a:r>
          </a:p>
        </p:txBody>
      </p:sp>
      <p:sp>
        <p:nvSpPr>
          <p:cNvPr id="4" name="Texto explicativo retangular com cantos arredondados 11">
            <a:extLst>
              <a:ext uri="{FF2B5EF4-FFF2-40B4-BE49-F238E27FC236}">
                <a16:creationId xmlns:a16="http://schemas.microsoft.com/office/drawing/2014/main" id="{339DBAB8-9E21-DA37-8CC4-2953AFC39FFD}"/>
              </a:ext>
            </a:extLst>
          </p:cNvPr>
          <p:cNvSpPr/>
          <p:nvPr/>
        </p:nvSpPr>
        <p:spPr bwMode="auto">
          <a:xfrm>
            <a:off x="5865907" y="1251593"/>
            <a:ext cx="2441575" cy="655025"/>
          </a:xfrm>
          <a:prstGeom prst="wedgeRoundRectCallout">
            <a:avLst>
              <a:gd name="adj1" fmla="val -66836"/>
              <a:gd name="adj2" fmla="val 46931"/>
              <a:gd name="adj3" fmla="val 16667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pt-BR" sz="1600" b="1" dirty="0">
                <a:latin typeface="+mj-lt"/>
              </a:rPr>
              <a:t>Declara um atributo do </a:t>
            </a:r>
          </a:p>
          <a:p>
            <a:pPr algn="ctr" eaLnBrk="1" hangingPunct="1">
              <a:defRPr/>
            </a:pPr>
            <a:r>
              <a:rPr lang="pt-BR" sz="1600" b="1" dirty="0">
                <a:latin typeface="+mj-lt"/>
              </a:rPr>
              <a:t>tipo da classe ‘Motor’</a:t>
            </a:r>
          </a:p>
        </p:txBody>
      </p:sp>
      <p:sp>
        <p:nvSpPr>
          <p:cNvPr id="5" name="Texto explicativo retangular com cantos arredondados 9">
            <a:extLst>
              <a:ext uri="{FF2B5EF4-FFF2-40B4-BE49-F238E27FC236}">
                <a16:creationId xmlns:a16="http://schemas.microsoft.com/office/drawing/2014/main" id="{89AE40D7-AFE4-DB0A-57A8-DF2A3663FBC4}"/>
              </a:ext>
            </a:extLst>
          </p:cNvPr>
          <p:cNvSpPr/>
          <p:nvPr/>
        </p:nvSpPr>
        <p:spPr bwMode="auto">
          <a:xfrm>
            <a:off x="5865907" y="2384872"/>
            <a:ext cx="2650564" cy="607268"/>
          </a:xfrm>
          <a:prstGeom prst="wedgeRoundRectCallout">
            <a:avLst>
              <a:gd name="adj1" fmla="val -108449"/>
              <a:gd name="adj2" fmla="val 35947"/>
              <a:gd name="adj3" fmla="val 16667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pt-BR" sz="1600" b="1" dirty="0">
                <a:latin typeface="+mj-lt"/>
              </a:rPr>
              <a:t>Executa o Método </a:t>
            </a:r>
          </a:p>
          <a:p>
            <a:pPr algn="ctr" eaLnBrk="1" hangingPunct="1">
              <a:defRPr/>
            </a:pPr>
            <a:r>
              <a:rPr lang="pt-BR" sz="1600" b="1" dirty="0">
                <a:latin typeface="+mj-lt"/>
              </a:rPr>
              <a:t>‘Ligar’ da classe ‘Motor’</a:t>
            </a:r>
          </a:p>
        </p:txBody>
      </p:sp>
    </p:spTree>
    <p:extLst>
      <p:ext uri="{BB962C8B-B14F-4D97-AF65-F5344CB8AC3E}">
        <p14:creationId xmlns:p14="http://schemas.microsoft.com/office/powerpoint/2010/main" val="260058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42138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1063425" y="1152475"/>
            <a:ext cx="421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7" name="Google Shape;67;p12"/>
          <p:cNvPicPr preferRelativeResize="0"/>
          <p:nvPr/>
        </p:nvPicPr>
        <p:blipFill rotWithShape="1">
          <a:blip r:embed="rId3">
            <a:alphaModFix/>
          </a:blip>
          <a:srcRect l="39044" t="-230" r="26203" b="230"/>
          <a:stretch/>
        </p:blipFill>
        <p:spPr>
          <a:xfrm>
            <a:off x="5476200" y="0"/>
            <a:ext cx="3667799" cy="5143499"/>
          </a:xfrm>
          <a:prstGeom prst="rect">
            <a:avLst/>
          </a:prstGeom>
          <a:noFill/>
          <a:ln>
            <a:noFill/>
          </a:ln>
          <a:effectLst>
            <a:outerShdw blurRad="57150" dist="19050" dir="120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486</Words>
  <Application>Microsoft Office PowerPoint</Application>
  <PresentationFormat>Apresentação na tela (16:9)</PresentationFormat>
  <Paragraphs>92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Impact</vt:lpstr>
      <vt:lpstr>Simple Light</vt:lpstr>
      <vt:lpstr>POO – Mensagens entre Classes</vt:lpstr>
      <vt:lpstr>Tópicos da Aula</vt:lpstr>
      <vt:lpstr>Mensagem entre Classes</vt:lpstr>
      <vt:lpstr>Mensagem entre Classes</vt:lpstr>
      <vt:lpstr>Mensagens e Métodos</vt:lpstr>
      <vt:lpstr>Representação Gráfica das Classes</vt:lpstr>
      <vt:lpstr>Implementação da Classe ‘Motor’ em Java</vt:lpstr>
      <vt:lpstr>Implementação da Classe ‘Carro’ em Java</vt:lpstr>
      <vt:lpstr>Implementação da Classe ‘Carro’ em Java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3</cp:revision>
  <dcterms:modified xsi:type="dcterms:W3CDTF">2026-04-27T01:29:00Z</dcterms:modified>
</cp:coreProperties>
</file>