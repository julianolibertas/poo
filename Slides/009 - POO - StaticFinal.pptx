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4" r:id="rId1"/>
  </p:sldMasterIdLst>
  <p:notesMasterIdLst>
    <p:notesMasterId r:id="rId20"/>
  </p:notesMasterIdLst>
  <p:sldIdLst>
    <p:sldId id="256" r:id="rId2"/>
    <p:sldId id="258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82" r:id="rId14"/>
    <p:sldId id="272" r:id="rId15"/>
    <p:sldId id="273" r:id="rId16"/>
    <p:sldId id="274" r:id="rId17"/>
    <p:sldId id="275" r:id="rId18"/>
    <p:sldId id="261" r:id="rId1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5" d="100"/>
          <a:sy n="125" d="100"/>
        </p:scale>
        <p:origin x="90" y="31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" name="Google Shape;4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F08FC007-8FAE-E7B1-3342-CFF9C152B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B2F2FB84-180A-FE20-D787-71B4F7D8C5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D03FFAED-4469-5032-928E-709CCD457E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484603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A78F0661-BF27-667C-4E7E-B09A895B9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2C625ACC-BE44-DF00-2808-1346F8E017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02A23B52-1335-8ACC-A0B7-80BA67C0D4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377423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9C4DAD1C-D291-A522-5D0A-12EB36164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CA0D6F62-4461-3583-FF1B-C28D5C570C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B1E9ACC2-8B02-89D7-A344-8E3EAA082B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176598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A45EAD50-AC28-A47B-996B-FDC231957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8081FBE2-146E-1397-D651-E4A58AA564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151B185C-71CD-C215-69D6-B02577B708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254207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21294E5E-D64A-F2A4-C00A-E64190507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9D93948E-F42A-C92D-E37A-0A67023853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B05293E2-EB9B-CF9A-2FF3-6E0D0A0348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762094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822A3426-1A72-B699-9059-0D48FA71D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91B52C68-D157-E7DE-4318-60DD299ADC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8A1D25F6-D3CB-253F-A331-71ADD8274F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316729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F2E6C28B-EEAB-F7CC-CA98-D81358F0A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580C9EF3-B40F-562E-C0D2-26FD2B72C3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EEF8A426-C3D5-7033-9706-554CFBD41E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632620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BEF668B8-4869-9CC5-BBED-B5CBBFDD2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AC95564F-8432-DE04-FA43-271E48676D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BB09509D-9F85-BB3B-E223-E84F22C980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372568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A2E6B396-C847-1C6E-C7D6-BEDE1485A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04A3329A-8D66-AD75-9F67-B29DF341DA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245BCF40-6033-E7D0-244F-1896801A09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382673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58238188-67EE-847A-7BE4-75A22A5B2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B0FF46FC-B9B8-3151-2157-6700DB275F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FB0F097B-F5E0-C4D8-167D-DCAFB56808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384688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4187B7A5-E460-A404-9028-4A0AB48EA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91DBFD11-F600-DB18-A6E4-51215287BC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FCAA2F5A-ECA8-DC9B-7FAF-D6F0BE466F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582101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4B39BBF9-4F53-78A7-5FD6-8ED0AAEC7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13C8D65F-9B96-9EF8-D8E7-2EC4DB6AB3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F59C46E1-BB87-A0FF-D795-AE152F5B9F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788737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F301CD36-0C75-739E-9E94-F661D0A27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935C1936-9668-50EE-A558-01E918AE9A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C1C4855A-DB75-F4C7-091D-80F29E988F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4583237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599B321A-5483-3864-1A62-0431FE1E4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3D9C27EF-DA18-1A97-222F-6634B63A25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34314275-5A6B-4824-91AE-63E4837D8E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7664020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A8B341B1-FA42-C1F4-F265-2A3DBDE06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15256035-70A7-449F-7F7B-9CA8F0E322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04A2677D-61AF-D555-431E-5AD1DDBFE0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3896720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af032c298c_0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af032c298c_0_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 title="Sem título-1.jpg"/>
          <p:cNvPicPr preferRelativeResize="0"/>
          <p:nvPr/>
        </p:nvPicPr>
        <p:blipFill rotWithShape="1">
          <a:blip r:embed="rId2">
            <a:alphaModFix/>
          </a:blip>
          <a:srcRect l="11705" t="17901" r="9894" b="15970"/>
          <a:stretch/>
        </p:blipFill>
        <p:spPr>
          <a:xfrm>
            <a:off x="0" y="0"/>
            <a:ext cx="9143997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1690375" y="1598750"/>
            <a:ext cx="5642700" cy="144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841C39"/>
              </a:buClr>
              <a:buSzPts val="4000"/>
              <a:buFont typeface="Impact"/>
              <a:buNone/>
              <a:defRPr sz="4000">
                <a:solidFill>
                  <a:srgbClr val="841C39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1181851" y="2871416"/>
            <a:ext cx="67803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14" name="Google Shape;14;p2" title="Logo Libertas 185x7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25388" y="4068275"/>
            <a:ext cx="2172676" cy="88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841C39"/>
              </a:buClr>
              <a:buSzPts val="2800"/>
              <a:buNone/>
              <a:defRPr>
                <a:solidFill>
                  <a:srgbClr val="841C3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400"/>
              <a:buChar char="●"/>
              <a:defRPr sz="2400">
                <a:solidFill>
                  <a:srgbClr val="3C5258"/>
                </a:solidFill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Char char="○"/>
              <a:defRPr sz="2000">
                <a:solidFill>
                  <a:srgbClr val="3C5258"/>
                </a:solidFill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Char char="■"/>
              <a:defRPr sz="2000">
                <a:solidFill>
                  <a:srgbClr val="3C5258"/>
                </a:solidFill>
              </a:defRPr>
            </a:lvl3pPr>
            <a:lvl4pPr marL="1828800" lvl="3" indent="-3556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Char char="●"/>
              <a:defRPr sz="2000">
                <a:solidFill>
                  <a:srgbClr val="3C5258"/>
                </a:solidFill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Char char="○"/>
              <a:defRPr sz="2000">
                <a:solidFill>
                  <a:srgbClr val="3C5258"/>
                </a:solidFill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Char char="■"/>
              <a:defRPr sz="2000">
                <a:solidFill>
                  <a:srgbClr val="3C5258"/>
                </a:solidFill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Char char="●"/>
              <a:defRPr sz="2000">
                <a:solidFill>
                  <a:srgbClr val="3C5258"/>
                </a:solidFill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Char char="○"/>
              <a:defRPr sz="2000">
                <a:solidFill>
                  <a:srgbClr val="3C5258"/>
                </a:solidFill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Char char="■"/>
              <a:defRPr sz="2000">
                <a:solidFill>
                  <a:srgbClr val="3C5258"/>
                </a:solidFill>
              </a:defRPr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4" name="Google Shape;24;p4" title="Sem título-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7437998" y="3437502"/>
            <a:ext cx="1311675" cy="210032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5" name="Google Shape;25;p4" title="Logo Libertas 185x7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607" y="4568524"/>
            <a:ext cx="1410280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37" name="Google Shape;37;p7" title="Logo Libertas 185x7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66869" y="4576649"/>
            <a:ext cx="1410280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7" title="Sem título-1.png"/>
          <p:cNvPicPr preferRelativeResize="0"/>
          <p:nvPr/>
        </p:nvPicPr>
        <p:blipFill rotWithShape="1">
          <a:blip r:embed="rId4">
            <a:alphaModFix/>
          </a:blip>
          <a:srcRect t="7114" r="22779"/>
          <a:stretch/>
        </p:blipFill>
        <p:spPr>
          <a:xfrm>
            <a:off x="6936925" y="0"/>
            <a:ext cx="2207074" cy="4251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3" r:id="rId3"/>
  </p:sldLayoutIdLst>
  <p:transition spd="med">
    <p:fade thruBlk="1"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ctrTitle"/>
          </p:nvPr>
        </p:nvSpPr>
        <p:spPr>
          <a:xfrm>
            <a:off x="1690375" y="1598750"/>
            <a:ext cx="5642700" cy="144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POO – Modificadores “</a:t>
            </a:r>
            <a:r>
              <a:rPr lang="pt-BR" dirty="0" err="1"/>
              <a:t>static</a:t>
            </a:r>
            <a:r>
              <a:rPr lang="pt-BR" dirty="0"/>
              <a:t>” e “final”</a:t>
            </a:r>
            <a:endParaRPr dirty="0"/>
          </a:p>
        </p:txBody>
      </p:sp>
      <p:sp>
        <p:nvSpPr>
          <p:cNvPr id="44" name="Google Shape;44;p8"/>
          <p:cNvSpPr txBox="1">
            <a:spLocks noGrp="1"/>
          </p:cNvSpPr>
          <p:nvPr>
            <p:ph type="subTitle" idx="1"/>
          </p:nvPr>
        </p:nvSpPr>
        <p:spPr>
          <a:xfrm>
            <a:off x="1181851" y="2871416"/>
            <a:ext cx="67803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Tópicos da Aula</a:t>
            </a:r>
            <a:endParaRPr dirty="0"/>
          </a:p>
        </p:txBody>
      </p:sp>
      <p:sp>
        <p:nvSpPr>
          <p:cNvPr id="55" name="Google Shape;55;p1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dirty="0"/>
              <a:t>Modificador de acesso “</a:t>
            </a:r>
            <a:r>
              <a:rPr lang="pt-BR" dirty="0" err="1"/>
              <a:t>static</a:t>
            </a:r>
            <a:r>
              <a:rPr lang="pt-BR" dirty="0"/>
              <a:t>”</a:t>
            </a:r>
          </a:p>
          <a:p>
            <a:pPr marL="457200" lvl="1" indent="0">
              <a:spcAft>
                <a:spcPts val="1200"/>
              </a:spcAft>
              <a:buNone/>
            </a:pPr>
            <a:r>
              <a:rPr lang="pt-BR" dirty="0"/>
              <a:t>Atributos estáticos</a:t>
            </a:r>
            <a:br>
              <a:rPr lang="pt-BR" dirty="0"/>
            </a:br>
            <a:r>
              <a:rPr lang="pt-BR" dirty="0"/>
              <a:t>	Atributos estáticos em Java</a:t>
            </a:r>
            <a:br>
              <a:rPr lang="pt-BR" dirty="0"/>
            </a:br>
            <a:r>
              <a:rPr lang="pt-BR" dirty="0"/>
              <a:t>Métodos estáticos	</a:t>
            </a:r>
            <a:br>
              <a:rPr lang="pt-BR" dirty="0"/>
            </a:br>
            <a:r>
              <a:rPr lang="pt-BR" dirty="0"/>
              <a:t>	Métodos estáticos em Java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dirty="0"/>
              <a:t>Modificador de acesso “final”</a:t>
            </a:r>
          </a:p>
          <a:p>
            <a:pPr marL="457200" lvl="1" indent="0">
              <a:spcAft>
                <a:spcPts val="1200"/>
              </a:spcAft>
              <a:buNone/>
            </a:pPr>
            <a:r>
              <a:rPr lang="pt-BR" dirty="0"/>
              <a:t>Atributos finais</a:t>
            </a:r>
            <a:br>
              <a:rPr lang="pt-BR" dirty="0"/>
            </a:br>
            <a:r>
              <a:rPr lang="pt-BR" dirty="0"/>
              <a:t>	Atributos finais em Java</a:t>
            </a:r>
            <a:br>
              <a:rPr lang="pt-BR" dirty="0"/>
            </a:br>
            <a:r>
              <a:rPr lang="pt-BR" dirty="0"/>
              <a:t>Métodos finais</a:t>
            </a:r>
            <a:br>
              <a:rPr lang="pt-BR" dirty="0"/>
            </a:br>
            <a:r>
              <a:rPr lang="pt-BR" dirty="0"/>
              <a:t>Classes finais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90DF4CA4-20E6-CE96-1F4B-C18155531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7743FDA2-23AF-8209-7D40-90DFD356474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Modificador de acesso “</a:t>
            </a:r>
            <a:r>
              <a:rPr lang="pt-BR" dirty="0" err="1"/>
              <a:t>static</a:t>
            </a:r>
            <a:r>
              <a:rPr lang="pt-BR" dirty="0"/>
              <a:t>”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EB795665-B2A3-12A8-730C-FDE68890D8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eaLnBrk="1" hangingPunct="1"/>
            <a:r>
              <a:rPr lang="pt-BR" altLang="pt-BR" b="1" u="sng" dirty="0"/>
              <a:t>Atributos estáticos:</a:t>
            </a:r>
            <a:endParaRPr lang="pt-BR" altLang="pt-BR" sz="1400" b="1" u="sng" dirty="0"/>
          </a:p>
          <a:p>
            <a:pPr lvl="1" eaLnBrk="1" hangingPunct="1"/>
            <a:r>
              <a:rPr lang="pt-BR" altLang="pt-BR" dirty="0"/>
              <a:t>Quando temos um </a:t>
            </a:r>
            <a:r>
              <a:rPr lang="pt-BR" altLang="pt-BR" b="1" dirty="0">
                <a:solidFill>
                  <a:srgbClr val="0000CC"/>
                </a:solidFill>
              </a:rPr>
              <a:t>atributo estático </a:t>
            </a:r>
            <a:r>
              <a:rPr lang="pt-BR" altLang="pt-BR" dirty="0"/>
              <a:t>dentro de uma classe, este atributo </a:t>
            </a:r>
            <a:r>
              <a:rPr lang="pt-BR" altLang="pt-BR" b="1" dirty="0">
                <a:solidFill>
                  <a:srgbClr val="FF0000"/>
                </a:solidFill>
              </a:rPr>
              <a:t>será único </a:t>
            </a:r>
            <a:r>
              <a:rPr lang="pt-BR" altLang="pt-BR" dirty="0"/>
              <a:t>para </a:t>
            </a:r>
            <a:r>
              <a:rPr lang="pt-BR" altLang="pt-BR" b="1" dirty="0">
                <a:solidFill>
                  <a:srgbClr val="0000CC"/>
                </a:solidFill>
              </a:rPr>
              <a:t>todos os objetos</a:t>
            </a:r>
            <a:r>
              <a:rPr lang="pt-BR" altLang="pt-BR" dirty="0"/>
              <a:t> instanciados a partir desta classe.</a:t>
            </a:r>
          </a:p>
          <a:p>
            <a:pPr lvl="1" eaLnBrk="1" hangingPunct="1"/>
            <a:endParaRPr lang="pt-BR" altLang="pt-BR" sz="1400" dirty="0"/>
          </a:p>
          <a:p>
            <a:pPr lvl="1" eaLnBrk="1" hangingPunct="1"/>
            <a:r>
              <a:rPr lang="pt-BR" altLang="pt-BR" b="1" dirty="0">
                <a:solidFill>
                  <a:srgbClr val="FF0000"/>
                </a:solidFill>
              </a:rPr>
              <a:t>Podem ser acessados diretamente</a:t>
            </a:r>
            <a:r>
              <a:rPr lang="pt-BR" altLang="pt-BR" dirty="0"/>
              <a:t> a </a:t>
            </a:r>
            <a:r>
              <a:rPr lang="pt-BR" altLang="pt-BR" b="1" dirty="0">
                <a:solidFill>
                  <a:srgbClr val="0000CC"/>
                </a:solidFill>
              </a:rPr>
              <a:t>partir da classe</a:t>
            </a:r>
            <a:r>
              <a:rPr lang="pt-BR" altLang="pt-BR" dirty="0"/>
              <a:t>. </a:t>
            </a:r>
          </a:p>
          <a:p>
            <a:pPr lvl="2" eaLnBrk="1" hangingPunct="1"/>
            <a:r>
              <a:rPr lang="pt-BR" altLang="pt-BR" sz="1800" dirty="0"/>
              <a:t>Portanto, não é preciso criar uma instância (objeto) da classe. </a:t>
            </a:r>
          </a:p>
          <a:p>
            <a:pPr lvl="2" eaLnBrk="1" hangingPunct="1"/>
            <a:endParaRPr lang="pt-BR" altLang="pt-BR" sz="1400" dirty="0"/>
          </a:p>
          <a:p>
            <a:pPr lvl="1" eaLnBrk="1" hangingPunct="1"/>
            <a:r>
              <a:rPr lang="pt-BR" altLang="pt-BR" b="1" dirty="0">
                <a:solidFill>
                  <a:srgbClr val="FF0000"/>
                </a:solidFill>
              </a:rPr>
              <a:t>Devem ser utilizados </a:t>
            </a:r>
            <a:r>
              <a:rPr lang="pt-BR" altLang="pt-BR" dirty="0"/>
              <a:t>quando for necessário compartilhar um valor entre todas as instâncias da classe. </a:t>
            </a:r>
          </a:p>
          <a:p>
            <a:pPr lvl="2" eaLnBrk="1" hangingPunct="1"/>
            <a:r>
              <a:rPr lang="pt-BR" altLang="pt-BR" sz="1800" dirty="0"/>
              <a:t>Desta forma, a variável será alocada apenas uma vez na memória.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650983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D77979EB-B0F4-5BF1-3840-C299E9605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02938653-927B-7877-3FAC-CE8DDDE97D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pt-BR" altLang="pt-BR" dirty="0"/>
              <a:t>Atributos estáticos em Java</a:t>
            </a:r>
            <a:endParaRPr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F130D97-AF43-9558-2E9E-EDFE02CCE9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82F0DE88-5E66-69E5-386A-BDD57AD9A735}"/>
              </a:ext>
            </a:extLst>
          </p:cNvPr>
          <p:cNvSpPr/>
          <p:nvPr/>
        </p:nvSpPr>
        <p:spPr>
          <a:xfrm>
            <a:off x="311700" y="1152475"/>
            <a:ext cx="8520600" cy="354600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defRPr/>
            </a:pPr>
            <a:r>
              <a:rPr lang="en-GB" sz="1600" b="1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lang="pt-BR" sz="1600" b="1" dirty="0" err="1">
                <a:solidFill>
                  <a:srgbClr val="0505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pt-BR" sz="1600" b="1" dirty="0">
                <a:solidFill>
                  <a:srgbClr val="0505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6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Conta</a:t>
            </a:r>
            <a:r>
              <a:rPr lang="en-GB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>
              <a:defRPr/>
            </a:pPr>
            <a:r>
              <a:rPr lang="en-GB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GB" sz="1600" b="1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 </a:t>
            </a:r>
            <a:r>
              <a:rPr lang="en-GB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String </a:t>
            </a:r>
            <a:r>
              <a:rPr lang="en-GB" sz="1600" b="1" i="1" dirty="0" err="1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dono</a:t>
            </a:r>
            <a:r>
              <a:rPr lang="en-GB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defRPr/>
            </a:pPr>
            <a:r>
              <a:rPr lang="en-GB" sz="1600" b="1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private double</a:t>
            </a:r>
            <a:r>
              <a:rPr lang="pt-BR" sz="1600" b="1" dirty="0">
                <a:solidFill>
                  <a:srgbClr val="0505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600" b="1" i="1" dirty="0" err="1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saldo</a:t>
            </a:r>
            <a:r>
              <a:rPr lang="en-GB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defRPr/>
            </a:pPr>
            <a:r>
              <a:rPr lang="pt-BR" sz="1600" b="1" dirty="0">
                <a:solidFill>
                  <a:srgbClr val="0505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GB" sz="1600" b="1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 double</a:t>
            </a:r>
            <a:r>
              <a:rPr lang="pt-BR" sz="1600" b="1" dirty="0">
                <a:solidFill>
                  <a:srgbClr val="0505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600" b="1" i="1" dirty="0" err="1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limite</a:t>
            </a:r>
            <a:r>
              <a:rPr lang="en-GB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defRPr/>
            </a:pPr>
            <a:r>
              <a:rPr lang="en-GB" sz="1600" b="1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public </a:t>
            </a:r>
            <a:r>
              <a:rPr lang="en-GB" sz="16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Conta</a:t>
            </a:r>
            <a:r>
              <a:rPr lang="en-GB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(){  </a:t>
            </a:r>
          </a:p>
          <a:p>
            <a:pPr>
              <a:defRPr/>
            </a:pPr>
            <a:r>
              <a:rPr lang="en-GB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</a:p>
          <a:p>
            <a:pPr>
              <a:defRPr/>
            </a:pPr>
            <a:r>
              <a:rPr lang="en-GB" sz="1600" b="1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public </a:t>
            </a:r>
            <a:r>
              <a:rPr lang="en-GB" sz="16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Conta</a:t>
            </a:r>
            <a:r>
              <a:rPr lang="en-GB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(String </a:t>
            </a:r>
            <a:r>
              <a:rPr lang="en-GB" sz="1600" b="1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dono</a:t>
            </a:r>
            <a:r>
              <a:rPr lang="en-GB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pt-BR" sz="1600" b="1" dirty="0" err="1">
                <a:solidFill>
                  <a:srgbClr val="0505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GB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600" b="1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saldo</a:t>
            </a:r>
            <a:r>
              <a:rPr lang="en-GB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   </a:t>
            </a:r>
          </a:p>
          <a:p>
            <a:pPr>
              <a:defRPr/>
            </a:pPr>
            <a:r>
              <a:rPr lang="en-GB" sz="1600" b="1" dirty="0">
                <a:solidFill>
                  <a:srgbClr val="0505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</a:t>
            </a:r>
            <a:r>
              <a:rPr lang="pt-BR" sz="1600" b="1" dirty="0" err="1">
                <a:solidFill>
                  <a:srgbClr val="0505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pt-BR" sz="1600" b="1" dirty="0">
                <a:solidFill>
                  <a:srgbClr val="0505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600" b="1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limite</a:t>
            </a:r>
            <a:r>
              <a:rPr lang="en-GB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){  </a:t>
            </a:r>
          </a:p>
          <a:p>
            <a:pPr>
              <a:defRPr/>
            </a:pPr>
            <a:r>
              <a:rPr lang="en-GB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 </a:t>
            </a:r>
            <a:r>
              <a:rPr lang="pt-BR" sz="1600" b="1" dirty="0" err="1">
                <a:solidFill>
                  <a:srgbClr val="0505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pt-BR" sz="1600" b="1" dirty="0">
                <a:solidFill>
                  <a:srgbClr val="0505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GB" sz="1600" b="1" dirty="0" err="1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dono</a:t>
            </a:r>
            <a:r>
              <a:rPr lang="en-GB" sz="1600" b="1" i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GB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dono</a:t>
            </a:r>
            <a:r>
              <a:rPr lang="en-GB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defRPr/>
            </a:pPr>
            <a:r>
              <a:rPr lang="en-GB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 </a:t>
            </a:r>
            <a:r>
              <a:rPr lang="pt-BR" sz="1600" b="1" dirty="0" err="1">
                <a:solidFill>
                  <a:srgbClr val="0505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pt-BR" sz="1600" b="1" dirty="0">
                <a:solidFill>
                  <a:srgbClr val="0505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GB" sz="1600" b="1" dirty="0" err="1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numero</a:t>
            </a:r>
            <a:r>
              <a:rPr lang="en-GB" sz="1600" b="1" i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GB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numero</a:t>
            </a:r>
            <a:r>
              <a:rPr lang="en-GB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defRPr/>
            </a:pPr>
            <a:r>
              <a:rPr lang="en-GB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 </a:t>
            </a:r>
            <a:r>
              <a:rPr lang="pt-BR" sz="1600" b="1" dirty="0" err="1">
                <a:solidFill>
                  <a:srgbClr val="0505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pt-BR" sz="1600" b="1" dirty="0">
                <a:solidFill>
                  <a:srgbClr val="0505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GB" sz="1600" b="1" dirty="0" err="1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saldo</a:t>
            </a:r>
            <a:r>
              <a:rPr lang="en-GB" sz="1600" b="1" i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GB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saldo</a:t>
            </a:r>
            <a:r>
              <a:rPr lang="en-GB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defRPr/>
            </a:pPr>
            <a:r>
              <a:rPr lang="en-GB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 </a:t>
            </a:r>
            <a:r>
              <a:rPr lang="pt-BR" sz="1600" b="1" dirty="0" err="1">
                <a:solidFill>
                  <a:srgbClr val="0505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pt-BR" sz="1600" b="1" dirty="0">
                <a:solidFill>
                  <a:srgbClr val="0505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GB" sz="1600" b="1" dirty="0" err="1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limite</a:t>
            </a:r>
            <a:r>
              <a:rPr lang="en-GB" sz="1600" b="1" i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GB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limite</a:t>
            </a:r>
            <a:r>
              <a:rPr lang="en-GB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defRPr/>
            </a:pPr>
            <a:r>
              <a:rPr lang="en-GB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</a:p>
          <a:p>
            <a:pPr>
              <a:defRPr/>
            </a:pPr>
            <a:r>
              <a:rPr lang="en-GB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GB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9735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D1E43B7B-C02E-B216-03A7-23F3FBBD5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4C76B4B2-E770-2D76-39B0-D200509F82F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Atributos estáticos em Java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D63834C1-CFF0-9612-879E-8DA2AD5E4D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sp>
        <p:nvSpPr>
          <p:cNvPr id="2" name="Espaço Reservado para Conteúdo 2">
            <a:extLst>
              <a:ext uri="{FF2B5EF4-FFF2-40B4-BE49-F238E27FC236}">
                <a16:creationId xmlns:a16="http://schemas.microsoft.com/office/drawing/2014/main" id="{D57DDB97-8F3A-501C-E783-DE020CA20777}"/>
              </a:ext>
            </a:extLst>
          </p:cNvPr>
          <p:cNvSpPr txBox="1"/>
          <p:nvPr/>
        </p:nvSpPr>
        <p:spPr bwMode="auto">
          <a:xfrm>
            <a:off x="311700" y="1017725"/>
            <a:ext cx="8221112" cy="3730313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/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00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DCEDC"/>
              </a:buClr>
              <a:buSzPct val="8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B641B"/>
              </a:buClr>
              <a:buSzPct val="80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B641B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GB" sz="1800" b="1" kern="0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lang="pt-BR" sz="1800" b="1" dirty="0" err="1">
                <a:solidFill>
                  <a:srgbClr val="0505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pt-BR" sz="1800" b="1" dirty="0">
                <a:solidFill>
                  <a:srgbClr val="0505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800" b="1" i="1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Conta</a:t>
            </a:r>
            <a:r>
              <a:rPr lang="en-GB" sz="18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 eaLnBrk="1" hangingPunct="1">
              <a:spcBef>
                <a:spcPts val="0"/>
              </a:spcBef>
              <a:buFont typeface="Wingdings 2" panose="05020102010507070707" pitchFamily="18" charset="2"/>
              <a:buNone/>
              <a:defRPr/>
            </a:pPr>
            <a:r>
              <a:rPr lang="en-GB" sz="18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GB" sz="1800" b="1" kern="0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 </a:t>
            </a:r>
            <a:r>
              <a:rPr lang="en-GB" sz="18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String </a:t>
            </a:r>
            <a:r>
              <a:rPr lang="en-GB" sz="1800" b="1" i="1" kern="0" dirty="0" err="1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dono</a:t>
            </a:r>
            <a:r>
              <a:rPr lang="en-GB" sz="18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 eaLnBrk="1" hangingPunct="1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GB" sz="1800" b="1" kern="0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private double</a:t>
            </a:r>
            <a:r>
              <a:rPr lang="pt-BR" sz="1800" b="1" dirty="0">
                <a:solidFill>
                  <a:srgbClr val="0505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800" b="1" i="1" kern="0" dirty="0" err="1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saldo</a:t>
            </a:r>
            <a:r>
              <a:rPr lang="en-GB" sz="18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 eaLnBrk="1" hangingPunct="1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GB" sz="1800" b="1" i="1" kern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GB" sz="1800" b="1" kern="0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 double</a:t>
            </a:r>
            <a:r>
              <a:rPr lang="pt-BR" sz="1800" b="1" dirty="0">
                <a:solidFill>
                  <a:srgbClr val="0505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800" b="1" i="1" kern="0" dirty="0" err="1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limite</a:t>
            </a:r>
            <a:r>
              <a:rPr lang="en-GB" sz="18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 eaLnBrk="1" hangingPunct="1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GB" sz="18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GB" sz="1800" b="1" kern="0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GB" sz="18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800" b="1" i="1" kern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  <a:r>
              <a:rPr lang="en-GB" sz="18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800" b="1" kern="0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GB" sz="18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800" b="1" i="1" kern="0" dirty="0" err="1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numAgencia</a:t>
            </a:r>
            <a:r>
              <a:rPr lang="en-GB" sz="18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GB" sz="18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GB" sz="1800" b="1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GB" sz="1800" b="1" kern="0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public </a:t>
            </a:r>
            <a:r>
              <a:rPr lang="en-GB" sz="1800" b="1" i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Conta</a:t>
            </a:r>
            <a:r>
              <a:rPr lang="en-GB" sz="18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(String </a:t>
            </a:r>
            <a:r>
              <a:rPr lang="en-GB" sz="1800" b="1" i="1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dono</a:t>
            </a:r>
            <a:r>
              <a:rPr lang="en-GB" sz="18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pt-BR" sz="1800" b="1" dirty="0" err="1">
                <a:solidFill>
                  <a:srgbClr val="0505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GB" sz="18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800" b="1" i="1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saldo</a:t>
            </a:r>
            <a:r>
              <a:rPr lang="en-GB" sz="18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pt-BR" sz="1800" b="1" dirty="0" err="1">
                <a:solidFill>
                  <a:srgbClr val="0505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pt-BR" sz="1800" b="1" dirty="0">
                <a:solidFill>
                  <a:srgbClr val="0505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800" b="1" i="1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limite</a:t>
            </a:r>
            <a:r>
              <a:rPr lang="en-GB" sz="18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){  </a:t>
            </a:r>
          </a:p>
          <a:p>
            <a:pPr eaLnBrk="1" hangingPunct="1">
              <a:spcBef>
                <a:spcPts val="0"/>
              </a:spcBef>
              <a:buFontTx/>
              <a:buNone/>
              <a:defRPr/>
            </a:pPr>
            <a:r>
              <a:rPr lang="en-GB" sz="18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		 </a:t>
            </a:r>
            <a:r>
              <a:rPr lang="pt-BR" sz="1800" b="1" dirty="0" err="1">
                <a:solidFill>
                  <a:srgbClr val="0505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pt-BR" sz="1800" b="1" dirty="0">
                <a:solidFill>
                  <a:srgbClr val="0505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GB" sz="1800" b="1" kern="0" dirty="0" err="1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dono</a:t>
            </a:r>
            <a:r>
              <a:rPr lang="en-GB" sz="1800" b="1" i="1" kern="0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8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GB" sz="1800" b="1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dono</a:t>
            </a:r>
            <a:r>
              <a:rPr lang="en-GB" sz="18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pPr eaLnBrk="1" hangingPunct="1">
              <a:spcBef>
                <a:spcPts val="0"/>
              </a:spcBef>
              <a:buNone/>
              <a:defRPr/>
            </a:pPr>
            <a:r>
              <a:rPr lang="en-GB" sz="18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		 </a:t>
            </a:r>
            <a:r>
              <a:rPr lang="pt-BR" sz="1800" b="1" dirty="0" err="1">
                <a:solidFill>
                  <a:srgbClr val="0505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pt-BR" sz="1800" b="1" dirty="0">
                <a:solidFill>
                  <a:srgbClr val="0505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GB" sz="1800" b="1" kern="0" dirty="0" err="1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saldo</a:t>
            </a:r>
            <a:r>
              <a:rPr lang="en-GB" sz="1800" b="1" i="1" kern="0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8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GB" sz="1800" b="1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saldo</a:t>
            </a:r>
            <a:r>
              <a:rPr lang="en-GB" sz="18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GB" sz="18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8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	 </a:t>
            </a:r>
            <a:r>
              <a:rPr lang="pt-BR" sz="1800" b="1" dirty="0" err="1">
                <a:solidFill>
                  <a:srgbClr val="0505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pt-BR" sz="1800" b="1" dirty="0">
                <a:solidFill>
                  <a:srgbClr val="0505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GB" sz="1800" b="1" kern="0" dirty="0" err="1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limite</a:t>
            </a:r>
            <a:r>
              <a:rPr lang="en-GB" sz="1800" b="1" i="1" kern="0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8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GB" sz="1800" b="1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limite</a:t>
            </a:r>
            <a:r>
              <a:rPr lang="en-GB" sz="18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eaLnBrk="1" hangingPunct="1">
              <a:spcBef>
                <a:spcPts val="0"/>
              </a:spcBef>
              <a:buNone/>
              <a:defRPr/>
            </a:pPr>
            <a:r>
              <a:rPr lang="en-GB" sz="18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		 </a:t>
            </a:r>
            <a:r>
              <a:rPr lang="en-GB" sz="1800" b="1" i="1" kern="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Conta.</a:t>
            </a:r>
            <a:r>
              <a:rPr lang="en-GB" sz="1800" b="1" i="1" kern="0" dirty="0" err="1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numAgencia</a:t>
            </a:r>
            <a:r>
              <a:rPr lang="en-GB" sz="1800" b="1" i="1" kern="0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8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= 0133;	 </a:t>
            </a:r>
          </a:p>
          <a:p>
            <a:pPr eaLnBrk="1" hangingPunct="1">
              <a:spcBef>
                <a:spcPts val="0"/>
              </a:spcBef>
              <a:buFontTx/>
              <a:buNone/>
              <a:defRPr/>
            </a:pPr>
            <a:r>
              <a:rPr lang="en-GB" sz="18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</a:p>
          <a:p>
            <a:pPr eaLnBrk="1" hangingPunct="1">
              <a:spcBef>
                <a:spcPts val="0"/>
              </a:spcBef>
              <a:buFontTx/>
              <a:buNone/>
              <a:defRPr/>
            </a:pPr>
            <a:r>
              <a:rPr lang="en-GB" sz="18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GB" sz="1800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24C447B7-BDD8-4650-5CEE-8107B02EED70}"/>
              </a:ext>
            </a:extLst>
          </p:cNvPr>
          <p:cNvSpPr/>
          <p:nvPr/>
        </p:nvSpPr>
        <p:spPr bwMode="auto">
          <a:xfrm>
            <a:off x="364613" y="2181133"/>
            <a:ext cx="7973439" cy="284852"/>
          </a:xfrm>
          <a:prstGeom prst="rect">
            <a:avLst/>
          </a:prstGeom>
          <a:noFill/>
          <a:ln w="38100" cap="sq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>
            <a:softEdge rad="12700"/>
          </a:effectLst>
        </p:spPr>
        <p:txBody>
          <a:bodyPr wrap="none" anchor="ctr"/>
          <a:lstStyle/>
          <a:p>
            <a:pPr algn="ctr">
              <a:defRPr/>
            </a:pPr>
            <a:endParaRPr lang="pt-BR" sz="24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" name="Texto explicativo retangular com cantos arredondados 9">
            <a:extLst>
              <a:ext uri="{FF2B5EF4-FFF2-40B4-BE49-F238E27FC236}">
                <a16:creationId xmlns:a16="http://schemas.microsoft.com/office/drawing/2014/main" id="{929DD661-A115-7B5D-F77E-DFD6575DA527}"/>
              </a:ext>
            </a:extLst>
          </p:cNvPr>
          <p:cNvSpPr/>
          <p:nvPr/>
        </p:nvSpPr>
        <p:spPr bwMode="auto">
          <a:xfrm>
            <a:off x="5567912" y="622483"/>
            <a:ext cx="2516954" cy="678003"/>
          </a:xfrm>
          <a:prstGeom prst="wedgeRoundRectCallout">
            <a:avLst>
              <a:gd name="adj1" fmla="val -86147"/>
              <a:gd name="adj2" fmla="val 158462"/>
              <a:gd name="adj3" fmla="val 16667"/>
            </a:avLst>
          </a:prstGeom>
          <a:solidFill>
            <a:srgbClr val="00B0F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pt-BR" sz="2000" b="1" dirty="0">
                <a:latin typeface="+mj-lt"/>
              </a:rPr>
              <a:t>Declaração do</a:t>
            </a:r>
          </a:p>
          <a:p>
            <a:pPr algn="ctr">
              <a:defRPr/>
            </a:pPr>
            <a:r>
              <a:rPr lang="pt-BR" sz="2000" b="1" dirty="0">
                <a:latin typeface="+mj-lt"/>
              </a:rPr>
              <a:t>Atributo Estático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E85CFBC0-CF3E-74AC-3EDD-10F185B8A3FA}"/>
              </a:ext>
            </a:extLst>
          </p:cNvPr>
          <p:cNvSpPr/>
          <p:nvPr/>
        </p:nvSpPr>
        <p:spPr bwMode="auto">
          <a:xfrm>
            <a:off x="364613" y="3807245"/>
            <a:ext cx="7973439" cy="284852"/>
          </a:xfrm>
          <a:prstGeom prst="rect">
            <a:avLst/>
          </a:prstGeom>
          <a:noFill/>
          <a:ln w="38100" cap="sq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>
            <a:softEdge rad="12700"/>
          </a:effectLst>
        </p:spPr>
        <p:txBody>
          <a:bodyPr wrap="none" anchor="ctr"/>
          <a:lstStyle/>
          <a:p>
            <a:pPr algn="ctr">
              <a:defRPr/>
            </a:pPr>
            <a:endParaRPr lang="pt-BR" sz="24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" name="Texto explicativo retangular com cantos arredondados 8">
            <a:extLst>
              <a:ext uri="{FF2B5EF4-FFF2-40B4-BE49-F238E27FC236}">
                <a16:creationId xmlns:a16="http://schemas.microsoft.com/office/drawing/2014/main" id="{92903420-6679-E184-A5D0-E014CDEDC89C}"/>
              </a:ext>
            </a:extLst>
          </p:cNvPr>
          <p:cNvSpPr/>
          <p:nvPr/>
        </p:nvSpPr>
        <p:spPr bwMode="auto">
          <a:xfrm>
            <a:off x="5809959" y="3034117"/>
            <a:ext cx="2516954" cy="678003"/>
          </a:xfrm>
          <a:prstGeom prst="wedgeRoundRectCallout">
            <a:avLst>
              <a:gd name="adj1" fmla="val -82695"/>
              <a:gd name="adj2" fmla="val 75463"/>
              <a:gd name="adj3" fmla="val 16667"/>
            </a:avLst>
          </a:prstGeom>
          <a:solidFill>
            <a:srgbClr val="00B0F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pt-BR" sz="2000" b="1" dirty="0">
                <a:latin typeface="+mj-lt"/>
              </a:rPr>
              <a:t>Declaração do</a:t>
            </a:r>
          </a:p>
          <a:p>
            <a:pPr algn="ctr">
              <a:defRPr/>
            </a:pPr>
            <a:r>
              <a:rPr lang="pt-BR" sz="2000" b="1" dirty="0">
                <a:latin typeface="+mj-lt"/>
              </a:rPr>
              <a:t>Atributo Estático</a:t>
            </a:r>
          </a:p>
        </p:txBody>
      </p:sp>
    </p:spTree>
    <p:extLst>
      <p:ext uri="{BB962C8B-B14F-4D97-AF65-F5344CB8AC3E}">
        <p14:creationId xmlns:p14="http://schemas.microsoft.com/office/powerpoint/2010/main" val="3371552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21363184-72EE-976D-E9F7-DA7BD0BCB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59717CEF-651E-592C-AD80-4FA2F61B33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Modificador de acesso “</a:t>
            </a:r>
            <a:r>
              <a:rPr lang="pt-BR" dirty="0" err="1"/>
              <a:t>static</a:t>
            </a:r>
            <a:r>
              <a:rPr lang="pt-BR" dirty="0"/>
              <a:t>”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1E3E5AF8-38DD-2F23-9F5E-7CD8D1A572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eaLnBrk="1" hangingPunct="1"/>
            <a:r>
              <a:rPr lang="pt-BR" altLang="pt-BR" b="1" u="sng" dirty="0"/>
              <a:t>Métodos estáticos:</a:t>
            </a:r>
            <a:endParaRPr lang="pt-BR" altLang="pt-BR" sz="1600" dirty="0"/>
          </a:p>
          <a:p>
            <a:pPr lvl="1" eaLnBrk="1" hangingPunct="1"/>
            <a:endParaRPr lang="pt-BR" altLang="pt-BR" dirty="0"/>
          </a:p>
          <a:p>
            <a:pPr lvl="1" eaLnBrk="1" hangingPunct="1"/>
            <a:r>
              <a:rPr lang="pt-BR" altLang="pt-BR" dirty="0"/>
              <a:t>Quando temos um </a:t>
            </a:r>
            <a:r>
              <a:rPr lang="pt-BR" altLang="pt-BR" b="1" dirty="0">
                <a:solidFill>
                  <a:srgbClr val="0000CC"/>
                </a:solidFill>
              </a:rPr>
              <a:t>método estático </a:t>
            </a:r>
            <a:r>
              <a:rPr lang="pt-BR" altLang="pt-BR" dirty="0"/>
              <a:t>dentro de uma classe, este método deve ser acessado diretamente na classe e não nas suas instâncias.</a:t>
            </a:r>
          </a:p>
          <a:p>
            <a:pPr lvl="1" eaLnBrk="1" hangingPunct="1"/>
            <a:endParaRPr lang="pt-BR" altLang="pt-BR" dirty="0"/>
          </a:p>
          <a:p>
            <a:pPr lvl="1" eaLnBrk="1" hangingPunct="1"/>
            <a:r>
              <a:rPr lang="pt-BR" altLang="pt-BR" dirty="0"/>
              <a:t>Realizam tarefas que não dependem das características específicas de cada objeto. </a:t>
            </a:r>
          </a:p>
          <a:p>
            <a:pPr lvl="2" eaLnBrk="1" hangingPunct="1"/>
            <a:r>
              <a:rPr lang="pt-BR" altLang="pt-BR" dirty="0"/>
              <a:t>Utilizam somente as informações contidas em seus próprios parâmetros e informações contidas em atributos estáticos.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778768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1069448A-A362-3024-A9EE-BCD4F32B8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BD874D17-C910-E619-CF4D-93286DD1FC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Modificador de acesso “</a:t>
            </a:r>
            <a:r>
              <a:rPr lang="pt-BR" dirty="0" err="1"/>
              <a:t>static</a:t>
            </a:r>
            <a:r>
              <a:rPr lang="pt-BR" dirty="0"/>
              <a:t>”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57867E44-B387-C268-6B82-5FB26BF33B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eaLnBrk="1" hangingPunct="1"/>
            <a:r>
              <a:rPr lang="pt-BR" altLang="pt-BR" b="1" u="sng" dirty="0"/>
              <a:t>Métodos estáticos:</a:t>
            </a:r>
            <a:endParaRPr lang="pt-BR" altLang="pt-BR" sz="1600" dirty="0"/>
          </a:p>
          <a:p>
            <a:pPr lvl="1" eaLnBrk="1" hangingPunct="1"/>
            <a:endParaRPr lang="pt-BR" altLang="pt-BR" dirty="0"/>
          </a:p>
          <a:p>
            <a:pPr lvl="1" eaLnBrk="1" hangingPunct="1"/>
            <a:r>
              <a:rPr lang="pt-BR" altLang="pt-BR" dirty="0"/>
              <a:t>Pode ser </a:t>
            </a:r>
            <a:r>
              <a:rPr lang="pt-BR" altLang="pt-BR" b="1" dirty="0">
                <a:solidFill>
                  <a:srgbClr val="FF0000"/>
                </a:solidFill>
              </a:rPr>
              <a:t>invocado</a:t>
            </a:r>
            <a:r>
              <a:rPr lang="pt-BR" altLang="pt-BR" dirty="0">
                <a:solidFill>
                  <a:srgbClr val="FF0000"/>
                </a:solidFill>
              </a:rPr>
              <a:t> </a:t>
            </a:r>
            <a:r>
              <a:rPr lang="pt-BR" altLang="pt-BR" dirty="0"/>
              <a:t>a </a:t>
            </a:r>
            <a:r>
              <a:rPr lang="pt-BR" altLang="pt-BR" b="1" dirty="0">
                <a:solidFill>
                  <a:srgbClr val="0000CC"/>
                </a:solidFill>
              </a:rPr>
              <a:t>partir da própria classe</a:t>
            </a:r>
            <a:r>
              <a:rPr lang="pt-BR" altLang="pt-BR" dirty="0"/>
              <a:t>, sem a necessidade de instanciá-la.</a:t>
            </a:r>
          </a:p>
          <a:p>
            <a:pPr lvl="1" eaLnBrk="1" hangingPunct="1"/>
            <a:endParaRPr lang="pt-BR" altLang="pt-BR" dirty="0"/>
          </a:p>
          <a:p>
            <a:pPr lvl="1" eaLnBrk="1" hangingPunct="1"/>
            <a:r>
              <a:rPr lang="pt-BR" altLang="pt-BR" dirty="0"/>
              <a:t>Exemplos:</a:t>
            </a:r>
          </a:p>
          <a:p>
            <a:pPr lvl="2" eaLnBrk="1" hangingPunct="1"/>
            <a:r>
              <a:rPr lang="pt-BR" altLang="pt-BR" dirty="0"/>
              <a:t>Os métodos </a:t>
            </a:r>
            <a:r>
              <a:rPr lang="pt-BR" altLang="pt-BR" b="1" i="1" dirty="0" err="1">
                <a:solidFill>
                  <a:srgbClr val="006600"/>
                </a:solidFill>
              </a:rPr>
              <a:t>parseXXX</a:t>
            </a:r>
            <a:r>
              <a:rPr lang="pt-BR" altLang="pt-BR" b="1" i="1" dirty="0">
                <a:solidFill>
                  <a:srgbClr val="006600"/>
                </a:solidFill>
              </a:rPr>
              <a:t>, </a:t>
            </a:r>
            <a:r>
              <a:rPr lang="pt-BR" altLang="pt-BR" b="1" i="1" dirty="0" err="1">
                <a:solidFill>
                  <a:srgbClr val="006600"/>
                </a:solidFill>
              </a:rPr>
              <a:t>main</a:t>
            </a:r>
            <a:r>
              <a:rPr lang="pt-BR" altLang="pt-BR" dirty="0"/>
              <a:t>, pois  estes métodos são utilizados sem a necessidade de criar uma instância da classe.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120703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3DA806E7-A1D9-F916-A17C-E1DF37F3F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B30FDB96-8C72-9EB9-668A-281FD1DC657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Métodos estáticos em Java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C6A29850-384B-1242-1B2F-BFB2307C3A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11B19544-6E3D-802E-4BD3-F98E1E700DC0}"/>
              </a:ext>
            </a:extLst>
          </p:cNvPr>
          <p:cNvSpPr txBox="1"/>
          <p:nvPr/>
        </p:nvSpPr>
        <p:spPr bwMode="auto">
          <a:xfrm>
            <a:off x="311699" y="1152476"/>
            <a:ext cx="8520599" cy="3545999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/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00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DCEDC"/>
              </a:buClr>
              <a:buSzPct val="8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B641B"/>
              </a:buClr>
              <a:buSzPct val="80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B641B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GB" sz="2000" b="1" kern="0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lang="pt-BR" sz="2000" b="1" dirty="0" err="1">
                <a:solidFill>
                  <a:srgbClr val="0505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pt-BR" sz="2000" b="1" dirty="0">
                <a:solidFill>
                  <a:srgbClr val="0505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2000" b="1" i="1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ExemploMetodoEstatico</a:t>
            </a:r>
            <a:r>
              <a:rPr lang="en-GB" sz="20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Font typeface="Wingdings 2" panose="05020102010507070707" pitchFamily="18" charset="2"/>
              <a:buNone/>
              <a:defRPr/>
            </a:pPr>
            <a:r>
              <a:rPr lang="en-GB" sz="20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GB" sz="2000" b="1" kern="0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static void </a:t>
            </a:r>
            <a:r>
              <a:rPr lang="en-GB" sz="2000" b="1" i="1" kern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r>
              <a:rPr lang="en-GB" sz="20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(String[] </a:t>
            </a:r>
            <a:r>
              <a:rPr lang="en-GB" sz="2000" b="1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GB" sz="20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Font typeface="Wingdings 2" panose="05020102010507070707" pitchFamily="18" charset="2"/>
              <a:buNone/>
              <a:defRPr/>
            </a:pPr>
            <a:r>
              <a:rPr lang="en-GB" sz="2000" b="1" kern="0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GB" sz="20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String </a:t>
            </a:r>
            <a:r>
              <a:rPr lang="en-GB" sz="2000" b="1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texto</a:t>
            </a:r>
            <a:r>
              <a:rPr lang="en-GB" sz="20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GB" sz="2000" b="1" kern="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“120”</a:t>
            </a:r>
            <a:r>
              <a:rPr lang="en-GB" sz="20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Font typeface="Wingdings 2" panose="05020102010507070707" pitchFamily="18" charset="2"/>
              <a:buNone/>
              <a:defRPr/>
            </a:pPr>
            <a:r>
              <a:rPr lang="en-GB" sz="2000" b="1" kern="0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GB" sz="2000" b="1" kern="0" dirty="0" err="1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sz="2000" b="1" dirty="0">
                <a:solidFill>
                  <a:srgbClr val="0505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2000" b="1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numero</a:t>
            </a:r>
            <a:r>
              <a:rPr lang="en-GB" sz="20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GB" sz="2000" b="1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Integer.</a:t>
            </a:r>
            <a:r>
              <a:rPr lang="en-GB" sz="2000" b="1" kern="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parseInt</a:t>
            </a:r>
            <a:r>
              <a:rPr lang="en-GB" sz="20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2000" b="1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texto</a:t>
            </a:r>
            <a:r>
              <a:rPr lang="en-GB" sz="20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GB" sz="20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  <a:buFontTx/>
              <a:buNone/>
              <a:defRPr/>
            </a:pPr>
            <a:r>
              <a:rPr lang="en-GB" sz="20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EA8A7064-E93C-FACF-CD7E-D4545E7F9BA8}"/>
              </a:ext>
            </a:extLst>
          </p:cNvPr>
          <p:cNvSpPr/>
          <p:nvPr/>
        </p:nvSpPr>
        <p:spPr bwMode="auto">
          <a:xfrm>
            <a:off x="468737" y="1732942"/>
            <a:ext cx="7973439" cy="325346"/>
          </a:xfrm>
          <a:prstGeom prst="rect">
            <a:avLst/>
          </a:prstGeom>
          <a:noFill/>
          <a:ln w="38100" cap="sq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>
            <a:softEdge rad="12700"/>
          </a:effectLst>
        </p:spPr>
        <p:txBody>
          <a:bodyPr wrap="none" anchor="ctr"/>
          <a:lstStyle/>
          <a:p>
            <a:pPr algn="ctr">
              <a:defRPr/>
            </a:pPr>
            <a:endParaRPr lang="pt-BR" sz="24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03C21962-9CA8-7C78-8A7F-3C0C4619FD49}"/>
              </a:ext>
            </a:extLst>
          </p:cNvPr>
          <p:cNvSpPr/>
          <p:nvPr/>
        </p:nvSpPr>
        <p:spPr bwMode="auto">
          <a:xfrm>
            <a:off x="468736" y="2687146"/>
            <a:ext cx="7973439" cy="347057"/>
          </a:xfrm>
          <a:prstGeom prst="rect">
            <a:avLst/>
          </a:prstGeom>
          <a:noFill/>
          <a:ln w="38100" cap="sq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>
            <a:softEdge rad="12700"/>
          </a:effectLst>
        </p:spPr>
        <p:txBody>
          <a:bodyPr wrap="none" anchor="ctr"/>
          <a:lstStyle/>
          <a:p>
            <a:pPr algn="ctr">
              <a:defRPr/>
            </a:pPr>
            <a:endParaRPr lang="pt-BR" sz="24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9" name="Texto explicativo retangular com cantos arredondados 8">
            <a:extLst>
              <a:ext uri="{FF2B5EF4-FFF2-40B4-BE49-F238E27FC236}">
                <a16:creationId xmlns:a16="http://schemas.microsoft.com/office/drawing/2014/main" id="{CBC9E144-6D04-01AB-3054-6DAC679F359C}"/>
              </a:ext>
            </a:extLst>
          </p:cNvPr>
          <p:cNvSpPr/>
          <p:nvPr/>
        </p:nvSpPr>
        <p:spPr bwMode="auto">
          <a:xfrm>
            <a:off x="5360894" y="3478678"/>
            <a:ext cx="2801303" cy="743139"/>
          </a:xfrm>
          <a:prstGeom prst="wedgeRoundRectCallout">
            <a:avLst>
              <a:gd name="adj1" fmla="val -51377"/>
              <a:gd name="adj2" fmla="val -117604"/>
              <a:gd name="adj3" fmla="val 16667"/>
            </a:avLst>
          </a:prstGeom>
          <a:solidFill>
            <a:srgbClr val="00B0F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pt-BR" sz="2000" b="1" dirty="0">
                <a:latin typeface="+mj-lt"/>
              </a:rPr>
              <a:t>Invocação de </a:t>
            </a:r>
          </a:p>
          <a:p>
            <a:pPr algn="ctr">
              <a:defRPr/>
            </a:pPr>
            <a:r>
              <a:rPr lang="pt-BR" sz="2000" b="1" dirty="0">
                <a:latin typeface="+mj-lt"/>
              </a:rPr>
              <a:t>Métodos Estáticos</a:t>
            </a:r>
          </a:p>
        </p:txBody>
      </p:sp>
    </p:spTree>
    <p:extLst>
      <p:ext uri="{BB962C8B-B14F-4D97-AF65-F5344CB8AC3E}">
        <p14:creationId xmlns:p14="http://schemas.microsoft.com/office/powerpoint/2010/main" val="4204453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CFE6B3D3-C5D3-3272-AA02-9FA7F253A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3A9468E7-8C9C-7A9A-7094-AED5E11AD7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Exemplo: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C5449766-49EB-C2E9-8140-82D6B75AD0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>
              <a:spcAft>
                <a:spcPts val="1200"/>
              </a:spcAft>
              <a:buNone/>
            </a:pPr>
            <a:endParaRPr lang="pt-BR" dirty="0"/>
          </a:p>
          <a:p>
            <a:pPr marL="0" indent="0">
              <a:spcAft>
                <a:spcPts val="1200"/>
              </a:spcAft>
              <a:buNone/>
            </a:pPr>
            <a:endParaRPr lang="pt-BR" dirty="0"/>
          </a:p>
          <a:p>
            <a:pPr marL="0" indent="0">
              <a:spcAft>
                <a:spcPts val="1200"/>
              </a:spcAft>
              <a:buNone/>
            </a:pPr>
            <a:br>
              <a:rPr lang="pt-BR" dirty="0"/>
            </a:br>
            <a:r>
              <a:rPr lang="pt-BR" sz="2000" dirty="0"/>
              <a:t>A cotação do dólar é um atributo de cada objeto ou da classe?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6347627-2A3F-FE7D-7AB9-ABBD491798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1121350"/>
            <a:ext cx="7506748" cy="1409897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1D79DAE8-F4DB-6F33-5AC5-520E9E5706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700" y="3286076"/>
            <a:ext cx="7544853" cy="1409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7232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E34FE022-F96F-FFE4-4B76-87E3D29C7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C98AE034-A9E9-47FE-551C-7DC9F50778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Exercício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234A7887-B8FE-2272-C222-74E45CEE7B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Crie uma classe chamada Pessoa, com os atributos de Nome, Telefone e E-mail. Crie ainda uma atributo estático (da classe) chamado Contador.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A cada objeto Pessoa instanciado incremente automaticamente um número na variável contador.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Instancie 10 pessoas, e mostre no final o valor da variável contador.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184445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C5C98FA6-DEAF-1CE8-29E5-32B395DD5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85EB277F-8795-178A-6299-4B22DA7026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Modificador de acesso “final”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D0FEACFD-8741-D5AF-E78E-57ECC4ECC2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eaLnBrk="1" hangingPunct="1"/>
            <a:r>
              <a:rPr lang="pt-BR" altLang="pt-BR" b="1" u="sng" dirty="0"/>
              <a:t>Atributos finais:</a:t>
            </a:r>
            <a:endParaRPr lang="pt-BR" altLang="pt-BR" sz="1600" b="1" u="sng" dirty="0"/>
          </a:p>
          <a:p>
            <a:pPr lvl="1" eaLnBrk="1" hangingPunct="1"/>
            <a:endParaRPr lang="pt-BR" altLang="pt-BR" dirty="0"/>
          </a:p>
          <a:p>
            <a:pPr lvl="1" eaLnBrk="1" hangingPunct="1"/>
            <a:r>
              <a:rPr lang="pt-BR" altLang="pt-BR" dirty="0"/>
              <a:t>Quando o modificador final é utilizado em atributos, significa que </a:t>
            </a:r>
            <a:r>
              <a:rPr lang="pt-BR" altLang="pt-BR" b="1" dirty="0">
                <a:solidFill>
                  <a:srgbClr val="FF0000"/>
                </a:solidFill>
              </a:rPr>
              <a:t>somente um valor poderá ser definido ao atributo</a:t>
            </a:r>
            <a:r>
              <a:rPr lang="pt-BR" altLang="pt-BR" dirty="0"/>
              <a:t>, podendo ser definido na declaração ou no construtor. </a:t>
            </a:r>
          </a:p>
          <a:p>
            <a:pPr lvl="1" eaLnBrk="1" hangingPunct="1"/>
            <a:endParaRPr lang="pt-BR" altLang="pt-BR" dirty="0"/>
          </a:p>
          <a:p>
            <a:pPr lvl="1" eaLnBrk="1" hangingPunct="1"/>
            <a:r>
              <a:rPr lang="pt-BR" altLang="pt-BR" dirty="0"/>
              <a:t>Em outras palavras, quando queremos declarar um </a:t>
            </a:r>
            <a:r>
              <a:rPr lang="pt-BR" altLang="pt-BR" b="1" dirty="0">
                <a:solidFill>
                  <a:srgbClr val="0000CC"/>
                </a:solidFill>
              </a:rPr>
              <a:t>atributo constante </a:t>
            </a:r>
            <a:r>
              <a:rPr lang="pt-BR" altLang="pt-BR" dirty="0"/>
              <a:t>devemos utilizar o modificador final.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056473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2C68353F-3462-F647-1F9A-1DC918331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33003D01-8B32-F445-167E-D565B76408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Modificador de acesso “final”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7042361F-4903-9E2E-3497-24343D83A4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pt-BR" altLang="pt-BR" sz="1800" b="1" u="sng" dirty="0"/>
              <a:t>Opção 1:</a:t>
            </a:r>
            <a:r>
              <a:rPr lang="pt-BR" altLang="pt-BR" sz="1800" b="1" dirty="0"/>
              <a:t> </a:t>
            </a:r>
            <a:r>
              <a:rPr lang="pt-BR" altLang="pt-BR" sz="1800" dirty="0"/>
              <a:t>Valor definido na declaração do atributo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sp>
        <p:nvSpPr>
          <p:cNvPr id="2" name="Espaço Reservado para Conteúdo 2">
            <a:extLst>
              <a:ext uri="{FF2B5EF4-FFF2-40B4-BE49-F238E27FC236}">
                <a16:creationId xmlns:a16="http://schemas.microsoft.com/office/drawing/2014/main" id="{03B6F51F-C617-C297-E845-FD3E7624AF78}"/>
              </a:ext>
            </a:extLst>
          </p:cNvPr>
          <p:cNvSpPr txBox="1"/>
          <p:nvPr/>
        </p:nvSpPr>
        <p:spPr bwMode="auto">
          <a:xfrm>
            <a:off x="304800" y="1609725"/>
            <a:ext cx="8520600" cy="3195357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/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00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DCEDC"/>
              </a:buClr>
              <a:buSzPct val="8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B641B"/>
              </a:buClr>
              <a:buSzPct val="80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B641B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GB" sz="1800" b="1" kern="0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lang="pt-BR" sz="1800" b="1" dirty="0" err="1">
                <a:solidFill>
                  <a:srgbClr val="0505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pt-BR" sz="1800" b="1" dirty="0">
                <a:solidFill>
                  <a:srgbClr val="0505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800" b="1" i="1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Notas</a:t>
            </a:r>
            <a:r>
              <a:rPr lang="en-GB" sz="18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 eaLnBrk="1" hangingPunct="1">
              <a:lnSpc>
                <a:spcPct val="125000"/>
              </a:lnSpc>
              <a:spcBef>
                <a:spcPts val="0"/>
              </a:spcBef>
              <a:buFont typeface="Wingdings 2" panose="05020102010507070707" pitchFamily="18" charset="2"/>
              <a:buNone/>
              <a:defRPr/>
            </a:pPr>
            <a:r>
              <a:rPr lang="en-GB" sz="1800" b="1" kern="0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private double</a:t>
            </a:r>
            <a:r>
              <a:rPr lang="pt-BR" sz="1800" b="1" dirty="0">
                <a:solidFill>
                  <a:srgbClr val="0505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800" b="1" i="1" kern="0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prova01</a:t>
            </a:r>
            <a:r>
              <a:rPr lang="en-GB" sz="18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 eaLnBrk="1" hangingPunct="1">
              <a:lnSpc>
                <a:spcPct val="125000"/>
              </a:lnSpc>
              <a:spcBef>
                <a:spcPts val="0"/>
              </a:spcBef>
              <a:buFont typeface="Wingdings 2" panose="05020102010507070707" pitchFamily="18" charset="2"/>
              <a:buNone/>
              <a:defRPr/>
            </a:pPr>
            <a:r>
              <a:rPr lang="en-GB" sz="1800" b="1" kern="0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private double</a:t>
            </a:r>
            <a:r>
              <a:rPr lang="pt-BR" sz="1800" b="1" dirty="0">
                <a:solidFill>
                  <a:srgbClr val="0505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800" b="1" i="1" kern="0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prova02</a:t>
            </a:r>
            <a:r>
              <a:rPr lang="en-GB" sz="18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 eaLnBrk="1" hangingPunct="1">
              <a:lnSpc>
                <a:spcPct val="125000"/>
              </a:lnSpc>
              <a:spcBef>
                <a:spcPts val="0"/>
              </a:spcBef>
              <a:buFont typeface="Wingdings 2" panose="05020102010507070707" pitchFamily="18" charset="2"/>
              <a:buNone/>
              <a:defRPr/>
            </a:pPr>
            <a:r>
              <a:rPr lang="en-GB" sz="1800" b="1" kern="0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private </a:t>
            </a:r>
            <a:r>
              <a:rPr lang="en-GB" sz="1800" b="1" i="1" kern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final</a:t>
            </a:r>
            <a:r>
              <a:rPr lang="en-GB" sz="1800" b="1" kern="0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double</a:t>
            </a:r>
            <a:r>
              <a:rPr lang="pt-BR" sz="1800" b="1" dirty="0">
                <a:solidFill>
                  <a:srgbClr val="0505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800" b="1" i="1" kern="0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media </a:t>
            </a:r>
            <a:r>
              <a:rPr lang="en-GB" sz="18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pt-BR" sz="1800" b="1" dirty="0">
                <a:solidFill>
                  <a:srgbClr val="0505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70</a:t>
            </a:r>
            <a:r>
              <a:rPr lang="en-GB" sz="18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 eaLnBrk="1" hangingPunct="1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GB" sz="1800" b="1" kern="0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public </a:t>
            </a:r>
            <a:r>
              <a:rPr lang="en-GB" sz="1800" b="1" i="1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Notas</a:t>
            </a:r>
            <a:r>
              <a:rPr lang="en-GB" sz="18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sz="1800" b="1" dirty="0" err="1">
                <a:solidFill>
                  <a:srgbClr val="0505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GB" sz="18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800" b="1" i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prova01</a:t>
            </a:r>
            <a:r>
              <a:rPr lang="en-GB" sz="18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pt-BR" sz="1800" b="1" dirty="0" err="1">
                <a:solidFill>
                  <a:srgbClr val="0505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pt-BR" sz="1800" b="1" dirty="0">
                <a:solidFill>
                  <a:srgbClr val="0505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800" b="1" i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prova02</a:t>
            </a:r>
            <a:r>
              <a:rPr lang="en-GB" sz="18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){  </a:t>
            </a:r>
          </a:p>
          <a:p>
            <a:pPr eaLnBrk="1" hangingPunct="1">
              <a:lnSpc>
                <a:spcPct val="125000"/>
              </a:lnSpc>
              <a:spcBef>
                <a:spcPts val="0"/>
              </a:spcBef>
              <a:buFontTx/>
              <a:buNone/>
              <a:defRPr/>
            </a:pPr>
            <a:r>
              <a:rPr lang="en-GB" sz="18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		 </a:t>
            </a:r>
            <a:r>
              <a:rPr lang="pt-BR" sz="1800" b="1" dirty="0" err="1">
                <a:solidFill>
                  <a:srgbClr val="0505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pt-BR" sz="1800" b="1" dirty="0">
                <a:solidFill>
                  <a:srgbClr val="0505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GB" sz="1800" b="1" i="1" kern="0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prova01 </a:t>
            </a:r>
            <a:r>
              <a:rPr lang="en-GB" sz="18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GB" sz="1800" b="1" i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prova01</a:t>
            </a:r>
            <a:r>
              <a:rPr lang="en-GB" sz="18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eaLnBrk="1" hangingPunct="1">
              <a:lnSpc>
                <a:spcPct val="125000"/>
              </a:lnSpc>
              <a:spcBef>
                <a:spcPts val="0"/>
              </a:spcBef>
              <a:buFont typeface="Wingdings 2" panose="05020102010507070707" pitchFamily="18" charset="2"/>
              <a:buNone/>
              <a:defRPr/>
            </a:pPr>
            <a:r>
              <a:rPr lang="en-GB" sz="18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		 </a:t>
            </a:r>
            <a:r>
              <a:rPr lang="pt-BR" sz="1800" b="1" dirty="0" err="1">
                <a:solidFill>
                  <a:srgbClr val="0505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pt-BR" sz="1800" b="1" dirty="0">
                <a:solidFill>
                  <a:srgbClr val="0505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GB" sz="1800" b="1" i="1" kern="0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prova02 </a:t>
            </a:r>
            <a:r>
              <a:rPr lang="en-GB" sz="18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GB" sz="1800" b="1" i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prova02</a:t>
            </a:r>
            <a:r>
              <a:rPr lang="en-GB" sz="18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eaLnBrk="1" hangingPunct="1">
              <a:lnSpc>
                <a:spcPct val="125000"/>
              </a:lnSpc>
              <a:spcBef>
                <a:spcPts val="0"/>
              </a:spcBef>
              <a:buFontTx/>
              <a:buNone/>
              <a:defRPr/>
            </a:pPr>
            <a:r>
              <a:rPr lang="en-GB" sz="18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</a:p>
          <a:p>
            <a:pPr eaLnBrk="1" hangingPunct="1">
              <a:lnSpc>
                <a:spcPct val="125000"/>
              </a:lnSpc>
              <a:spcBef>
                <a:spcPts val="0"/>
              </a:spcBef>
              <a:buFontTx/>
              <a:buNone/>
              <a:defRPr/>
            </a:pPr>
            <a:r>
              <a:rPr lang="en-GB" sz="18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GB" sz="1800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50C45652-B98F-5C83-F278-14918415BC74}"/>
              </a:ext>
            </a:extLst>
          </p:cNvPr>
          <p:cNvSpPr/>
          <p:nvPr/>
        </p:nvSpPr>
        <p:spPr bwMode="auto">
          <a:xfrm>
            <a:off x="423376" y="2682010"/>
            <a:ext cx="8101766" cy="357330"/>
          </a:xfrm>
          <a:prstGeom prst="rect">
            <a:avLst/>
          </a:prstGeom>
          <a:noFill/>
          <a:ln w="38100" cap="sq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>
            <a:softEdge rad="12700"/>
          </a:effectLst>
        </p:spPr>
        <p:txBody>
          <a:bodyPr wrap="none" anchor="ctr"/>
          <a:lstStyle/>
          <a:p>
            <a:pPr algn="ctr">
              <a:defRPr/>
            </a:pPr>
            <a:endParaRPr lang="pt-BR" sz="24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" name="Texto explicativo retangular com cantos arredondados 6">
            <a:extLst>
              <a:ext uri="{FF2B5EF4-FFF2-40B4-BE49-F238E27FC236}">
                <a16:creationId xmlns:a16="http://schemas.microsoft.com/office/drawing/2014/main" id="{4DE6790E-C056-B7AA-456D-85E2358FFEC3}"/>
              </a:ext>
            </a:extLst>
          </p:cNvPr>
          <p:cNvSpPr/>
          <p:nvPr/>
        </p:nvSpPr>
        <p:spPr bwMode="auto">
          <a:xfrm>
            <a:off x="5448020" y="3883075"/>
            <a:ext cx="2557462" cy="685800"/>
          </a:xfrm>
          <a:prstGeom prst="wedgeRoundRectCallout">
            <a:avLst>
              <a:gd name="adj1" fmla="val -69757"/>
              <a:gd name="adj2" fmla="val -175907"/>
              <a:gd name="adj3" fmla="val 16667"/>
            </a:avLst>
          </a:prstGeom>
          <a:solidFill>
            <a:srgbClr val="00B0F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pt-BR" b="1" dirty="0">
                <a:latin typeface="+mj-lt"/>
              </a:rPr>
              <a:t>Valor definido na </a:t>
            </a:r>
          </a:p>
          <a:p>
            <a:pPr algn="ctr">
              <a:defRPr/>
            </a:pPr>
            <a:r>
              <a:rPr lang="pt-BR" b="1" dirty="0">
                <a:latin typeface="+mj-lt"/>
              </a:rPr>
              <a:t>declaração do atributo</a:t>
            </a:r>
          </a:p>
        </p:txBody>
      </p:sp>
    </p:spTree>
    <p:extLst>
      <p:ext uri="{BB962C8B-B14F-4D97-AF65-F5344CB8AC3E}">
        <p14:creationId xmlns:p14="http://schemas.microsoft.com/office/powerpoint/2010/main" val="3207388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2E381957-7189-3AE5-78D1-0A4079DCB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265A5CD1-A9F0-8225-CB65-3107338CA9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Modificador de acesso “final”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038DC4A1-C15C-60BF-EB33-7CA645634E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pt-BR" altLang="pt-BR" sz="1800" b="1" u="sng" dirty="0"/>
              <a:t>Opção 2: </a:t>
            </a:r>
            <a:r>
              <a:rPr lang="pt-BR" altLang="pt-BR" sz="1800" dirty="0"/>
              <a:t>Valor definido no método construtor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sp>
        <p:nvSpPr>
          <p:cNvPr id="2" name="Espaço Reservado para Conteúdo 2">
            <a:extLst>
              <a:ext uri="{FF2B5EF4-FFF2-40B4-BE49-F238E27FC236}">
                <a16:creationId xmlns:a16="http://schemas.microsoft.com/office/drawing/2014/main" id="{F7F1E029-177D-F7B4-6161-FF0B5530673D}"/>
              </a:ext>
            </a:extLst>
          </p:cNvPr>
          <p:cNvSpPr txBox="1"/>
          <p:nvPr/>
        </p:nvSpPr>
        <p:spPr bwMode="auto">
          <a:xfrm>
            <a:off x="304800" y="1609725"/>
            <a:ext cx="8520600" cy="3195357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/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00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DCEDC"/>
              </a:buClr>
              <a:buSzPct val="8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B641B"/>
              </a:buClr>
              <a:buSzPct val="80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B641B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GB" sz="1800" b="1" kern="0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lang="pt-BR" sz="1800" b="1" dirty="0" err="1">
                <a:solidFill>
                  <a:srgbClr val="0505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pt-BR" sz="1800" b="1" dirty="0">
                <a:solidFill>
                  <a:srgbClr val="0505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800" b="1" i="1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Notas</a:t>
            </a:r>
            <a:r>
              <a:rPr lang="en-GB" sz="18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 eaLnBrk="1" hangingPunct="1">
              <a:spcBef>
                <a:spcPts val="0"/>
              </a:spcBef>
              <a:buNone/>
              <a:defRPr/>
            </a:pPr>
            <a:r>
              <a:rPr lang="en-GB" sz="1800" b="1" kern="0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private double</a:t>
            </a:r>
            <a:r>
              <a:rPr lang="pt-BR" sz="1800" b="1" dirty="0">
                <a:solidFill>
                  <a:srgbClr val="0505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800" b="1" i="1" kern="0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prova01</a:t>
            </a:r>
            <a:r>
              <a:rPr lang="en-GB" sz="18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 eaLnBrk="1" hangingPunct="1">
              <a:spcBef>
                <a:spcPts val="0"/>
              </a:spcBef>
              <a:buNone/>
              <a:defRPr/>
            </a:pPr>
            <a:r>
              <a:rPr lang="en-GB" sz="1800" b="1" kern="0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private double</a:t>
            </a:r>
            <a:r>
              <a:rPr lang="pt-BR" sz="1800" b="1" dirty="0">
                <a:solidFill>
                  <a:srgbClr val="0505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800" b="1" i="1" kern="0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prova02</a:t>
            </a:r>
            <a:r>
              <a:rPr lang="en-GB" sz="18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 eaLnBrk="1" hangingPunct="1">
              <a:spcBef>
                <a:spcPts val="0"/>
              </a:spcBef>
              <a:buNone/>
              <a:defRPr/>
            </a:pPr>
            <a:r>
              <a:rPr lang="en-GB" sz="1800" b="1" kern="0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private </a:t>
            </a:r>
            <a:r>
              <a:rPr lang="en-GB" sz="1800" b="1" i="1" kern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final</a:t>
            </a:r>
            <a:r>
              <a:rPr lang="en-GB" sz="1800" b="1" kern="0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double</a:t>
            </a:r>
            <a:r>
              <a:rPr lang="pt-BR" sz="1800" b="1" dirty="0">
                <a:solidFill>
                  <a:srgbClr val="0505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800" b="1" i="1" kern="0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media</a:t>
            </a:r>
            <a:r>
              <a:rPr lang="en-GB" sz="18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 eaLnBrk="1" hangingPunct="1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GB" sz="1800" b="1" kern="0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public </a:t>
            </a:r>
            <a:r>
              <a:rPr lang="en-GB" sz="1800" b="1" i="1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Notas</a:t>
            </a:r>
            <a:r>
              <a:rPr lang="en-GB" sz="18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sz="1800" b="1" dirty="0" err="1">
                <a:solidFill>
                  <a:srgbClr val="0505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GB" sz="18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800" b="1" i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prova01</a:t>
            </a:r>
            <a:r>
              <a:rPr lang="en-GB" sz="18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pt-BR" sz="1800" b="1" dirty="0" err="1">
                <a:solidFill>
                  <a:srgbClr val="0505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pt-BR" sz="1800" b="1" dirty="0">
                <a:solidFill>
                  <a:srgbClr val="0505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800" b="1" i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prova02, </a:t>
            </a:r>
          </a:p>
          <a:p>
            <a:pPr marL="0" indent="0" eaLnBrk="1" hangingPunct="1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GB" sz="1800" b="1" i="1" kern="0" dirty="0">
                <a:solidFill>
                  <a:srgbClr val="0505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	     </a:t>
            </a:r>
            <a:r>
              <a:rPr lang="pt-BR" sz="1800" b="1" dirty="0" err="1">
                <a:solidFill>
                  <a:srgbClr val="0505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pt-BR" sz="1800" b="1" dirty="0">
                <a:solidFill>
                  <a:srgbClr val="0505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800" b="1" i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media</a:t>
            </a:r>
            <a:r>
              <a:rPr lang="en-GB" sz="18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){  </a:t>
            </a:r>
          </a:p>
          <a:p>
            <a:pPr eaLnBrk="1" hangingPunct="1">
              <a:spcBef>
                <a:spcPts val="0"/>
              </a:spcBef>
              <a:buFontTx/>
              <a:buNone/>
              <a:defRPr/>
            </a:pPr>
            <a:r>
              <a:rPr lang="en-GB" sz="18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		 </a:t>
            </a:r>
            <a:r>
              <a:rPr lang="pt-BR" sz="1800" b="1" dirty="0" err="1">
                <a:solidFill>
                  <a:srgbClr val="0505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pt-BR" sz="1800" b="1" dirty="0">
                <a:solidFill>
                  <a:srgbClr val="0505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GB" sz="1800" b="1" i="1" kern="0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prova01 </a:t>
            </a:r>
            <a:r>
              <a:rPr lang="en-GB" sz="18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GB" sz="1800" b="1" i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prova01</a:t>
            </a:r>
            <a:r>
              <a:rPr lang="en-GB" sz="18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eaLnBrk="1" hangingPunct="1">
              <a:spcBef>
                <a:spcPts val="0"/>
              </a:spcBef>
              <a:buNone/>
              <a:defRPr/>
            </a:pPr>
            <a:r>
              <a:rPr lang="en-GB" sz="18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		 </a:t>
            </a:r>
            <a:r>
              <a:rPr lang="pt-BR" sz="1800" b="1" dirty="0" err="1">
                <a:solidFill>
                  <a:srgbClr val="0505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pt-BR" sz="1800" b="1" dirty="0">
                <a:solidFill>
                  <a:srgbClr val="0505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GB" sz="1800" b="1" i="1" kern="0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prova02 </a:t>
            </a:r>
            <a:r>
              <a:rPr lang="en-GB" sz="18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GB" sz="1800" b="1" i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prova02</a:t>
            </a:r>
            <a:r>
              <a:rPr lang="en-GB" sz="18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eaLnBrk="1" hangingPunct="1">
              <a:spcBef>
                <a:spcPts val="0"/>
              </a:spcBef>
              <a:buNone/>
              <a:defRPr/>
            </a:pPr>
            <a:r>
              <a:rPr lang="en-GB" sz="18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		 </a:t>
            </a:r>
            <a:r>
              <a:rPr lang="pt-BR" sz="1800" b="1" dirty="0" err="1">
                <a:solidFill>
                  <a:srgbClr val="0505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pt-BR" sz="1800" b="1" dirty="0">
                <a:solidFill>
                  <a:srgbClr val="0505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GB" sz="1800" b="1" i="1" kern="0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media </a:t>
            </a:r>
            <a:r>
              <a:rPr lang="en-GB" sz="18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GB" sz="1800" b="1" i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media</a:t>
            </a:r>
            <a:r>
              <a:rPr lang="en-GB" sz="18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eaLnBrk="1" hangingPunct="1">
              <a:spcBef>
                <a:spcPts val="0"/>
              </a:spcBef>
              <a:buFontTx/>
              <a:buNone/>
              <a:defRPr/>
            </a:pPr>
            <a:r>
              <a:rPr lang="en-GB" sz="18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</a:p>
          <a:p>
            <a:pPr eaLnBrk="1" hangingPunct="1">
              <a:spcBef>
                <a:spcPts val="0"/>
              </a:spcBef>
              <a:buFontTx/>
              <a:buNone/>
              <a:defRPr/>
            </a:pPr>
            <a:r>
              <a:rPr lang="en-GB" sz="18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GB" sz="1800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A13EAF47-549F-2D2B-BA39-652FB0588D97}"/>
              </a:ext>
            </a:extLst>
          </p:cNvPr>
          <p:cNvSpPr/>
          <p:nvPr/>
        </p:nvSpPr>
        <p:spPr bwMode="auto">
          <a:xfrm>
            <a:off x="396482" y="3812360"/>
            <a:ext cx="8101766" cy="357330"/>
          </a:xfrm>
          <a:prstGeom prst="rect">
            <a:avLst/>
          </a:prstGeom>
          <a:noFill/>
          <a:ln w="38100" cap="sq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>
            <a:softEdge rad="12700"/>
          </a:effectLst>
        </p:spPr>
        <p:txBody>
          <a:bodyPr wrap="none" anchor="ctr"/>
          <a:lstStyle/>
          <a:p>
            <a:pPr algn="ctr">
              <a:defRPr/>
            </a:pPr>
            <a:endParaRPr lang="pt-BR" sz="24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" name="Texto explicativo retangular com cantos arredondados 6">
            <a:extLst>
              <a:ext uri="{FF2B5EF4-FFF2-40B4-BE49-F238E27FC236}">
                <a16:creationId xmlns:a16="http://schemas.microsoft.com/office/drawing/2014/main" id="{313AC2CF-AAFA-C19A-5D9E-F47B5CBF07BC}"/>
              </a:ext>
            </a:extLst>
          </p:cNvPr>
          <p:cNvSpPr/>
          <p:nvPr/>
        </p:nvSpPr>
        <p:spPr bwMode="auto">
          <a:xfrm>
            <a:off x="6025568" y="3340583"/>
            <a:ext cx="2557462" cy="685800"/>
          </a:xfrm>
          <a:prstGeom prst="wedgeRoundRectCallout">
            <a:avLst>
              <a:gd name="adj1" fmla="val -118368"/>
              <a:gd name="adj2" fmla="val 40791"/>
              <a:gd name="adj3" fmla="val 16667"/>
            </a:avLst>
          </a:prstGeom>
          <a:solidFill>
            <a:srgbClr val="00B0F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pt-BR" b="1" dirty="0">
                <a:latin typeface="+mj-lt"/>
              </a:rPr>
              <a:t>Valor definido no </a:t>
            </a:r>
          </a:p>
          <a:p>
            <a:pPr algn="ctr">
              <a:defRPr/>
            </a:pPr>
            <a:r>
              <a:rPr lang="pt-BR" b="1" dirty="0">
                <a:latin typeface="+mj-lt"/>
              </a:rPr>
              <a:t>método construtor</a:t>
            </a:r>
          </a:p>
        </p:txBody>
      </p:sp>
    </p:spTree>
    <p:extLst>
      <p:ext uri="{BB962C8B-B14F-4D97-AF65-F5344CB8AC3E}">
        <p14:creationId xmlns:p14="http://schemas.microsoft.com/office/powerpoint/2010/main" val="551678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1C142EF8-EC50-4DA8-AE6C-C422A11C0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96E19A23-433D-00BD-FEB8-14C5A8C6EE5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pt-BR" altLang="pt-BR" dirty="0"/>
              <a:t>Modificador de acesso </a:t>
            </a:r>
            <a:r>
              <a:rPr lang="pt-BR" altLang="pt-BR" i="1" dirty="0"/>
              <a:t>“final”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5E966849-3FAD-68F1-93AF-99E2EC45E7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eaLnBrk="1" hangingPunct="1"/>
            <a:r>
              <a:rPr lang="pt-BR" altLang="pt-BR" b="1" u="sng" dirty="0"/>
              <a:t>Métodos finais:</a:t>
            </a:r>
            <a:endParaRPr lang="pt-BR" altLang="pt-BR" sz="1600" b="1" u="sng" dirty="0"/>
          </a:p>
          <a:p>
            <a:pPr lvl="1" eaLnBrk="1" hangingPunct="1"/>
            <a:endParaRPr lang="pt-BR" altLang="pt-BR" dirty="0"/>
          </a:p>
          <a:p>
            <a:pPr lvl="1" eaLnBrk="1" hangingPunct="1"/>
            <a:r>
              <a:rPr lang="pt-BR" altLang="pt-BR" dirty="0"/>
              <a:t>Podemos utilizar o modificador final na declaração de um método para que este não possa ser sobrescrito em classes filhas.</a:t>
            </a:r>
          </a:p>
          <a:p>
            <a:pPr lvl="1" eaLnBrk="1" hangingPunct="1"/>
            <a:endParaRPr lang="pt-BR" altLang="pt-BR" dirty="0"/>
          </a:p>
          <a:p>
            <a:pPr lvl="1" eaLnBrk="1" hangingPunct="1"/>
            <a:r>
              <a:rPr lang="pt-BR" altLang="pt-BR" dirty="0"/>
              <a:t>OBS.: Sobrescrita de métodos será visto mais adiante.</a:t>
            </a:r>
          </a:p>
        </p:txBody>
      </p:sp>
    </p:spTree>
    <p:extLst>
      <p:ext uri="{BB962C8B-B14F-4D97-AF65-F5344CB8AC3E}">
        <p14:creationId xmlns:p14="http://schemas.microsoft.com/office/powerpoint/2010/main" val="28198419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DACDCE1B-745A-B01F-A4BE-7D3E5BE38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DDE99128-A957-E953-1C19-1469734361B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pt-BR" altLang="pt-BR" dirty="0"/>
              <a:t>Modificador de acesso </a:t>
            </a:r>
            <a:r>
              <a:rPr lang="pt-BR" altLang="pt-BR" i="1" dirty="0"/>
              <a:t>“final”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13B028A7-4E6B-C790-DD0E-D16779893D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eaLnBrk="1" hangingPunct="1"/>
            <a:r>
              <a:rPr lang="pt-BR" altLang="pt-BR" b="1" u="sng" dirty="0"/>
              <a:t>Classes finais:</a:t>
            </a:r>
            <a:endParaRPr lang="pt-BR" altLang="pt-BR" sz="1600" b="1" u="sng" dirty="0"/>
          </a:p>
          <a:p>
            <a:pPr lvl="1" eaLnBrk="1" hangingPunct="1"/>
            <a:endParaRPr lang="pt-BR" altLang="pt-BR" dirty="0"/>
          </a:p>
          <a:p>
            <a:pPr lvl="1" eaLnBrk="1" hangingPunct="1"/>
            <a:r>
              <a:rPr lang="pt-BR" altLang="pt-BR" dirty="0"/>
              <a:t>O modificador final pode ser utilizado na declaração de classes, indicando que </a:t>
            </a:r>
            <a:r>
              <a:rPr lang="pt-BR" altLang="pt-BR" b="1" dirty="0">
                <a:solidFill>
                  <a:srgbClr val="FF0000"/>
                </a:solidFill>
              </a:rPr>
              <a:t>não poderá ser estendida </a:t>
            </a:r>
            <a:r>
              <a:rPr lang="pt-BR" altLang="pt-BR" dirty="0"/>
              <a:t>por outra, ou seja, </a:t>
            </a:r>
            <a:r>
              <a:rPr lang="pt-BR" altLang="pt-BR" b="1" dirty="0">
                <a:solidFill>
                  <a:srgbClr val="FF0000"/>
                </a:solidFill>
              </a:rPr>
              <a:t>não poderá ser herdada</a:t>
            </a:r>
            <a:r>
              <a:rPr lang="pt-BR" alt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951421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0079AAE9-B6CC-4063-2766-410B794A3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B9D28300-D732-86D4-7EFD-B6684DCB52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Exercício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ABD31C9E-8CF0-46A4-0A7D-D9E3A45CC4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indent="0">
              <a:buNone/>
            </a:pPr>
            <a:r>
              <a:rPr lang="en-US" sz="1600" dirty="0" err="1"/>
              <a:t>Crie</a:t>
            </a:r>
            <a:r>
              <a:rPr lang="en-US" sz="1600" dirty="0"/>
              <a:t> </a:t>
            </a:r>
            <a:r>
              <a:rPr lang="en-US" sz="1600" dirty="0" err="1"/>
              <a:t>uma</a:t>
            </a:r>
            <a:r>
              <a:rPr lang="en-US" sz="1600" dirty="0"/>
              <a:t> </a:t>
            </a:r>
            <a:r>
              <a:rPr lang="en-US" sz="1600" dirty="0" err="1"/>
              <a:t>classe</a:t>
            </a:r>
            <a:r>
              <a:rPr lang="en-US" sz="1600" dirty="0"/>
              <a:t> Pessoa, </a:t>
            </a:r>
            <a:r>
              <a:rPr lang="en-US" sz="1600" dirty="0" err="1"/>
              <a:t>Motorista</a:t>
            </a:r>
            <a:r>
              <a:rPr lang="en-US" sz="1600" dirty="0"/>
              <a:t> e </a:t>
            </a:r>
            <a:r>
              <a:rPr lang="en-US" sz="1600" dirty="0" err="1"/>
              <a:t>Veículo</a:t>
            </a:r>
            <a:r>
              <a:rPr lang="en-US" sz="1600" dirty="0"/>
              <a:t> com </a:t>
            </a:r>
            <a:r>
              <a:rPr lang="en-US" sz="1600" dirty="0" err="1"/>
              <a:t>os</a:t>
            </a:r>
            <a:r>
              <a:rPr lang="en-US" sz="1600" dirty="0"/>
              <a:t> </a:t>
            </a:r>
            <a:r>
              <a:rPr lang="en-US" sz="1600" dirty="0" err="1"/>
              <a:t>seguintes</a:t>
            </a:r>
            <a:r>
              <a:rPr lang="en-US" sz="1600" dirty="0"/>
              <a:t> </a:t>
            </a:r>
            <a:r>
              <a:rPr lang="en-US" sz="1600" dirty="0" err="1"/>
              <a:t>atributos</a:t>
            </a:r>
            <a:r>
              <a:rPr lang="en-US" sz="1600" dirty="0"/>
              <a:t>: </a:t>
            </a:r>
          </a:p>
          <a:p>
            <a:pPr marL="76200" indent="0">
              <a:buNone/>
            </a:pPr>
            <a:r>
              <a:rPr lang="en-US" sz="1600" dirty="0"/>
              <a:t>Pessoa: </a:t>
            </a:r>
            <a:r>
              <a:rPr lang="en-US" sz="1600" dirty="0" err="1"/>
              <a:t>nome</a:t>
            </a:r>
            <a:r>
              <a:rPr lang="en-US" sz="1600" dirty="0"/>
              <a:t>, </a:t>
            </a:r>
            <a:r>
              <a:rPr lang="en-US" sz="1600" dirty="0" err="1"/>
              <a:t>idade</a:t>
            </a:r>
            <a:endParaRPr lang="en-US" sz="1600" dirty="0"/>
          </a:p>
          <a:p>
            <a:pPr marL="76200" indent="0">
              <a:buNone/>
            </a:pPr>
            <a:r>
              <a:rPr lang="en-US" sz="1600" dirty="0" err="1"/>
              <a:t>Motorista</a:t>
            </a:r>
            <a:r>
              <a:rPr lang="en-US" sz="1600" dirty="0"/>
              <a:t>: </a:t>
            </a:r>
            <a:r>
              <a:rPr lang="en-US" sz="1600" dirty="0" err="1"/>
              <a:t>herda</a:t>
            </a:r>
            <a:r>
              <a:rPr lang="en-US" sz="1600" dirty="0"/>
              <a:t> da </a:t>
            </a:r>
            <a:r>
              <a:rPr lang="en-US" sz="1600" dirty="0" err="1"/>
              <a:t>classe</a:t>
            </a:r>
            <a:r>
              <a:rPr lang="en-US" sz="1600" dirty="0"/>
              <a:t> Pessoa, e </a:t>
            </a:r>
            <a:r>
              <a:rPr lang="en-US" sz="1600" dirty="0" err="1"/>
              <a:t>tem</a:t>
            </a:r>
            <a:r>
              <a:rPr lang="en-US" sz="1600" dirty="0"/>
              <a:t> </a:t>
            </a:r>
            <a:r>
              <a:rPr lang="en-US" sz="1600" dirty="0" err="1"/>
              <a:t>como</a:t>
            </a:r>
            <a:r>
              <a:rPr lang="en-US" sz="1600" dirty="0"/>
              <a:t> </a:t>
            </a:r>
            <a:r>
              <a:rPr lang="en-US" sz="1600" dirty="0" err="1"/>
              <a:t>atributo</a:t>
            </a:r>
            <a:r>
              <a:rPr lang="en-US" sz="1600" dirty="0"/>
              <a:t> o </a:t>
            </a:r>
            <a:r>
              <a:rPr lang="en-US" sz="1600" dirty="0" err="1"/>
              <a:t>tipo</a:t>
            </a:r>
            <a:r>
              <a:rPr lang="en-US" sz="1600" dirty="0"/>
              <a:t> de </a:t>
            </a:r>
            <a:r>
              <a:rPr lang="en-US" sz="1600" dirty="0" err="1"/>
              <a:t>carteira</a:t>
            </a:r>
            <a:r>
              <a:rPr lang="en-US" sz="1600" dirty="0"/>
              <a:t> de </a:t>
            </a:r>
            <a:r>
              <a:rPr lang="en-US" sz="1600" dirty="0" err="1"/>
              <a:t>habilitação</a:t>
            </a:r>
            <a:endParaRPr lang="en-US" sz="1600" dirty="0"/>
          </a:p>
          <a:p>
            <a:pPr marL="76200" indent="0">
              <a:buNone/>
            </a:pPr>
            <a:r>
              <a:rPr lang="en-US" sz="1600" dirty="0" err="1"/>
              <a:t>Veículo</a:t>
            </a:r>
            <a:r>
              <a:rPr lang="en-US" sz="1600" dirty="0"/>
              <a:t>: </a:t>
            </a:r>
            <a:r>
              <a:rPr lang="en-US" sz="1600" dirty="0" err="1"/>
              <a:t>placa</a:t>
            </a:r>
            <a:r>
              <a:rPr lang="en-US" sz="1600" dirty="0"/>
              <a:t>, </a:t>
            </a:r>
            <a:r>
              <a:rPr lang="en-US" sz="1600" dirty="0" err="1"/>
              <a:t>ano</a:t>
            </a:r>
            <a:r>
              <a:rPr lang="en-US" sz="1600" dirty="0"/>
              <a:t> de </a:t>
            </a:r>
            <a:r>
              <a:rPr lang="en-US" sz="1600" dirty="0" err="1"/>
              <a:t>fabricação</a:t>
            </a:r>
            <a:r>
              <a:rPr lang="en-US" sz="1600" dirty="0"/>
              <a:t>, </a:t>
            </a:r>
            <a:r>
              <a:rPr lang="en-US" sz="1600" dirty="0" err="1"/>
              <a:t>marca</a:t>
            </a:r>
            <a:r>
              <a:rPr lang="en-US" sz="1600" dirty="0"/>
              <a:t>, </a:t>
            </a:r>
            <a:r>
              <a:rPr lang="en-US" sz="1600" dirty="0" err="1"/>
              <a:t>modelo</a:t>
            </a:r>
            <a:r>
              <a:rPr lang="en-US" sz="1600" dirty="0"/>
              <a:t> e </a:t>
            </a:r>
            <a:r>
              <a:rPr lang="en-US" sz="1600" dirty="0" err="1"/>
              <a:t>preço</a:t>
            </a:r>
            <a:r>
              <a:rPr lang="en-US" sz="1600" dirty="0"/>
              <a:t>. </a:t>
            </a:r>
          </a:p>
          <a:p>
            <a:pPr marL="76200" indent="0">
              <a:buNone/>
            </a:pPr>
            <a:r>
              <a:rPr lang="en-US" sz="1600" dirty="0"/>
              <a:t>* Um </a:t>
            </a:r>
            <a:r>
              <a:rPr lang="en-US" sz="1600" dirty="0" err="1"/>
              <a:t>motorista</a:t>
            </a:r>
            <a:r>
              <a:rPr lang="en-US" sz="1600" dirty="0"/>
              <a:t> </a:t>
            </a:r>
            <a:r>
              <a:rPr lang="en-US" sz="1600" dirty="0" err="1"/>
              <a:t>tem</a:t>
            </a:r>
            <a:r>
              <a:rPr lang="en-US" sz="1600" dirty="0"/>
              <a:t> </a:t>
            </a:r>
            <a:r>
              <a:rPr lang="en-US" sz="1600" dirty="0" err="1"/>
              <a:t>apenas</a:t>
            </a:r>
            <a:r>
              <a:rPr lang="en-US" sz="1600" dirty="0"/>
              <a:t> um </a:t>
            </a:r>
            <a:r>
              <a:rPr lang="en-US" sz="1600" dirty="0" err="1"/>
              <a:t>veículo</a:t>
            </a:r>
            <a:r>
              <a:rPr lang="en-US" sz="1600" dirty="0"/>
              <a:t> e um </a:t>
            </a:r>
            <a:r>
              <a:rPr lang="en-US" sz="1600" dirty="0" err="1"/>
              <a:t>veículo</a:t>
            </a:r>
            <a:r>
              <a:rPr lang="en-US" sz="1600" dirty="0"/>
              <a:t> </a:t>
            </a:r>
            <a:r>
              <a:rPr lang="en-US" sz="1600" dirty="0" err="1"/>
              <a:t>está</a:t>
            </a:r>
            <a:r>
              <a:rPr lang="en-US" sz="1600" dirty="0"/>
              <a:t> </a:t>
            </a:r>
            <a:r>
              <a:rPr lang="en-US" sz="1600" dirty="0" err="1"/>
              <a:t>associado</a:t>
            </a:r>
            <a:r>
              <a:rPr lang="en-US" sz="1600" dirty="0"/>
              <a:t> </a:t>
            </a:r>
            <a:r>
              <a:rPr lang="en-US" sz="1600" dirty="0" err="1"/>
              <a:t>apenas</a:t>
            </a:r>
            <a:r>
              <a:rPr lang="en-US" sz="1600" dirty="0"/>
              <a:t> à um </a:t>
            </a:r>
            <a:r>
              <a:rPr lang="en-US" sz="1600" dirty="0" err="1"/>
              <a:t>motorista</a:t>
            </a:r>
            <a:endParaRPr lang="en-US" sz="1600" dirty="0"/>
          </a:p>
          <a:p>
            <a:pPr marL="76200" indent="0">
              <a:buNone/>
            </a:pPr>
            <a:r>
              <a:rPr lang="en-US" sz="1600" dirty="0"/>
              <a:t>* A </a:t>
            </a:r>
            <a:r>
              <a:rPr lang="en-US" sz="1600" dirty="0" err="1"/>
              <a:t>classe</a:t>
            </a:r>
            <a:r>
              <a:rPr lang="en-US" sz="1600" dirty="0"/>
              <a:t> </a:t>
            </a:r>
            <a:r>
              <a:rPr lang="en-US" sz="1600" dirty="0" err="1"/>
              <a:t>Veículo</a:t>
            </a:r>
            <a:r>
              <a:rPr lang="en-US" sz="1600" dirty="0"/>
              <a:t> </a:t>
            </a:r>
            <a:r>
              <a:rPr lang="en-US" sz="1600" dirty="0" err="1"/>
              <a:t>possui</a:t>
            </a:r>
            <a:r>
              <a:rPr lang="en-US" sz="1600" dirty="0"/>
              <a:t> </a:t>
            </a:r>
            <a:r>
              <a:rPr lang="en-US" sz="1600" dirty="0" err="1"/>
              <a:t>ainda</a:t>
            </a:r>
            <a:r>
              <a:rPr lang="en-US" sz="1600" dirty="0"/>
              <a:t> um </a:t>
            </a:r>
            <a:r>
              <a:rPr lang="en-US" sz="1600" dirty="0" err="1"/>
              <a:t>atributo</a:t>
            </a:r>
            <a:r>
              <a:rPr lang="en-US" sz="1600" dirty="0"/>
              <a:t> de </a:t>
            </a:r>
            <a:r>
              <a:rPr lang="en-US" sz="1600" dirty="0" err="1"/>
              <a:t>classe</a:t>
            </a:r>
            <a:r>
              <a:rPr lang="en-US" sz="1600" dirty="0"/>
              <a:t> (</a:t>
            </a:r>
            <a:r>
              <a:rPr lang="en-US" sz="1600" dirty="0" err="1"/>
              <a:t>estático</a:t>
            </a:r>
            <a:r>
              <a:rPr lang="en-US" sz="1600" dirty="0"/>
              <a:t>) de percentual de IPVA, e </a:t>
            </a:r>
            <a:r>
              <a:rPr lang="en-US" sz="1600" dirty="0" err="1"/>
              <a:t>deverá</a:t>
            </a:r>
            <a:r>
              <a:rPr lang="en-US" sz="1600" dirty="0"/>
              <a:t> ter </a:t>
            </a:r>
            <a:r>
              <a:rPr lang="en-US" sz="1600" dirty="0" err="1"/>
              <a:t>como</a:t>
            </a:r>
            <a:r>
              <a:rPr lang="en-US" sz="1600" dirty="0"/>
              <a:t> valor final de 4%, </a:t>
            </a:r>
            <a:r>
              <a:rPr lang="en-US" sz="1600" dirty="0" err="1"/>
              <a:t>não</a:t>
            </a:r>
            <a:r>
              <a:rPr lang="en-US" sz="1600" dirty="0"/>
              <a:t> </a:t>
            </a:r>
            <a:r>
              <a:rPr lang="en-US" sz="1600" dirty="0" err="1"/>
              <a:t>podendo</a:t>
            </a:r>
            <a:r>
              <a:rPr lang="en-US" sz="1600" dirty="0"/>
              <a:t> ser </a:t>
            </a:r>
            <a:r>
              <a:rPr lang="en-US" sz="1600" dirty="0" err="1"/>
              <a:t>alterado</a:t>
            </a:r>
            <a:r>
              <a:rPr lang="en-US" sz="1600" dirty="0"/>
              <a:t>. Esta </a:t>
            </a:r>
            <a:r>
              <a:rPr lang="en-US" sz="1600" dirty="0" err="1"/>
              <a:t>classe</a:t>
            </a:r>
            <a:r>
              <a:rPr lang="en-US" sz="1600" dirty="0"/>
              <a:t> </a:t>
            </a:r>
            <a:r>
              <a:rPr lang="en-US" sz="1600" dirty="0" err="1"/>
              <a:t>ainda</a:t>
            </a:r>
            <a:r>
              <a:rPr lang="en-US" sz="1600" dirty="0"/>
              <a:t> </a:t>
            </a:r>
            <a:r>
              <a:rPr lang="en-US" sz="1600" dirty="0" err="1"/>
              <a:t>possui</a:t>
            </a:r>
            <a:r>
              <a:rPr lang="en-US" sz="1600" dirty="0"/>
              <a:t> um </a:t>
            </a:r>
            <a:r>
              <a:rPr lang="en-US" sz="1600" dirty="0" err="1"/>
              <a:t>método</a:t>
            </a:r>
            <a:r>
              <a:rPr lang="en-US" sz="1600" dirty="0"/>
              <a:t> </a:t>
            </a:r>
            <a:r>
              <a:rPr lang="en-US" sz="1600" dirty="0" err="1"/>
              <a:t>calcularIPVA</a:t>
            </a:r>
            <a:r>
              <a:rPr lang="en-US" sz="1600" dirty="0"/>
              <a:t> </a:t>
            </a:r>
            <a:r>
              <a:rPr lang="en-US" sz="1600" dirty="0" err="1"/>
              <a:t>que</a:t>
            </a:r>
            <a:r>
              <a:rPr lang="en-US" sz="1600" dirty="0"/>
              <a:t> </a:t>
            </a:r>
            <a:r>
              <a:rPr lang="en-US" sz="1600" dirty="0" err="1"/>
              <a:t>retorna</a:t>
            </a:r>
            <a:r>
              <a:rPr lang="en-US" sz="1600" dirty="0"/>
              <a:t> o valor de IPVA do </a:t>
            </a:r>
            <a:r>
              <a:rPr lang="en-US" sz="1600" dirty="0" err="1"/>
              <a:t>veículo</a:t>
            </a:r>
            <a:r>
              <a:rPr lang="en-US" sz="1600" dirty="0"/>
              <a:t>.</a:t>
            </a:r>
          </a:p>
          <a:p>
            <a:pPr marL="76200" indent="0">
              <a:buNone/>
            </a:pPr>
            <a:r>
              <a:rPr lang="en-US" sz="1600" dirty="0"/>
              <a:t>* O </a:t>
            </a:r>
            <a:r>
              <a:rPr lang="en-US" sz="1600" dirty="0" err="1"/>
              <a:t>atributo</a:t>
            </a:r>
            <a:r>
              <a:rPr lang="en-US" sz="1600" dirty="0"/>
              <a:t> </a:t>
            </a:r>
            <a:r>
              <a:rPr lang="en-US" sz="1600" dirty="0" err="1"/>
              <a:t>idade</a:t>
            </a:r>
            <a:r>
              <a:rPr lang="en-US" sz="1600" dirty="0"/>
              <a:t> da </a:t>
            </a:r>
            <a:r>
              <a:rPr lang="en-US" sz="1600" dirty="0" err="1"/>
              <a:t>pessoa</a:t>
            </a:r>
            <a:r>
              <a:rPr lang="en-US" sz="1600" dirty="0"/>
              <a:t> </a:t>
            </a:r>
            <a:r>
              <a:rPr lang="en-US" sz="1600" dirty="0" err="1"/>
              <a:t>não</a:t>
            </a:r>
            <a:r>
              <a:rPr lang="en-US" sz="1600" dirty="0"/>
              <a:t> </a:t>
            </a:r>
            <a:r>
              <a:rPr lang="en-US" sz="1600" dirty="0" err="1"/>
              <a:t>pode</a:t>
            </a:r>
            <a:r>
              <a:rPr lang="en-US" sz="1600" dirty="0"/>
              <a:t> ser </a:t>
            </a:r>
            <a:r>
              <a:rPr lang="en-US" sz="1600" dirty="0" err="1"/>
              <a:t>menor</a:t>
            </a:r>
            <a:r>
              <a:rPr lang="en-US" sz="1600" dirty="0"/>
              <a:t> do </a:t>
            </a:r>
            <a:r>
              <a:rPr lang="en-US" sz="1600" dirty="0" err="1"/>
              <a:t>que</a:t>
            </a:r>
            <a:r>
              <a:rPr lang="en-US" sz="1600" dirty="0"/>
              <a:t> zero e </a:t>
            </a:r>
            <a:r>
              <a:rPr lang="en-US" sz="1600" dirty="0" err="1"/>
              <a:t>nem</a:t>
            </a:r>
            <a:r>
              <a:rPr lang="en-US" sz="1600" dirty="0"/>
              <a:t> </a:t>
            </a:r>
            <a:r>
              <a:rPr lang="en-US" sz="1600" dirty="0" err="1"/>
              <a:t>maior</a:t>
            </a:r>
            <a:r>
              <a:rPr lang="en-US" sz="1600" dirty="0"/>
              <a:t> </a:t>
            </a:r>
            <a:r>
              <a:rPr lang="en-US" sz="1600" dirty="0" err="1"/>
              <a:t>que</a:t>
            </a:r>
            <a:r>
              <a:rPr lang="en-US" sz="1600" dirty="0"/>
              <a:t> 120</a:t>
            </a:r>
          </a:p>
          <a:p>
            <a:pPr marL="76200" indent="0">
              <a:buNone/>
            </a:pPr>
            <a:r>
              <a:rPr lang="en-US" sz="1600" dirty="0"/>
              <a:t>* O </a:t>
            </a:r>
            <a:r>
              <a:rPr lang="en-US" sz="1600" dirty="0" err="1"/>
              <a:t>atributo</a:t>
            </a:r>
            <a:r>
              <a:rPr lang="en-US" sz="1600" dirty="0"/>
              <a:t> </a:t>
            </a:r>
            <a:r>
              <a:rPr lang="en-US" sz="1600" dirty="0" err="1"/>
              <a:t>tipo</a:t>
            </a:r>
            <a:r>
              <a:rPr lang="en-US" sz="1600" dirty="0"/>
              <a:t> de </a:t>
            </a:r>
            <a:r>
              <a:rPr lang="en-US" sz="1600" dirty="0" err="1"/>
              <a:t>carteira</a:t>
            </a:r>
            <a:r>
              <a:rPr lang="en-US" sz="1600" dirty="0"/>
              <a:t> </a:t>
            </a:r>
            <a:r>
              <a:rPr lang="en-US" sz="1600" dirty="0" err="1"/>
              <a:t>aceita</a:t>
            </a:r>
            <a:r>
              <a:rPr lang="en-US" sz="1600" dirty="0"/>
              <a:t> </a:t>
            </a:r>
            <a:r>
              <a:rPr lang="en-US" sz="1600" dirty="0" err="1"/>
              <a:t>apenas</a:t>
            </a:r>
            <a:r>
              <a:rPr lang="en-US" sz="1600" dirty="0"/>
              <a:t> </a:t>
            </a:r>
            <a:r>
              <a:rPr lang="en-US" sz="1600" dirty="0" err="1"/>
              <a:t>os</a:t>
            </a:r>
            <a:r>
              <a:rPr lang="en-US" sz="1600" dirty="0"/>
              <a:t> </a:t>
            </a:r>
            <a:r>
              <a:rPr lang="en-US" sz="1600" dirty="0" err="1"/>
              <a:t>valores</a:t>
            </a:r>
            <a:r>
              <a:rPr lang="en-US" sz="1600" dirty="0"/>
              <a:t> A,B,C </a:t>
            </a:r>
            <a:r>
              <a:rPr lang="en-US" sz="1600" dirty="0" err="1"/>
              <a:t>ou</a:t>
            </a:r>
            <a:r>
              <a:rPr lang="en-US" sz="1600" dirty="0"/>
              <a:t> D.</a:t>
            </a:r>
          </a:p>
          <a:p>
            <a:pPr marL="76200" indent="0">
              <a:buNone/>
            </a:pPr>
            <a:r>
              <a:rPr lang="en-US" sz="1600" dirty="0"/>
              <a:t>* </a:t>
            </a:r>
            <a:r>
              <a:rPr lang="en-US" sz="1600" dirty="0" err="1"/>
              <a:t>Crie</a:t>
            </a:r>
            <a:r>
              <a:rPr lang="en-US" sz="1600" dirty="0"/>
              <a:t> </a:t>
            </a:r>
            <a:r>
              <a:rPr lang="en-US" sz="1600" dirty="0" err="1"/>
              <a:t>por</a:t>
            </a:r>
            <a:r>
              <a:rPr lang="en-US" sz="1600" dirty="0"/>
              <a:t> </a:t>
            </a:r>
            <a:r>
              <a:rPr lang="en-US" sz="1600" dirty="0" err="1"/>
              <a:t>fim</a:t>
            </a:r>
            <a:r>
              <a:rPr lang="en-US" sz="1600" dirty="0"/>
              <a:t> um </a:t>
            </a:r>
            <a:r>
              <a:rPr lang="en-US" sz="1600" dirty="0" err="1"/>
              <a:t>método</a:t>
            </a:r>
            <a:r>
              <a:rPr lang="en-US" sz="1600" dirty="0"/>
              <a:t> </a:t>
            </a:r>
            <a:r>
              <a:rPr lang="en-US" sz="1600" dirty="0" err="1"/>
              <a:t>toString</a:t>
            </a:r>
            <a:r>
              <a:rPr lang="en-US" sz="1600" dirty="0"/>
              <a:t>() </a:t>
            </a:r>
            <a:r>
              <a:rPr lang="en-US" sz="1600" dirty="0" err="1"/>
              <a:t>capaz</a:t>
            </a:r>
            <a:r>
              <a:rPr lang="en-US" sz="1600" dirty="0"/>
              <a:t> de </a:t>
            </a:r>
            <a:r>
              <a:rPr lang="en-US" sz="1600" dirty="0" err="1"/>
              <a:t>retornar</a:t>
            </a:r>
            <a:r>
              <a:rPr lang="en-US" sz="1600" dirty="0"/>
              <a:t> um </a:t>
            </a:r>
            <a:r>
              <a:rPr lang="en-US" sz="1600" dirty="0" err="1"/>
              <a:t>texto</a:t>
            </a:r>
            <a:r>
              <a:rPr lang="en-US" sz="1600" dirty="0"/>
              <a:t> com </a:t>
            </a:r>
            <a:r>
              <a:rPr lang="en-US" sz="1600" dirty="0" err="1"/>
              <a:t>todos</a:t>
            </a:r>
            <a:r>
              <a:rPr lang="en-US" sz="1600" dirty="0"/>
              <a:t> </a:t>
            </a:r>
            <a:r>
              <a:rPr lang="en-US" sz="1600" dirty="0" err="1"/>
              <a:t>os</a:t>
            </a:r>
            <a:r>
              <a:rPr lang="en-US" sz="1600" dirty="0"/>
              <a:t> </a:t>
            </a:r>
            <a:r>
              <a:rPr lang="en-US" sz="1600" dirty="0" err="1"/>
              <a:t>valores</a:t>
            </a:r>
            <a:r>
              <a:rPr lang="en-US" sz="1600" dirty="0"/>
              <a:t> do </a:t>
            </a:r>
            <a:r>
              <a:rPr lang="en-US" sz="1600" dirty="0" err="1"/>
              <a:t>objeto</a:t>
            </a:r>
            <a:r>
              <a:rPr lang="en-US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432268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67DA7448-0842-658E-C73B-27912692D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64AF7CCB-C10D-6BEC-3161-4712351041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Exercício 2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AA521AEE-C5F0-6249-FF24-69E67250C8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76200" indent="0">
              <a:buNone/>
            </a:pPr>
            <a:r>
              <a:rPr lang="pt-BR" dirty="0"/>
              <a:t>Crie uma classe chamada Pessoa (nome, idade). </a:t>
            </a:r>
          </a:p>
          <a:p>
            <a:pPr marL="76200" indent="0">
              <a:buNone/>
            </a:pPr>
            <a:r>
              <a:rPr lang="pt-BR" dirty="0"/>
              <a:t>Crie uma classe </a:t>
            </a:r>
            <a:r>
              <a:rPr lang="pt-BR" dirty="0" err="1"/>
              <a:t>Funcionario</a:t>
            </a:r>
            <a:r>
              <a:rPr lang="pt-BR" dirty="0"/>
              <a:t> (com salario)</a:t>
            </a:r>
          </a:p>
          <a:p>
            <a:pPr marL="76200" indent="0">
              <a:buNone/>
            </a:pPr>
            <a:r>
              <a:rPr lang="pt-BR" dirty="0"/>
              <a:t>O salario não pode ser menor ou igual a 0.</a:t>
            </a:r>
          </a:p>
          <a:p>
            <a:pPr marL="76200" indent="0">
              <a:buNone/>
            </a:pPr>
            <a:r>
              <a:rPr lang="pt-BR" dirty="0"/>
              <a:t>Crie uma classe Cargo (com a descrição do cargo)</a:t>
            </a:r>
          </a:p>
          <a:p>
            <a:pPr marL="76200" indent="0">
              <a:buNone/>
            </a:pPr>
            <a:r>
              <a:rPr lang="pt-BR" dirty="0"/>
              <a:t>Um funcionário pode ter um cargo, mas um cargo pode ter vários funcionários.</a:t>
            </a:r>
          </a:p>
          <a:p>
            <a:pPr marL="76200" indent="0">
              <a:buNone/>
            </a:pPr>
            <a:endParaRPr lang="pt-BR" dirty="0"/>
          </a:p>
          <a:p>
            <a:pPr marL="76200" indent="0">
              <a:buNone/>
            </a:pPr>
            <a:r>
              <a:rPr lang="pt-BR" dirty="0"/>
              <a:t>Crie um menu em que o usuário pode escolher as seguintes opções:</a:t>
            </a:r>
          </a:p>
          <a:p>
            <a:pPr marL="76200" indent="0">
              <a:buNone/>
            </a:pPr>
            <a:r>
              <a:rPr lang="pt-BR" dirty="0"/>
              <a:t>1 – inserir (insira em um </a:t>
            </a:r>
            <a:r>
              <a:rPr lang="pt-BR" dirty="0" err="1"/>
              <a:t>LinkedList</a:t>
            </a:r>
            <a:r>
              <a:rPr lang="pt-BR" dirty="0"/>
              <a:t>&lt;</a:t>
            </a:r>
            <a:r>
              <a:rPr lang="pt-BR" dirty="0" err="1"/>
              <a:t>Funcionario</a:t>
            </a:r>
            <a:r>
              <a:rPr lang="pt-BR" dirty="0"/>
              <a:t>&gt;)</a:t>
            </a:r>
          </a:p>
          <a:p>
            <a:pPr marL="76200" indent="0">
              <a:buNone/>
            </a:pPr>
            <a:r>
              <a:rPr lang="pt-BR" dirty="0"/>
              <a:t>2 – lista (faça um FOR para imprimir todos itens)</a:t>
            </a:r>
          </a:p>
          <a:p>
            <a:pPr marL="76200" indent="0">
              <a:buNone/>
            </a:pPr>
            <a:r>
              <a:rPr lang="pt-BR" dirty="0"/>
              <a:t>3 - sair  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206699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1099</Words>
  <Application>Microsoft Office PowerPoint</Application>
  <PresentationFormat>Apresentação na tela (16:9)</PresentationFormat>
  <Paragraphs>142</Paragraphs>
  <Slides>18</Slides>
  <Notes>18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25" baseType="lpstr">
      <vt:lpstr>Arial</vt:lpstr>
      <vt:lpstr>Courier New</vt:lpstr>
      <vt:lpstr>Impact</vt:lpstr>
      <vt:lpstr>Times New Roman</vt:lpstr>
      <vt:lpstr>Wingdings</vt:lpstr>
      <vt:lpstr>Wingdings 2</vt:lpstr>
      <vt:lpstr>Simple Light</vt:lpstr>
      <vt:lpstr>POO – Modificadores “static” e “final”</vt:lpstr>
      <vt:lpstr>Tópicos da Aula</vt:lpstr>
      <vt:lpstr>Modificador de acesso “static”</vt:lpstr>
      <vt:lpstr>Atributos estáticos em Java</vt:lpstr>
      <vt:lpstr>Atributos estáticos em Java</vt:lpstr>
      <vt:lpstr>Modificador de acesso “static”</vt:lpstr>
      <vt:lpstr>Modificador de acesso “static”</vt:lpstr>
      <vt:lpstr>Métodos estáticos em Java</vt:lpstr>
      <vt:lpstr>Exemplo:</vt:lpstr>
      <vt:lpstr>Exercício</vt:lpstr>
      <vt:lpstr>Modificador de acesso “final”</vt:lpstr>
      <vt:lpstr>Modificador de acesso “final”</vt:lpstr>
      <vt:lpstr>Modificador de acesso “final”</vt:lpstr>
      <vt:lpstr>Modificador de acesso “final”</vt:lpstr>
      <vt:lpstr>Modificador de acesso “final”</vt:lpstr>
      <vt:lpstr>Exercício</vt:lpstr>
      <vt:lpstr>Exercício 2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Legion</dc:creator>
  <cp:lastModifiedBy>Juliano Caetano</cp:lastModifiedBy>
  <cp:revision>4</cp:revision>
  <dcterms:modified xsi:type="dcterms:W3CDTF">2026-05-04T13:32:46Z</dcterms:modified>
</cp:coreProperties>
</file>