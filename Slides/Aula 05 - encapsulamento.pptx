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8"/>
  </p:notesMasterIdLst>
  <p:sldIdLst>
    <p:sldId id="256" r:id="rId2"/>
    <p:sldId id="258" r:id="rId3"/>
    <p:sldId id="262" r:id="rId4"/>
    <p:sldId id="263" r:id="rId5"/>
    <p:sldId id="264" r:id="rId6"/>
    <p:sldId id="265" r:id="rId7"/>
    <p:sldId id="269" r:id="rId8"/>
    <p:sldId id="266" r:id="rId9"/>
    <p:sldId id="270" r:id="rId10"/>
    <p:sldId id="271" r:id="rId11"/>
    <p:sldId id="287" r:id="rId12"/>
    <p:sldId id="273" r:id="rId13"/>
    <p:sldId id="272" r:id="rId14"/>
    <p:sldId id="274" r:id="rId15"/>
    <p:sldId id="276" r:id="rId16"/>
    <p:sldId id="26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47FCF97-0886-8849-4DA2-7C2EF468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F986E03-865A-62E4-A055-0EF5EFEEA2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33A0988-1B79-9855-AD96-866961F80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3264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5023AAB-CE41-DE7D-42D6-D69AA94DA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D804E70-54EE-D0BC-34F9-A4DDE8879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7D5DEC5-FC63-27C1-947C-E19B4C0A5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942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4521A6D-76CC-0FB0-E438-275B08393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71D33158-32F7-B48F-580E-986B7EB9C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A676634E-D625-B801-BA2F-DF1E12753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1837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045A217-1CD0-121D-756D-8FEBCB162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1B2E3629-DE0F-D05B-4EC7-3705295C7F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B8A6C73-086B-3C6F-6A5A-88C5B0A5D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456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EDEE88E-5B73-F88A-4EB3-0A3D02FA0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E0402CC7-4843-339C-74F7-053A47DEF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8BA504E-852F-B828-20CB-9C8C584B1C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569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3676A88-4C65-F95A-954B-3624FC66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7A8BD34-CBE6-4C18-0892-48932D323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B3679640-7A7C-CF6A-DDAA-63F97307A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113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1670F5-EF02-AA77-7161-9866B81A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7309DDA-B29C-AEE2-8025-96044806A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C26A083A-86F7-4CCC-4CA9-8EA7E29A7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032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7AB9AE9-C800-9EE7-4733-79975766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6F52CEF1-609F-D53B-176D-DE775DEBE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621CC8E8-FA15-4E9A-BA49-135F81D1D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463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077A445-A6F5-769E-13C9-E3183F95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0BB6294-A35E-D893-C702-81F70E3CA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62F7A86-7721-94DD-87E5-EC77A3F666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013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ACCC827-295E-CE1B-589F-3044B38F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57CA41A-EA7B-7D8D-667D-F59F411AE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8E0CB1A-8F5A-2032-C499-EED56EF8A8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6377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4D8F12F-AA84-ACD3-A8F5-0EA20076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27918C09-9C43-5E0E-3019-28332AC2F6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9DC950B-A6F0-0EA8-CAD6-BB6DE4537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268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1C71D42-7329-D05C-C117-B42469F88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63B6981-7949-A531-8C49-025C6B4CCF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7178206D-F6F8-CA03-003E-09CE3B008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0874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0A19FBF-6AEF-77AE-CA1D-FA39C02A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A2BAC46-5E27-EE6C-43CF-AD3B3C868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81C638A-25EC-CC5F-00DC-6C222E948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639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f032c298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f032c298c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7" name="Google Shape;37;p7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69" y="4576649"/>
            <a:ext cx="141028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 title="Sem título-1.png"/>
          <p:cNvPicPr preferRelativeResize="0"/>
          <p:nvPr/>
        </p:nvPicPr>
        <p:blipFill rotWithShape="1">
          <a:blip r:embed="rId4">
            <a:alphaModFix/>
          </a:blip>
          <a:srcRect t="7114" r="22779"/>
          <a:stretch/>
        </p:blipFill>
        <p:spPr>
          <a:xfrm>
            <a:off x="6936925" y="0"/>
            <a:ext cx="2207074" cy="4251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pt-BR" altLang="pt-BR" dirty="0"/>
              <a:t>POO – Encapsulamento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Tópicos da Aula</a:t>
            </a:r>
            <a:endParaRPr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Encapsulamento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Exemplos de Encapsulamento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Métodos </a:t>
            </a:r>
            <a:r>
              <a:rPr lang="pt-BR" dirty="0" err="1"/>
              <a:t>Acessores</a:t>
            </a:r>
            <a:r>
              <a:rPr lang="pt-BR" dirty="0"/>
              <a:t> – “</a:t>
            </a:r>
            <a:r>
              <a:rPr lang="pt-BR" dirty="0" err="1"/>
              <a:t>Get</a:t>
            </a:r>
            <a:r>
              <a:rPr lang="pt-BR" dirty="0"/>
              <a:t>” e “Set”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Encapsulamento – Representação Gráfica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Implementação dos Métodos de Acesso (“</a:t>
            </a:r>
            <a:r>
              <a:rPr lang="pt-BR" dirty="0" err="1"/>
              <a:t>gets</a:t>
            </a:r>
            <a:r>
              <a:rPr lang="pt-BR" dirty="0"/>
              <a:t>” e “sets”)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Exemplos Práticos e Exercícios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2302617-A39F-993F-C659-47ED3DB2B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42DBC8A4-D3D8-1B59-07EF-09A5E7F89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Encapsulamento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580FEAA-569C-5A9C-3437-58DA010F6D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pt-BR" dirty="0"/>
              <a:t>Objeto Cafeteira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Picture 19">
            <a:extLst>
              <a:ext uri="{FF2B5EF4-FFF2-40B4-BE49-F238E27FC236}">
                <a16:creationId xmlns:a16="http://schemas.microsoft.com/office/drawing/2014/main" id="{5C0F78F1-E87E-4723-B8A4-29F939843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851" y="1356040"/>
            <a:ext cx="3342435" cy="3342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3E53D2A-48F5-33A2-EB2B-730751B3F941}"/>
              </a:ext>
            </a:extLst>
          </p:cNvPr>
          <p:cNvSpPr txBox="1"/>
          <p:nvPr/>
        </p:nvSpPr>
        <p:spPr>
          <a:xfrm>
            <a:off x="6625716" y="1822018"/>
            <a:ext cx="1739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Desligar()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9524D3-368F-0584-B27B-A66F8F2EAB48}"/>
              </a:ext>
            </a:extLst>
          </p:cNvPr>
          <p:cNvSpPr txBox="1"/>
          <p:nvPr/>
        </p:nvSpPr>
        <p:spPr>
          <a:xfrm>
            <a:off x="6575611" y="3149531"/>
            <a:ext cx="2339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/>
              <a:t>ReporAgua</a:t>
            </a:r>
            <a:r>
              <a:rPr lang="pt-BR" sz="2800" dirty="0"/>
              <a:t>()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73E3D6A-8085-104F-1F41-1270BA4AFE7E}"/>
              </a:ext>
            </a:extLst>
          </p:cNvPr>
          <p:cNvSpPr txBox="1"/>
          <p:nvPr/>
        </p:nvSpPr>
        <p:spPr>
          <a:xfrm>
            <a:off x="395246" y="2687943"/>
            <a:ext cx="1739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Ligar()</a:t>
            </a:r>
          </a:p>
        </p:txBody>
      </p:sp>
    </p:spTree>
    <p:extLst>
      <p:ext uri="{BB962C8B-B14F-4D97-AF65-F5344CB8AC3E}">
        <p14:creationId xmlns:p14="http://schemas.microsoft.com/office/powerpoint/2010/main" val="178690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B109D2D-C12B-B0CE-400A-D92A46D2E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B7A457D6-C20F-6F69-0D5D-770219E8E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Encapsulamento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4EBDF8CD-0C97-DFD0-C87E-394DBEF3A8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É o ato de </a:t>
            </a:r>
            <a:r>
              <a:rPr lang="pt-BR" b="1" dirty="0"/>
              <a:t>proteger</a:t>
            </a:r>
            <a:r>
              <a:rPr lang="pt-BR" dirty="0"/>
              <a:t> características de nossos objetos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isto significa que os elementos que não forem públicos estarão protegidos de ação externa.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O encapsulamento proíbe-nos de mexer diretamente em determinados elementos (</a:t>
            </a:r>
            <a:r>
              <a:rPr lang="pt-BR" b="1" dirty="0"/>
              <a:t>atributos</a:t>
            </a:r>
            <a:r>
              <a:rPr lang="pt-BR" dirty="0"/>
              <a:t>) de um objeto.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7608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26D6386-F1C6-C7CE-7DAA-F29454B1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EB62D23-7F8D-DC30-BC35-BD31FA6CE0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Encapsulamento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2C9254B-376C-CC80-220F-C596D9677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Temos a possibilidade de impor um conjunto de regras/condições que todas instâncias (objetos) de uma classe terão que obedecer.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Ex.: Classe </a:t>
            </a:r>
            <a:r>
              <a:rPr lang="pt-BR" b="1" dirty="0"/>
              <a:t>Pessoa</a:t>
            </a:r>
            <a:r>
              <a:rPr lang="pt-BR" dirty="0"/>
              <a:t> – Atributo </a:t>
            </a:r>
            <a:r>
              <a:rPr lang="pt-BR" b="1" dirty="0"/>
              <a:t>idade &gt;= 0</a:t>
            </a:r>
          </a:p>
          <a:p>
            <a:pPr marL="342900" lvl="0" indent="-342900" algn="l" rtl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dirty="0"/>
              <a:t>Todas as comunicações com os objetos são feitas através do envio de mensagens, ou seja, através de métodos.</a:t>
            </a:r>
          </a:p>
        </p:txBody>
      </p:sp>
    </p:spTree>
    <p:extLst>
      <p:ext uri="{BB962C8B-B14F-4D97-AF65-F5344CB8AC3E}">
        <p14:creationId xmlns:p14="http://schemas.microsoft.com/office/powerpoint/2010/main" val="34983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7CF8E40-FFB5-4091-322B-040A5B0C8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7D6522E-2F1E-C24E-B40B-AFC0E6536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Princípios do Encapsulamento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E35C599-EECE-0EAE-BD87-E122F2237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O programador de uma classe deve </a:t>
            </a:r>
            <a:r>
              <a:rPr lang="pt-BR" altLang="pt-BR" b="1" dirty="0">
                <a:solidFill>
                  <a:srgbClr val="0000CC"/>
                </a:solidFill>
              </a:rPr>
              <a:t>esconder</a:t>
            </a:r>
            <a:r>
              <a:rPr lang="pt-BR" altLang="pt-BR" dirty="0"/>
              <a:t> dos utilizadores dessa classe tudo o que puder ser escondido.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O programador deve fornecer meios (conjuntos de </a:t>
            </a:r>
            <a:r>
              <a:rPr lang="pt-BR" altLang="pt-BR" b="1" i="1" dirty="0">
                <a:solidFill>
                  <a:srgbClr val="006600"/>
                </a:solidFill>
              </a:rPr>
              <a:t>métodos</a:t>
            </a:r>
            <a:r>
              <a:rPr lang="pt-BR" altLang="pt-BR" dirty="0"/>
              <a:t>) claros e simples para a manipulação das instâncias das classes (objetos).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8328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5C7747C-D046-9094-FD11-5913B526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0223501-1813-9E44-FEAA-0280CE17C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Princípios do Encapsulamento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8C918A6A-C047-0994-510A-360717793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Resumindo...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Com o encapsulamento </a:t>
            </a:r>
            <a:r>
              <a:rPr lang="pt-BR" altLang="pt-BR" b="1" dirty="0">
                <a:solidFill>
                  <a:srgbClr val="0000CC"/>
                </a:solidFill>
              </a:rPr>
              <a:t>uma classe </a:t>
            </a:r>
            <a:r>
              <a:rPr lang="pt-BR" altLang="pt-BR" b="1" dirty="0">
                <a:solidFill>
                  <a:srgbClr val="FF0000"/>
                </a:solidFill>
              </a:rPr>
              <a:t>não acessa diretamente</a:t>
            </a:r>
            <a:r>
              <a:rPr lang="pt-BR" altLang="pt-BR" dirty="0"/>
              <a:t> </a:t>
            </a:r>
            <a:r>
              <a:rPr lang="pt-BR" altLang="pt-BR" b="1" i="1" dirty="0">
                <a:solidFill>
                  <a:srgbClr val="006600"/>
                </a:solidFill>
                <a:latin typeface="Comic Sans MS" panose="030F0702030302020204" pitchFamily="66" charset="0"/>
              </a:rPr>
              <a:t>os atributos </a:t>
            </a:r>
            <a:r>
              <a:rPr lang="pt-BR" altLang="pt-BR" dirty="0"/>
              <a:t>de </a:t>
            </a:r>
            <a:r>
              <a:rPr lang="pt-BR" altLang="pt-BR" b="1" dirty="0">
                <a:solidFill>
                  <a:srgbClr val="0000CC"/>
                </a:solidFill>
              </a:rPr>
              <a:t>outra classe</a:t>
            </a:r>
            <a:r>
              <a:rPr lang="pt-BR" altLang="pt-BR" dirty="0"/>
              <a:t>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1400" dirty="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Só </a:t>
            </a:r>
            <a:r>
              <a:rPr lang="pt-BR" altLang="pt-BR" b="1" dirty="0">
                <a:solidFill>
                  <a:srgbClr val="FF0000"/>
                </a:solidFill>
              </a:rPr>
              <a:t>é possível acessar </a:t>
            </a:r>
            <a:r>
              <a:rPr lang="pt-BR" altLang="pt-BR" dirty="0"/>
              <a:t>um atributo de uma classe </a:t>
            </a:r>
            <a:r>
              <a:rPr lang="pt-BR" altLang="pt-BR" b="1" dirty="0">
                <a:solidFill>
                  <a:srgbClr val="FF0000"/>
                </a:solidFill>
              </a:rPr>
              <a:t>a partir </a:t>
            </a:r>
            <a:r>
              <a:rPr lang="pt-BR" altLang="pt-BR" dirty="0"/>
              <a:t>de </a:t>
            </a:r>
            <a:r>
              <a:rPr lang="pt-BR" altLang="pt-BR" b="1" i="1" dirty="0">
                <a:solidFill>
                  <a:srgbClr val="006600"/>
                </a:solidFill>
                <a:latin typeface="Comic Sans MS" panose="030F0702030302020204" pitchFamily="66" charset="0"/>
              </a:rPr>
              <a:t>um método de acesso </a:t>
            </a:r>
            <a:r>
              <a:rPr lang="pt-BR" altLang="pt-BR" dirty="0"/>
              <a:t>a esse atributo.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Isso Significa...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Atributos Privados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Métodos Públicos ou Protegidos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131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9AD1026-12E2-FEEC-9FAE-2D6E427D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CD34973-7F60-EF2B-4B90-ACC1E3039C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Método </a:t>
            </a:r>
            <a:r>
              <a:rPr lang="pt-BR" altLang="pt-BR" sz="2000" dirty="0"/>
              <a:t>“</a:t>
            </a:r>
            <a:r>
              <a:rPr lang="pt-BR" altLang="pt-BR" sz="2400" dirty="0"/>
              <a:t>Set”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F763BBE1-A084-CFB1-6FCD-0BA15B5AC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Nomeamos um método assessor com “</a:t>
            </a:r>
            <a:r>
              <a:rPr lang="pt-BR" altLang="pt-BR" b="1" i="1" dirty="0">
                <a:solidFill>
                  <a:srgbClr val="0000CC"/>
                </a:solidFill>
              </a:rPr>
              <a:t>set</a:t>
            </a:r>
            <a:r>
              <a:rPr lang="pt-BR" altLang="pt-BR" dirty="0"/>
              <a:t>” toda vez que este método for modificar o valor de algum atributo de uma classe.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pt-BR" altLang="pt-BR" sz="1000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Como o valor de um atributo da classe será modificado, </a:t>
            </a:r>
            <a:r>
              <a:rPr lang="pt-BR" altLang="pt-BR" b="1" dirty="0">
                <a:solidFill>
                  <a:srgbClr val="FF0000"/>
                </a:solidFill>
              </a:rPr>
              <a:t>NÃO é necessário </a:t>
            </a:r>
            <a:r>
              <a:rPr lang="pt-BR" altLang="pt-BR" dirty="0"/>
              <a:t>que este método </a:t>
            </a:r>
            <a:r>
              <a:rPr lang="pt-BR" altLang="pt-BR" b="1" dirty="0">
                <a:solidFill>
                  <a:srgbClr val="FF0000"/>
                </a:solidFill>
              </a:rPr>
              <a:t>retorne algum valor</a:t>
            </a:r>
            <a:r>
              <a:rPr lang="pt-BR" altLang="pt-BR" dirty="0"/>
              <a:t>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Por isso, geralmente os métodos “</a:t>
            </a:r>
            <a:r>
              <a:rPr lang="pt-BR" altLang="pt-BR" b="1" i="1" dirty="0" err="1"/>
              <a:t>SETs</a:t>
            </a:r>
            <a:r>
              <a:rPr lang="pt-BR" altLang="pt-BR" dirty="0"/>
              <a:t>” são </a:t>
            </a:r>
            <a:r>
              <a:rPr lang="pt-BR" altLang="pt-BR" dirty="0" err="1"/>
              <a:t>void</a:t>
            </a:r>
            <a:r>
              <a:rPr lang="pt-BR" altLang="pt-BR" dirty="0"/>
              <a:t>.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pt-BR" altLang="pt-BR" sz="1000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pt-BR" altLang="pt-BR" dirty="0"/>
              <a:t>Porém, </a:t>
            </a:r>
            <a:r>
              <a:rPr lang="pt-BR" altLang="pt-BR" b="1" dirty="0">
                <a:solidFill>
                  <a:srgbClr val="FF0000"/>
                </a:solidFill>
              </a:rPr>
              <a:t>OBRIGATORIAMENTE</a:t>
            </a:r>
            <a:r>
              <a:rPr lang="pt-BR" altLang="pt-BR" dirty="0"/>
              <a:t>, </a:t>
            </a:r>
            <a:r>
              <a:rPr lang="pt-BR" altLang="pt-BR" b="1" dirty="0">
                <a:solidFill>
                  <a:srgbClr val="FF0000"/>
                </a:solidFill>
              </a:rPr>
              <a:t>recebem</a:t>
            </a:r>
            <a:r>
              <a:rPr lang="pt-BR" altLang="pt-BR" dirty="0">
                <a:solidFill>
                  <a:srgbClr val="FF0000"/>
                </a:solidFill>
              </a:rPr>
              <a:t> </a:t>
            </a:r>
            <a:r>
              <a:rPr lang="pt-BR" altLang="pt-BR" b="1" dirty="0">
                <a:solidFill>
                  <a:srgbClr val="FF0000"/>
                </a:solidFill>
              </a:rPr>
              <a:t>um</a:t>
            </a:r>
            <a:r>
              <a:rPr lang="pt-BR" altLang="pt-BR" dirty="0">
                <a:solidFill>
                  <a:srgbClr val="FF0000"/>
                </a:solidFill>
              </a:rPr>
              <a:t> </a:t>
            </a:r>
            <a:r>
              <a:rPr lang="pt-BR" altLang="pt-BR" b="1" dirty="0">
                <a:solidFill>
                  <a:srgbClr val="FF0000"/>
                </a:solidFill>
              </a:rPr>
              <a:t>argumento</a:t>
            </a:r>
            <a:r>
              <a:rPr lang="pt-BR" altLang="pt-BR" dirty="0">
                <a:solidFill>
                  <a:srgbClr val="FF0000"/>
                </a:solidFill>
              </a:rPr>
              <a:t> </a:t>
            </a:r>
            <a:r>
              <a:rPr lang="pt-BR" altLang="pt-BR" dirty="0"/>
              <a:t>(parâmetro), que será o novo valor do atributo.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82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9E94DD8-596E-44A8-D93A-45BD2915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2ED86B11-2C7F-384D-86BC-68F557F186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Encapsulamento – Representação Gráfica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3C9AD8A-A4FF-A59F-874B-AC2962A1E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pt-BR" dirty="0">
                <a:latin typeface="Calibri" panose="020F0502020204030204" pitchFamily="34" charset="0"/>
              </a:rPr>
              <a:t>Classe com os Métodos de Acesso “</a:t>
            </a:r>
            <a:r>
              <a:rPr lang="pt-BR" altLang="pt-BR" i="1" dirty="0" err="1">
                <a:latin typeface="Calibri" panose="020F0502020204030204" pitchFamily="34" charset="0"/>
              </a:rPr>
              <a:t>gets</a:t>
            </a:r>
            <a:r>
              <a:rPr lang="pt-BR" altLang="pt-BR" dirty="0">
                <a:latin typeface="Calibri" panose="020F0502020204030204" pitchFamily="34" charset="0"/>
              </a:rPr>
              <a:t>” e “</a:t>
            </a:r>
            <a:r>
              <a:rPr lang="pt-BR" altLang="pt-BR" i="1" dirty="0">
                <a:latin typeface="Calibri" panose="020F0502020204030204" pitchFamily="34" charset="0"/>
              </a:rPr>
              <a:t>sets</a:t>
            </a:r>
            <a:r>
              <a:rPr lang="pt-BR" altLang="pt-BR" dirty="0">
                <a:latin typeface="Calibri" panose="020F0502020204030204" pitchFamily="34" charset="0"/>
              </a:rPr>
              <a:t>” implementados...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2" name="Grupo 3">
            <a:extLst>
              <a:ext uri="{FF2B5EF4-FFF2-40B4-BE49-F238E27FC236}">
                <a16:creationId xmlns:a16="http://schemas.microsoft.com/office/drawing/2014/main" id="{464693EA-FB9F-D3B8-9275-9134D2E1B147}"/>
              </a:ext>
            </a:extLst>
          </p:cNvPr>
          <p:cNvGrpSpPr/>
          <p:nvPr/>
        </p:nvGrpSpPr>
        <p:grpSpPr bwMode="auto">
          <a:xfrm>
            <a:off x="140728" y="1759324"/>
            <a:ext cx="4552950" cy="2447925"/>
            <a:chOff x="3347864" y="2420888"/>
            <a:chExt cx="2232248" cy="1800200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EA108D9A-BC03-5B4B-17A1-769856141AEE}"/>
                </a:ext>
              </a:extLst>
            </p:cNvPr>
            <p:cNvSpPr/>
            <p:nvPr/>
          </p:nvSpPr>
          <p:spPr>
            <a:xfrm>
              <a:off x="3347864" y="2420888"/>
              <a:ext cx="2232248" cy="287191"/>
            </a:xfrm>
            <a:prstGeom prst="rect">
              <a:avLst/>
            </a:prstGeom>
            <a:solidFill>
              <a:srgbClr val="00B0F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Pessoa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71B8DF7B-EE67-54A4-21D4-EFD2453BC03F}"/>
                </a:ext>
              </a:extLst>
            </p:cNvPr>
            <p:cNvSpPr/>
            <p:nvPr/>
          </p:nvSpPr>
          <p:spPr>
            <a:xfrm>
              <a:off x="3347864" y="2708079"/>
              <a:ext cx="2232248" cy="505504"/>
            </a:xfrm>
            <a:prstGeom prst="rect">
              <a:avLst/>
            </a:prstGeom>
            <a:solidFill>
              <a:srgbClr val="00B0F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-</a:t>
              </a:r>
              <a:r>
                <a:rPr lang="pt-BR" sz="2000" dirty="0">
                  <a:solidFill>
                    <a:srgbClr val="000000"/>
                  </a:solidFill>
                </a:rPr>
                <a:t> nome: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-</a:t>
              </a:r>
              <a:r>
                <a:rPr lang="pt-BR" sz="2000" dirty="0">
                  <a:solidFill>
                    <a:srgbClr val="000000"/>
                  </a:solidFill>
                </a:rPr>
                <a:t> idade: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endParaRPr lang="pt-BR" sz="2000" dirty="0">
                <a:solidFill>
                  <a:srgbClr val="000000"/>
                </a:solidFill>
              </a:endParaRP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284C309-B705-B288-4D79-3E3BE12E04B4}"/>
                </a:ext>
              </a:extLst>
            </p:cNvPr>
            <p:cNvSpPr/>
            <p:nvPr/>
          </p:nvSpPr>
          <p:spPr>
            <a:xfrm>
              <a:off x="3347864" y="3213583"/>
              <a:ext cx="2232248" cy="1007505"/>
            </a:xfrm>
            <a:prstGeom prst="rect">
              <a:avLst/>
            </a:prstGeom>
            <a:solidFill>
              <a:srgbClr val="00B0F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PegaNome</a:t>
              </a:r>
              <a:r>
                <a:rPr lang="pt-BR" sz="2000" dirty="0">
                  <a:solidFill>
                    <a:srgbClr val="000000"/>
                  </a:solidFill>
                </a:rPr>
                <a:t>():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AlteraNome</a:t>
              </a:r>
              <a:r>
                <a:rPr lang="pt-BR" sz="2000" dirty="0">
                  <a:solidFill>
                    <a:srgbClr val="000000"/>
                  </a:solidFill>
                </a:rPr>
                <a:t>(</a:t>
              </a:r>
              <a:r>
                <a:rPr lang="pt-BR" sz="2000" dirty="0" err="1">
                  <a:solidFill>
                    <a:srgbClr val="000000"/>
                  </a:solidFill>
                </a:rPr>
                <a:t>novoNome</a:t>
              </a:r>
              <a:r>
                <a:rPr lang="pt-BR" sz="2000" dirty="0">
                  <a:solidFill>
                    <a:srgbClr val="000000"/>
                  </a:solidFill>
                </a:rPr>
                <a:t>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void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PegaIdade</a:t>
              </a:r>
              <a:r>
                <a:rPr lang="pt-BR" sz="2000" dirty="0">
                  <a:solidFill>
                    <a:srgbClr val="000000"/>
                  </a:solidFill>
                </a:rPr>
                <a:t>():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endParaRPr lang="pt-BR" sz="2000" b="1" dirty="0">
                <a:solidFill>
                  <a:srgbClr val="000000"/>
                </a:solidFill>
              </a:endParaRP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AlteraIdade</a:t>
              </a:r>
              <a:r>
                <a:rPr lang="pt-BR" sz="2000" dirty="0">
                  <a:solidFill>
                    <a:srgbClr val="000000"/>
                  </a:solidFill>
                </a:rPr>
                <a:t>(</a:t>
              </a:r>
              <a:r>
                <a:rPr lang="pt-BR" sz="2000" dirty="0" err="1">
                  <a:solidFill>
                    <a:srgbClr val="000000"/>
                  </a:solidFill>
                </a:rPr>
                <a:t>novaIdade</a:t>
              </a:r>
              <a:r>
                <a:rPr lang="pt-BR" sz="2000" dirty="0">
                  <a:solidFill>
                    <a:srgbClr val="000000"/>
                  </a:solidFill>
                </a:rPr>
                <a:t>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void</a:t>
              </a:r>
              <a:endParaRPr lang="pt-BR" sz="20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upo 3">
            <a:extLst>
              <a:ext uri="{FF2B5EF4-FFF2-40B4-BE49-F238E27FC236}">
                <a16:creationId xmlns:a16="http://schemas.microsoft.com/office/drawing/2014/main" id="{1EF48AA7-B1DA-757F-C4DA-87DD66E05289}"/>
              </a:ext>
            </a:extLst>
          </p:cNvPr>
          <p:cNvGrpSpPr/>
          <p:nvPr/>
        </p:nvGrpSpPr>
        <p:grpSpPr bwMode="auto">
          <a:xfrm>
            <a:off x="4864650" y="1759324"/>
            <a:ext cx="4233863" cy="2447925"/>
            <a:chOff x="3347864" y="2420888"/>
            <a:chExt cx="2232248" cy="1799977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614C0B1F-09EF-2697-26A5-5773370AAEB8}"/>
                </a:ext>
              </a:extLst>
            </p:cNvPr>
            <p:cNvSpPr/>
            <p:nvPr/>
          </p:nvSpPr>
          <p:spPr>
            <a:xfrm>
              <a:off x="3347864" y="2420888"/>
              <a:ext cx="2232248" cy="287156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Pessoa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0395BC1-9D15-E436-77C6-AF4CCAC61AAD}"/>
                </a:ext>
              </a:extLst>
            </p:cNvPr>
            <p:cNvSpPr/>
            <p:nvPr/>
          </p:nvSpPr>
          <p:spPr>
            <a:xfrm>
              <a:off x="3347864" y="2708044"/>
              <a:ext cx="2232248" cy="505441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-</a:t>
              </a:r>
              <a:r>
                <a:rPr lang="pt-BR" sz="2000" dirty="0">
                  <a:solidFill>
                    <a:srgbClr val="000000"/>
                  </a:solidFill>
                </a:rPr>
                <a:t> nome: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-</a:t>
              </a:r>
              <a:r>
                <a:rPr lang="pt-BR" sz="2000" dirty="0">
                  <a:solidFill>
                    <a:srgbClr val="000000"/>
                  </a:solidFill>
                </a:rPr>
                <a:t> idade: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endParaRPr lang="pt-BR" sz="2000" dirty="0">
                <a:solidFill>
                  <a:srgbClr val="000000"/>
                </a:solidFill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3701A0C-C73A-59C2-0B55-7B19D1DF0D2A}"/>
                </a:ext>
              </a:extLst>
            </p:cNvPr>
            <p:cNvSpPr/>
            <p:nvPr/>
          </p:nvSpPr>
          <p:spPr>
            <a:xfrm>
              <a:off x="3347864" y="3213485"/>
              <a:ext cx="2232248" cy="100738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getNome</a:t>
              </a:r>
              <a:r>
                <a:rPr lang="pt-BR" sz="2000" dirty="0">
                  <a:solidFill>
                    <a:srgbClr val="000000"/>
                  </a:solidFill>
                </a:rPr>
                <a:t>():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endParaRPr lang="pt-BR" sz="2000" b="1" dirty="0">
                <a:solidFill>
                  <a:srgbClr val="000000"/>
                </a:solidFill>
              </a:endParaRP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setNome</a:t>
              </a:r>
              <a:r>
                <a:rPr lang="pt-BR" sz="2000" dirty="0">
                  <a:solidFill>
                    <a:srgbClr val="000000"/>
                  </a:solidFill>
                </a:rPr>
                <a:t>(</a:t>
              </a:r>
              <a:r>
                <a:rPr lang="pt-BR" sz="2000" dirty="0" err="1">
                  <a:solidFill>
                    <a:srgbClr val="000000"/>
                  </a:solidFill>
                </a:rPr>
                <a:t>novoNome</a:t>
              </a:r>
              <a:r>
                <a:rPr lang="pt-BR" sz="2000" dirty="0">
                  <a:solidFill>
                    <a:srgbClr val="000000"/>
                  </a:solidFill>
                </a:rPr>
                <a:t>: </a:t>
              </a:r>
              <a:r>
                <a:rPr lang="pt-BR" sz="2000" dirty="0" err="1">
                  <a:solidFill>
                    <a:srgbClr val="000000"/>
                  </a:solidFill>
                </a:rPr>
                <a:t>String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void</a:t>
              </a:r>
              <a:endParaRPr lang="pt-BR" sz="2000" dirty="0">
                <a:solidFill>
                  <a:srgbClr val="000000"/>
                </a:solidFill>
              </a:endParaRP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getIdade</a:t>
              </a:r>
              <a:r>
                <a:rPr lang="pt-BR" sz="2000" dirty="0">
                  <a:solidFill>
                    <a:srgbClr val="000000"/>
                  </a:solidFill>
                </a:rPr>
                <a:t>():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</a:p>
            <a:p>
              <a:pPr defTabSz="405765" eaLnBrk="1" hangingPunct="1">
                <a:defRPr/>
              </a:pPr>
              <a:r>
                <a:rPr lang="pt-BR" sz="2000" b="1" dirty="0">
                  <a:solidFill>
                    <a:srgbClr val="000000"/>
                  </a:solidFill>
                </a:rPr>
                <a:t>+</a:t>
              </a:r>
              <a:r>
                <a:rPr lang="pt-BR" sz="2000" dirty="0">
                  <a:solidFill>
                    <a:srgbClr val="000000"/>
                  </a:solidFill>
                </a:rPr>
                <a:t> </a:t>
              </a:r>
              <a:r>
                <a:rPr lang="pt-BR" sz="2000" dirty="0" err="1">
                  <a:solidFill>
                    <a:srgbClr val="000000"/>
                  </a:solidFill>
                </a:rPr>
                <a:t>setIdade</a:t>
              </a:r>
              <a:r>
                <a:rPr lang="pt-BR" sz="2000" dirty="0">
                  <a:solidFill>
                    <a:srgbClr val="000000"/>
                  </a:solidFill>
                </a:rPr>
                <a:t>(</a:t>
              </a:r>
              <a:r>
                <a:rPr lang="pt-BR" sz="2000" dirty="0" err="1">
                  <a:solidFill>
                    <a:srgbClr val="000000"/>
                  </a:solidFill>
                </a:rPr>
                <a:t>novaIdade</a:t>
              </a:r>
              <a:r>
                <a:rPr lang="pt-BR" sz="2000" dirty="0">
                  <a:solidFill>
                    <a:srgbClr val="000000"/>
                  </a:solidFill>
                </a:rPr>
                <a:t>: </a:t>
              </a:r>
              <a:r>
                <a:rPr lang="pt-BR" sz="2000" dirty="0" err="1">
                  <a:solidFill>
                    <a:srgbClr val="000000"/>
                  </a:solidFill>
                </a:rPr>
                <a:t>int</a:t>
              </a:r>
              <a:r>
                <a:rPr lang="pt-BR" sz="2000" dirty="0">
                  <a:solidFill>
                    <a:srgbClr val="000000"/>
                  </a:solidFill>
                </a:rPr>
                <a:t>): </a:t>
              </a:r>
              <a:r>
                <a:rPr lang="pt-BR" sz="2000" dirty="0" err="1">
                  <a:solidFill>
                    <a:srgbClr val="000000"/>
                  </a:solidFill>
                </a:rPr>
                <a:t>void</a:t>
              </a:r>
              <a:endParaRPr lang="pt-BR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10" name="Texto explicativo 1 22">
            <a:extLst>
              <a:ext uri="{FF2B5EF4-FFF2-40B4-BE49-F238E27FC236}">
                <a16:creationId xmlns:a16="http://schemas.microsoft.com/office/drawing/2014/main" id="{1725FDC5-0BA6-A11E-0E86-B3945FD5F5C8}"/>
              </a:ext>
            </a:extLst>
          </p:cNvPr>
          <p:cNvSpPr/>
          <p:nvPr/>
        </p:nvSpPr>
        <p:spPr bwMode="auto">
          <a:xfrm>
            <a:off x="5351462" y="4418487"/>
            <a:ext cx="1883055" cy="757237"/>
          </a:xfrm>
          <a:prstGeom prst="borderCallout1">
            <a:avLst>
              <a:gd name="adj1" fmla="val -2648"/>
              <a:gd name="adj2" fmla="val 46994"/>
              <a:gd name="adj3" fmla="val -28081"/>
              <a:gd name="adj4" fmla="val 36983"/>
            </a:avLst>
          </a:prstGeom>
          <a:solidFill>
            <a:srgbClr val="92D050"/>
          </a:solidFill>
          <a:ln w="34925" algn="ctr">
            <a:solidFill>
              <a:srgbClr val="FF0000"/>
            </a:solidFill>
            <a:round/>
            <a:tailEnd type="arrow" w="med" len="med"/>
          </a:ln>
        </p:spPr>
        <p:txBody>
          <a:bodyPr wrap="none" lIns="91430" tIns="45715" rIns="91430" bIns="45715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ADCEDC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EB641B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B641B"/>
              </a:buClr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 i="1" dirty="0" err="1">
                <a:solidFill>
                  <a:srgbClr val="000000"/>
                </a:solidFill>
              </a:rPr>
              <a:t>GETs</a:t>
            </a:r>
            <a:r>
              <a:rPr lang="pt-BR" altLang="pt-BR" sz="1800" b="1" i="1" dirty="0">
                <a:solidFill>
                  <a:srgbClr val="000000"/>
                </a:solidFill>
              </a:rPr>
              <a:t> e </a:t>
            </a:r>
            <a:r>
              <a:rPr lang="pt-BR" altLang="pt-BR" sz="1800" b="1" i="1" dirty="0" err="1">
                <a:solidFill>
                  <a:srgbClr val="000000"/>
                </a:solidFill>
              </a:rPr>
              <a:t>SETs</a:t>
            </a:r>
            <a:endParaRPr lang="pt-BR" altLang="pt-BR" sz="1800" b="1" i="1" dirty="0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 i="1" dirty="0">
                <a:solidFill>
                  <a:srgbClr val="000000"/>
                </a:solidFill>
              </a:rPr>
              <a:t>Implementados</a:t>
            </a:r>
          </a:p>
        </p:txBody>
      </p:sp>
    </p:spTree>
    <p:extLst>
      <p:ext uri="{BB962C8B-B14F-4D97-AF65-F5344CB8AC3E}">
        <p14:creationId xmlns:p14="http://schemas.microsoft.com/office/powerpoint/2010/main" val="188749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268C1E4-9D06-D1CF-BD4E-32D77F66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8455348-FD3F-6D68-E5B5-6FF16F1E7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Implementação dos Métodos de Acesso (</a:t>
            </a:r>
            <a:r>
              <a:rPr lang="pt-BR" altLang="pt-BR" i="1" dirty="0"/>
              <a:t>“</a:t>
            </a:r>
            <a:r>
              <a:rPr lang="pt-BR" altLang="pt-BR" i="1" dirty="0" err="1"/>
              <a:t>gets</a:t>
            </a:r>
            <a:r>
              <a:rPr lang="pt-BR" altLang="pt-BR" i="1" dirty="0"/>
              <a:t>” </a:t>
            </a:r>
            <a:r>
              <a:rPr lang="pt-BR" altLang="pt-BR" dirty="0"/>
              <a:t>e </a:t>
            </a:r>
            <a:r>
              <a:rPr lang="pt-BR" altLang="pt-BR" i="1" dirty="0"/>
              <a:t>“sets”</a:t>
            </a:r>
            <a:r>
              <a:rPr lang="pt-BR" altLang="pt-BR" dirty="0"/>
              <a:t>)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13D5F1E-976B-E8EF-F1CA-2EA982565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E583706-9A7C-6892-B63B-4DFA08BA110F}"/>
              </a:ext>
            </a:extLst>
          </p:cNvPr>
          <p:cNvSpPr/>
          <p:nvPr/>
        </p:nvSpPr>
        <p:spPr>
          <a:xfrm>
            <a:off x="921300" y="1017725"/>
            <a:ext cx="6528371" cy="4125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Pessoa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b="1" dirty="0">
              <a:solidFill>
                <a:srgbClr val="0505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0){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}else{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585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9250265-3354-3098-B967-93DD6CA69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A536966-F99E-618E-0DE3-B41404D93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pt-BR" dirty="0"/>
              <a:t>Implementação dos Métodos de Acesso (</a:t>
            </a:r>
            <a:r>
              <a:rPr lang="pt-BR" altLang="pt-BR" i="1" dirty="0"/>
              <a:t>“</a:t>
            </a:r>
            <a:r>
              <a:rPr lang="pt-BR" altLang="pt-BR" i="1" dirty="0" err="1"/>
              <a:t>gets</a:t>
            </a:r>
            <a:r>
              <a:rPr lang="pt-BR" altLang="pt-BR" i="1" dirty="0"/>
              <a:t>” </a:t>
            </a:r>
            <a:r>
              <a:rPr lang="pt-BR" altLang="pt-BR" dirty="0"/>
              <a:t>e </a:t>
            </a:r>
            <a:r>
              <a:rPr lang="pt-BR" altLang="pt-BR" i="1" dirty="0"/>
              <a:t>“sets”</a:t>
            </a:r>
            <a:r>
              <a:rPr lang="pt-BR" altLang="pt-BR" dirty="0"/>
              <a:t>)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0B0FA94-EBB9-ED9D-F4A8-FE17A1D816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F5BEC54-AA5D-5F51-6A5E-4811C4F45FA1}"/>
              </a:ext>
            </a:extLst>
          </p:cNvPr>
          <p:cNvSpPr/>
          <p:nvPr/>
        </p:nvSpPr>
        <p:spPr>
          <a:xfrm>
            <a:off x="921300" y="1017725"/>
            <a:ext cx="7622065" cy="4125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Pessoa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 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novoNome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(){  </a:t>
            </a:r>
          </a:p>
          <a:p>
            <a:pPr>
              <a:defRPr/>
            </a:pP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b="1" dirty="0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b="1" dirty="0">
              <a:solidFill>
                <a:srgbClr val="0505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solidFill>
                  <a:srgbClr val="0000C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b="1" dirty="0" err="1">
                <a:solidFill>
                  <a:srgbClr val="0505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){  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0){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}else{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GB" b="1" i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novaIdade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>
              <a:defRPr/>
            </a:pP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64BE101-88E7-2439-FA9F-CA812B18B878}"/>
              </a:ext>
            </a:extLst>
          </p:cNvPr>
          <p:cNvSpPr/>
          <p:nvPr/>
        </p:nvSpPr>
        <p:spPr>
          <a:xfrm>
            <a:off x="1192306" y="1694329"/>
            <a:ext cx="4957482" cy="316454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Balão de Fala: Retângulo com Cantos Arredondados 3">
            <a:extLst>
              <a:ext uri="{FF2B5EF4-FFF2-40B4-BE49-F238E27FC236}">
                <a16:creationId xmlns:a16="http://schemas.microsoft.com/office/drawing/2014/main" id="{BC7BCC80-28F5-1B46-8689-1E2CAA3DBB0C}"/>
              </a:ext>
            </a:extLst>
          </p:cNvPr>
          <p:cNvSpPr/>
          <p:nvPr/>
        </p:nvSpPr>
        <p:spPr>
          <a:xfrm>
            <a:off x="6517341" y="1783976"/>
            <a:ext cx="1631577" cy="787774"/>
          </a:xfrm>
          <a:prstGeom prst="wedgeRoundRectCallout">
            <a:avLst>
              <a:gd name="adj1" fmla="val -88415"/>
              <a:gd name="adj2" fmla="val -4641"/>
              <a:gd name="adj3" fmla="val 16667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Métodos de Acesso</a:t>
            </a:r>
          </a:p>
        </p:txBody>
      </p:sp>
    </p:spTree>
    <p:extLst>
      <p:ext uri="{BB962C8B-B14F-4D97-AF65-F5344CB8AC3E}">
        <p14:creationId xmlns:p14="http://schemas.microsoft.com/office/powerpoint/2010/main" val="3257279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703F1BC-5418-1765-861E-37AAC369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A452516-89F0-80BF-1942-C4D94E1158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Encapsulamento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12B9CDAB-D9B7-4474-0D8F-FD9162FE6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Proteger os atributos através de métodos de acesso. Ou seja, outras classes não terão acesso direto aos atributos (privados) e deverão ser criados método públicos GET e SET.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GET: pegar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dirty="0"/>
              <a:t>SET: atribuir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802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E3A03B1-3D12-AC01-19F3-42E829C5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109E4394-D072-CB09-79B1-DB1C40ECED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altLang="en-US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62963197-C19C-F203-4183-A1EB0A8FC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altLang="pt-BR" dirty="0"/>
              <a:t>Implemente os Métodos de Acesso (</a:t>
            </a:r>
            <a:r>
              <a:rPr lang="pt-BR" altLang="pt-BR" i="1" dirty="0" err="1"/>
              <a:t>GETs</a:t>
            </a:r>
            <a:r>
              <a:rPr lang="pt-BR" altLang="pt-BR" i="1" dirty="0"/>
              <a:t> </a:t>
            </a:r>
            <a:r>
              <a:rPr lang="pt-BR" altLang="pt-BR" dirty="0"/>
              <a:t>e</a:t>
            </a:r>
            <a:r>
              <a:rPr lang="pt-BR" altLang="pt-BR" i="1" dirty="0"/>
              <a:t> </a:t>
            </a:r>
            <a:r>
              <a:rPr lang="pt-BR" altLang="pt-BR" i="1" dirty="0" err="1"/>
              <a:t>SETs</a:t>
            </a:r>
            <a:r>
              <a:rPr lang="pt-BR" altLang="pt-BR" dirty="0"/>
              <a:t>) em TODAS as classes dos projetos desenvolvidos até o momento...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4072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C73BDFB-F2F9-A7CE-A6B4-9F211A662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AABB9A1-E806-5B41-111E-6B1D46F02C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dirty="0"/>
              <a:t>Exemplo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FE7D3F3F-61F5-34B2-4335-E83B5465F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C534752-A1B2-9CFC-0366-335AC0A7255E}"/>
              </a:ext>
            </a:extLst>
          </p:cNvPr>
          <p:cNvSpPr/>
          <p:nvPr/>
        </p:nvSpPr>
        <p:spPr>
          <a:xfrm>
            <a:off x="311700" y="1152475"/>
            <a:ext cx="7792394" cy="28385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pt-BR"/>
              <a:t>public class Abobrinha {</a:t>
            </a:r>
          </a:p>
          <a:p>
            <a:pPr marL="0" indent="0">
              <a:buNone/>
            </a:pPr>
            <a:r>
              <a:rPr lang="pt-BR"/>
              <a:t>   private double peso;</a:t>
            </a:r>
          </a:p>
          <a:p>
            <a:pPr marL="0" indent="0">
              <a:buNone/>
            </a:pPr>
            <a:r>
              <a:rPr lang="pt-BR"/>
              <a:t>   </a:t>
            </a:r>
          </a:p>
          <a:p>
            <a:pPr marL="0" indent="0">
              <a:buNone/>
            </a:pPr>
            <a:r>
              <a:rPr lang="pt-BR"/>
              <a:t>   public double getPeso() {</a:t>
            </a:r>
          </a:p>
          <a:p>
            <a:pPr marL="0" indent="0">
              <a:buNone/>
            </a:pPr>
            <a:r>
              <a:rPr lang="pt-BR"/>
              <a:t>      return peso;</a:t>
            </a:r>
          </a:p>
          <a:p>
            <a:pPr marL="0" indent="0">
              <a:buNone/>
            </a:pPr>
            <a:r>
              <a:rPr lang="pt-BR"/>
              <a:t>   }</a:t>
            </a:r>
          </a:p>
          <a:p>
            <a:pPr marL="0" indent="0">
              <a:buNone/>
            </a:pPr>
            <a:r>
              <a:rPr lang="pt-BR"/>
              <a:t>   public void setPeso(double peso) {</a:t>
            </a:r>
          </a:p>
          <a:p>
            <a:pPr marL="0" indent="0">
              <a:buNone/>
            </a:pPr>
            <a:r>
              <a:rPr lang="pt-BR"/>
              <a:t>        this.peso = peso;</a:t>
            </a:r>
          </a:p>
          <a:p>
            <a:pPr marL="0" indent="0">
              <a:buNone/>
            </a:pPr>
            <a:r>
              <a:rPr lang="pt-BR"/>
              <a:t>   }</a:t>
            </a:r>
          </a:p>
          <a:p>
            <a:pPr marL="0" indent="0">
              <a:buNone/>
            </a:pPr>
            <a:r>
              <a:rPr lang="pt-BR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9748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402F3EE-93CB-1285-CEA7-43604F41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99A1F9F-5A3C-12AE-855A-E6F5872EA0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Exercício 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6800D1E-6DC7-41BE-8C17-A77F54D18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Crie uma classe chamada </a:t>
            </a:r>
            <a:r>
              <a:rPr lang="pt-BR" dirty="0" err="1"/>
              <a:t>Funcionario</a:t>
            </a:r>
            <a:r>
              <a:rPr lang="pt-BR" dirty="0"/>
              <a:t> contendo os atributos: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nome, cargo, salario, </a:t>
            </a:r>
            <a:r>
              <a:rPr lang="pt-BR" dirty="0" err="1"/>
              <a:t>valorvendido</a:t>
            </a:r>
            <a:r>
              <a:rPr lang="pt-BR" dirty="0"/>
              <a:t> e </a:t>
            </a:r>
            <a:r>
              <a:rPr lang="pt-BR" dirty="0" err="1"/>
              <a:t>percentualcomissao</a:t>
            </a:r>
            <a:endParaRPr lang="pt-BR" dirty="0"/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O salário não poderá ser menor do que meio salário mínimo (810,50) o percentual de comissão não poderá ser negativo </a:t>
            </a:r>
            <a:r>
              <a:rPr lang="pt-BR"/>
              <a:t>e nem maior </a:t>
            </a:r>
            <a:r>
              <a:rPr lang="pt-BR" dirty="0"/>
              <a:t>que 25%.  O </a:t>
            </a:r>
            <a:r>
              <a:rPr lang="pt-BR" dirty="0" err="1"/>
              <a:t>valorvendido</a:t>
            </a:r>
            <a:r>
              <a:rPr lang="pt-BR" dirty="0"/>
              <a:t> não poderá ser negativo.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pt-BR" dirty="0"/>
              <a:t>Crie ainda um método capaz de retornar o valor da </a:t>
            </a:r>
            <a:r>
              <a:rPr lang="pt-BR" dirty="0" err="1"/>
              <a:t>comissao</a:t>
            </a:r>
            <a:r>
              <a:rPr lang="pt-BR" dirty="0"/>
              <a:t>, calculando-se o percentual da comissão sobre o valor vendido.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380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786</Words>
  <Application>Microsoft Office PowerPoint</Application>
  <PresentationFormat>Apresentação na tela (16:9)</PresentationFormat>
  <Paragraphs>122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Comic Sans MS</vt:lpstr>
      <vt:lpstr>Courier New</vt:lpstr>
      <vt:lpstr>Impact</vt:lpstr>
      <vt:lpstr>Simple Light</vt:lpstr>
      <vt:lpstr>POO – Encapsulamento</vt:lpstr>
      <vt:lpstr>Tópicos da Aula</vt:lpstr>
      <vt:lpstr>Encapsulamento</vt:lpstr>
      <vt:lpstr>Encapsulamento</vt:lpstr>
      <vt:lpstr>Encapsulamento</vt:lpstr>
      <vt:lpstr>Princípios do Encapsulamento</vt:lpstr>
      <vt:lpstr>Princípios do Encapsulamento</vt:lpstr>
      <vt:lpstr>Método “Set”</vt:lpstr>
      <vt:lpstr>Encapsulamento – Representação Gráfica</vt:lpstr>
      <vt:lpstr>Implementação dos Métodos de Acesso (“gets” e “sets”)</vt:lpstr>
      <vt:lpstr>Implementação dos Métodos de Acesso (“gets” e “sets”)</vt:lpstr>
      <vt:lpstr>Encapsulamento</vt:lpstr>
      <vt:lpstr>Exercício</vt:lpstr>
      <vt:lpstr>Exemplo</vt:lpstr>
      <vt:lpstr>Exercício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Legion</dc:creator>
  <cp:lastModifiedBy>Juliano Caetano</cp:lastModifiedBy>
  <cp:revision>6</cp:revision>
  <dcterms:modified xsi:type="dcterms:W3CDTF">2026-03-31T00:47:38Z</dcterms:modified>
</cp:coreProperties>
</file>