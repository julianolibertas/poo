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27"/>
  </p:notesMasterIdLst>
  <p:sldIdLst>
    <p:sldId id="256" r:id="rId2"/>
    <p:sldId id="258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61" r:id="rId2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505E3EF-67EA-436B-97B2-0124C06EBD24}" styleName="Estilo Médio 4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1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846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29E924A-F5A7-54D2-03F7-7718AF4D7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0E9A47B6-D0EF-8ADA-F75C-91C1B86EA1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8E502A97-5BD6-0A94-6CD3-E1CD8DAA76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9934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1CB925A-ECC0-33F4-074C-7A734F0E4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5F921A8F-6C87-BB40-20F5-0EF7A1C443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E107DAD6-7B8B-179F-AB94-7AD817491D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83444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BF16527-0AED-05CC-DBAA-32300FEEB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88471718-8881-3310-476A-D4D05B4E2B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E803295F-DBAE-5D03-E4A8-BA70F3B440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18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7EAD588-F846-8CC9-B482-648E67F95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EA9ECF4A-EB03-3FEC-8C37-966A9F8B22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A664BB37-86FA-C5B5-721B-2EE974CD42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7370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00CC8F6-3CF0-4F98-88DC-ED1675D4B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357F8190-4235-8358-4ED0-423656BA31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F5A6A026-628E-B412-21C9-0CB412E98F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2385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F953E22-D490-B426-C7F9-C60FB12B4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B6BC4120-17D6-5315-B58C-45FB7E7A02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BE145D87-A77E-4786-FBCB-B8DD7B8B4A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99418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C131921-955F-559B-CC89-CC6CCC357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88A4E3B9-B1A6-2F4C-A022-4C77175A88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5AD2D2F1-D580-82E4-7E43-38AE637032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85379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88BE048-ACD1-4F52-70D1-2DFEC0C62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4EFD6344-EBD4-CC6B-38AE-4E4B3EA64A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285511AC-0283-4B63-5921-3D622F6C2D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02770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6C4DF29-4127-7C8F-F826-53382D490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510954EF-0B3B-ECFC-B144-24CF3EA08A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59E3EEF6-BCFB-47D0-B8BD-49FD85CBAF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80379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447608E-53C7-58BA-D399-AA1743AB2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4BFAE3DE-EC74-780E-F9D3-967F1E9F04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D667DD4D-1288-25EA-22FD-E6D67EE804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14778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76295B0-0702-21E9-7519-C747CF9F6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D58B7FE9-CA2B-ECFD-35A4-C8D8A07B07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B2AF682A-B67C-5377-D3CB-AD3966FBE6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13261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0394FA2-332B-0615-5B10-C176E9177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1119D6A7-D4C8-084C-FCA7-83E985423C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ADBE71B2-3B7B-F5E5-AB35-AA0CE3157C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12117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0807A02-FE38-5964-D29F-089D22327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DF1831D3-B3F8-B955-6610-B7064B86C5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B234DD93-D11F-2BE6-E702-6322594F6F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52641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FCB7F2C-6A87-6B2B-8407-05BEB2894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7EB06C42-38FC-4211-4CC3-746AFC961A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83C1F8B9-9F76-2EE3-7913-BC39F84C63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66123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EEF0AE7-7D81-D74D-FC76-7DBF8C68D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9E9DA7D7-5EF4-2017-7577-E0F5F380CD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424CEE07-ADC8-5BAD-AD95-16721FAAD6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58371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38C6C5F-1203-59F2-D356-8593FAAE0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52C7A7B9-9E38-C158-C32C-752A117194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4DD28064-F54D-F56C-5343-3F9F8C162A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43015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CB53344-2699-6ABE-80D2-B665ACB25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F743F3A6-7CEA-3EA1-EC20-95A6EF01D0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135B5B9C-A1A3-9CB1-71B4-5DAD56BAC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64237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EB4657D-79D6-D777-18E8-D3DF18F0C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69A5BB38-C9DF-D28F-A3B2-0F9889071C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9AFC39BB-A07C-D4B6-D36E-FDF5C8E4C3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72497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F5F5E63-47A8-CF0A-E2B0-BE6735B31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B976DE64-6564-DEA0-2ADD-A0FC256A78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E8408F72-26A5-0558-7626-6A3800AEB9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16902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B52810F-A620-586F-02E3-71C3EB528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B95E57D4-EB58-4CEF-3933-B084394DC2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21FB2DF8-165A-ACA0-1352-318F696CFB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53997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E57C025-2EE7-A554-5143-991BCD67C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320FEC56-420B-AD14-59F5-DDD7F23522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39FC920F-02BE-6DED-77FF-5996401177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28805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AC4938F-A9AE-1BD9-20BD-BBD3BA144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0C18DFB0-35D8-EC55-8514-C2E4271E03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F3283911-61A3-759D-11FB-0385AD36AB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8480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f032c298c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f032c298c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Sem título-1.jpg"/>
          <p:cNvPicPr preferRelativeResize="0"/>
          <p:nvPr/>
        </p:nvPicPr>
        <p:blipFill rotWithShape="1">
          <a:blip r:embed="rId2">
            <a:alphaModFix/>
          </a:blip>
          <a:srcRect l="11705" t="17901" r="9894" b="15970"/>
          <a:stretch/>
        </p:blipFill>
        <p:spPr>
          <a:xfrm>
            <a:off x="0" y="0"/>
            <a:ext cx="914399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90375" y="159875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4000"/>
              <a:buFont typeface="Impact"/>
              <a:buNone/>
              <a:defRPr sz="4000">
                <a:solidFill>
                  <a:srgbClr val="841C39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181851" y="2871416"/>
            <a:ext cx="6780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" name="Google Shape;14;p2" title="Logo Libertas 185x7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5388" y="4068275"/>
            <a:ext cx="2172676" cy="88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Char char="●"/>
              <a:defRPr sz="2400">
                <a:solidFill>
                  <a:srgbClr val="3C5258"/>
                </a:solidFill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" name="Google Shape;24;p4" title="Sem título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437998" y="3437502"/>
            <a:ext cx="1311675" cy="210032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5" name="Google Shape;25;p4" title="Logo Libertas 185x7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07" y="4568524"/>
            <a:ext cx="141028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37" name="Google Shape;37;p7" title="Logo Libertas 185x7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6869" y="4576649"/>
            <a:ext cx="141028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7" title="Sem título-1.png"/>
          <p:cNvPicPr preferRelativeResize="0"/>
          <p:nvPr/>
        </p:nvPicPr>
        <p:blipFill rotWithShape="1">
          <a:blip r:embed="rId4">
            <a:alphaModFix/>
          </a:blip>
          <a:srcRect t="7114" r="22779"/>
          <a:stretch/>
        </p:blipFill>
        <p:spPr>
          <a:xfrm>
            <a:off x="6936925" y="0"/>
            <a:ext cx="2207074" cy="4251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lleon.wordpress.com/2009/02/22/associacoes-entre-classes-de-objetos-uml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vJvRhQ6Ggt0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ctrTitle"/>
          </p:nvPr>
        </p:nvSpPr>
        <p:spPr>
          <a:xfrm>
            <a:off x="1690375" y="159875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POO – Relacionamento entre Classes – Associação </a:t>
            </a:r>
            <a:endParaRPr dirty="0"/>
          </a:p>
        </p:txBody>
      </p:sp>
      <p:sp>
        <p:nvSpPr>
          <p:cNvPr id="44" name="Google Shape;44;p8"/>
          <p:cNvSpPr txBox="1">
            <a:spLocks noGrp="1"/>
          </p:cNvSpPr>
          <p:nvPr>
            <p:ph type="subTitle" idx="1"/>
          </p:nvPr>
        </p:nvSpPr>
        <p:spPr>
          <a:xfrm>
            <a:off x="1181851" y="2871416"/>
            <a:ext cx="6780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Tópicos da Aula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Relacionamento entre Classes – Associação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Definição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Cardinalidade / Multiplicidade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Conectividade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Tipos de Associação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Exemplos de Associação em Java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Exercícios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FD1228C-2D51-E0EE-0347-378714847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0A9411B8-16B5-5525-1766-04F1F66B9E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 entre Classes – Associação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0C4D6F65-BE6D-F99C-7A5E-FE6752F6AA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É uma conexão entre classes.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Os objetos de uma classe estão ligados a objetos de outras classes, podendo haver troca de informações (mensagens) e compartilhamento de métodos.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Ocorre normalmente entre duas classes (binária),entre uma classe com ela mesma (unária) e entre várias classes (ternária/</a:t>
            </a:r>
            <a:r>
              <a:rPr lang="pt-BR" dirty="0" err="1"/>
              <a:t>N-ária</a:t>
            </a:r>
            <a:r>
              <a:rPr lang="pt-BR" dirty="0"/>
              <a:t>).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“Equivale” aos relacionamentos E-R.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72912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1A33A6B-808C-4929-BB27-FCD669163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7FFD8CCD-FCE2-F14D-9454-7FE561ECB6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 entre Classes – Associação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756F2B93-4754-A4A8-BEED-4F0A745AB4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Exemplos</a:t>
            </a:r>
            <a:endParaRPr dirty="0"/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B46BBCD1-9E8A-0B43-50D9-A368268B8445}"/>
              </a:ext>
            </a:extLst>
          </p:cNvPr>
          <p:cNvSpPr/>
          <p:nvPr/>
        </p:nvSpPr>
        <p:spPr>
          <a:xfrm>
            <a:off x="311700" y="2095265"/>
            <a:ext cx="2303280" cy="456120"/>
          </a:xfrm>
          <a:prstGeom prst="rect">
            <a:avLst/>
          </a:prstGeom>
          <a:solidFill>
            <a:srgbClr val="FFC000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1800" b="0" strike="noStrike" spc="-1" dirty="0">
                <a:solidFill>
                  <a:srgbClr val="000000"/>
                </a:solidFill>
                <a:latin typeface="Arial" panose="020B0604020202020204"/>
              </a:rPr>
              <a:t>Cliente</a:t>
            </a:r>
            <a:endParaRPr lang="pt-BR" sz="1800" b="0" strike="noStrike" spc="-1" dirty="0">
              <a:latin typeface="Arial" panose="020B0604020202020204"/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2CA27B6A-FBAE-4343-D7E5-8DFCF096A4E2}"/>
              </a:ext>
            </a:extLst>
          </p:cNvPr>
          <p:cNvSpPr/>
          <p:nvPr/>
        </p:nvSpPr>
        <p:spPr>
          <a:xfrm>
            <a:off x="5999700" y="2095265"/>
            <a:ext cx="2269800" cy="456120"/>
          </a:xfrm>
          <a:prstGeom prst="rect">
            <a:avLst/>
          </a:prstGeom>
          <a:solidFill>
            <a:srgbClr val="FFC000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Arial" panose="020B0604020202020204"/>
              </a:rPr>
              <a:t>Produto</a:t>
            </a:r>
            <a:endParaRPr lang="pt-BR" sz="1800" b="0" strike="noStrike" spc="-1">
              <a:latin typeface="Arial" panose="020B0604020202020204"/>
            </a:endParaRPr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15172DED-8F7B-E5FC-374B-8C3AE9E74E8B}"/>
              </a:ext>
            </a:extLst>
          </p:cNvPr>
          <p:cNvSpPr/>
          <p:nvPr/>
        </p:nvSpPr>
        <p:spPr>
          <a:xfrm>
            <a:off x="2614980" y="2326745"/>
            <a:ext cx="3384360" cy="360"/>
          </a:xfrm>
          <a:prstGeom prst="line">
            <a:avLst/>
          </a:prstGeom>
          <a:ln w="3492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BR" sz="1800"/>
          </a:p>
        </p:txBody>
      </p:sp>
      <p:sp>
        <p:nvSpPr>
          <p:cNvPr id="5" name="CustomShape 5">
            <a:extLst>
              <a:ext uri="{FF2B5EF4-FFF2-40B4-BE49-F238E27FC236}">
                <a16:creationId xmlns:a16="http://schemas.microsoft.com/office/drawing/2014/main" id="{5898AA7E-E0B4-C308-063B-47B571B6487D}"/>
              </a:ext>
            </a:extLst>
          </p:cNvPr>
          <p:cNvSpPr/>
          <p:nvPr/>
        </p:nvSpPr>
        <p:spPr>
          <a:xfrm>
            <a:off x="311700" y="3534905"/>
            <a:ext cx="2576160" cy="456120"/>
          </a:xfrm>
          <a:prstGeom prst="rect">
            <a:avLst/>
          </a:prstGeom>
          <a:solidFill>
            <a:srgbClr val="FFC000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Arial" panose="020B0604020202020204"/>
              </a:rPr>
              <a:t>ContaCorrente</a:t>
            </a:r>
            <a:endParaRPr lang="pt-BR" sz="1800" b="0" strike="noStrike" spc="-1">
              <a:latin typeface="Arial" panose="020B0604020202020204"/>
            </a:endParaRPr>
          </a:p>
        </p:txBody>
      </p:sp>
      <p:sp>
        <p:nvSpPr>
          <p:cNvPr id="6" name="CustomShape 6">
            <a:extLst>
              <a:ext uri="{FF2B5EF4-FFF2-40B4-BE49-F238E27FC236}">
                <a16:creationId xmlns:a16="http://schemas.microsoft.com/office/drawing/2014/main" id="{08111166-1C67-3D52-2AB2-F4F7C19CB103}"/>
              </a:ext>
            </a:extLst>
          </p:cNvPr>
          <p:cNvSpPr/>
          <p:nvPr/>
        </p:nvSpPr>
        <p:spPr>
          <a:xfrm>
            <a:off x="5313900" y="3534905"/>
            <a:ext cx="3061800" cy="456120"/>
          </a:xfrm>
          <a:prstGeom prst="rect">
            <a:avLst/>
          </a:prstGeom>
          <a:solidFill>
            <a:srgbClr val="FFC000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Arial" panose="020B0604020202020204"/>
              </a:rPr>
              <a:t>HistoricoTransaçoes</a:t>
            </a:r>
            <a:endParaRPr lang="pt-BR" sz="1800" b="0" strike="noStrike" spc="-1">
              <a:latin typeface="Arial" panose="020B0604020202020204"/>
            </a:endParaRPr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9C013743-2947-CF2B-0909-BD09CFC3540D}"/>
              </a:ext>
            </a:extLst>
          </p:cNvPr>
          <p:cNvSpPr/>
          <p:nvPr/>
        </p:nvSpPr>
        <p:spPr>
          <a:xfrm>
            <a:off x="2887860" y="3764945"/>
            <a:ext cx="2425680" cy="360"/>
          </a:xfrm>
          <a:prstGeom prst="line">
            <a:avLst/>
          </a:prstGeom>
          <a:ln w="3492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BR" sz="1800"/>
          </a:p>
        </p:txBody>
      </p:sp>
      <p:sp>
        <p:nvSpPr>
          <p:cNvPr id="8" name="CustomShape 8">
            <a:extLst>
              <a:ext uri="{FF2B5EF4-FFF2-40B4-BE49-F238E27FC236}">
                <a16:creationId xmlns:a16="http://schemas.microsoft.com/office/drawing/2014/main" id="{D7DB8A98-7536-67D2-6E49-BABF1F35FA7C}"/>
              </a:ext>
            </a:extLst>
          </p:cNvPr>
          <p:cNvSpPr/>
          <p:nvPr/>
        </p:nvSpPr>
        <p:spPr>
          <a:xfrm>
            <a:off x="3434700" y="1880705"/>
            <a:ext cx="133164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1800" b="1" strike="noStrike" spc="-1" dirty="0">
                <a:solidFill>
                  <a:srgbClr val="000000"/>
                </a:solidFill>
                <a:latin typeface="Arial" panose="020B0604020202020204"/>
              </a:rPr>
              <a:t>Compra</a:t>
            </a:r>
            <a:endParaRPr lang="pt-BR" sz="1800" b="0" strike="noStrike" spc="-1" dirty="0">
              <a:latin typeface="Arial" panose="020B0604020202020204"/>
            </a:endParaRPr>
          </a:p>
        </p:txBody>
      </p:sp>
      <p:sp>
        <p:nvSpPr>
          <p:cNvPr id="9" name="CustomShape 9">
            <a:extLst>
              <a:ext uri="{FF2B5EF4-FFF2-40B4-BE49-F238E27FC236}">
                <a16:creationId xmlns:a16="http://schemas.microsoft.com/office/drawing/2014/main" id="{15E84079-073B-8944-279E-D816E02261AF}"/>
              </a:ext>
            </a:extLst>
          </p:cNvPr>
          <p:cNvSpPr/>
          <p:nvPr/>
        </p:nvSpPr>
        <p:spPr>
          <a:xfrm>
            <a:off x="3301140" y="3331865"/>
            <a:ext cx="117936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1800" b="1" strike="noStrike" spc="-1">
                <a:solidFill>
                  <a:srgbClr val="000000"/>
                </a:solidFill>
                <a:latin typeface="Arial" panose="020B0604020202020204"/>
              </a:rPr>
              <a:t>Possui</a:t>
            </a:r>
            <a:endParaRPr lang="pt-BR" sz="1800" b="0" strike="noStrike" spc="-1">
              <a:latin typeface="Arial" panose="020B0604020202020204"/>
            </a:endParaRPr>
          </a:p>
        </p:txBody>
      </p:sp>
      <p:sp>
        <p:nvSpPr>
          <p:cNvPr id="10" name="CustomShape 12">
            <a:extLst>
              <a:ext uri="{FF2B5EF4-FFF2-40B4-BE49-F238E27FC236}">
                <a16:creationId xmlns:a16="http://schemas.microsoft.com/office/drawing/2014/main" id="{3B03D2BA-2240-8DB8-16B4-F99F9D5A027C}"/>
              </a:ext>
            </a:extLst>
          </p:cNvPr>
          <p:cNvSpPr/>
          <p:nvPr/>
        </p:nvSpPr>
        <p:spPr>
          <a:xfrm rot="5400000">
            <a:off x="4494900" y="3455345"/>
            <a:ext cx="336240" cy="225000"/>
          </a:xfrm>
          <a:prstGeom prst="triangle">
            <a:avLst>
              <a:gd name="adj" fmla="val 50000"/>
            </a:avLst>
          </a:prstGeom>
          <a:ln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pt-BR" sz="1800"/>
          </a:p>
        </p:txBody>
      </p:sp>
      <p:sp>
        <p:nvSpPr>
          <p:cNvPr id="11" name="CustomShape 13">
            <a:extLst>
              <a:ext uri="{FF2B5EF4-FFF2-40B4-BE49-F238E27FC236}">
                <a16:creationId xmlns:a16="http://schemas.microsoft.com/office/drawing/2014/main" id="{25D2BB97-FDD2-5D5A-BE6C-9A4171B308F2}"/>
              </a:ext>
            </a:extLst>
          </p:cNvPr>
          <p:cNvSpPr/>
          <p:nvPr/>
        </p:nvSpPr>
        <p:spPr>
          <a:xfrm rot="5400000">
            <a:off x="4751220" y="2021105"/>
            <a:ext cx="336240" cy="226800"/>
          </a:xfrm>
          <a:prstGeom prst="triangle">
            <a:avLst>
              <a:gd name="adj" fmla="val 50000"/>
            </a:avLst>
          </a:prstGeom>
          <a:ln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pt-BR" sz="1800"/>
          </a:p>
        </p:txBody>
      </p:sp>
    </p:spTree>
    <p:extLst>
      <p:ext uri="{BB962C8B-B14F-4D97-AF65-F5344CB8AC3E}">
        <p14:creationId xmlns:p14="http://schemas.microsoft.com/office/powerpoint/2010/main" val="3594012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62CB2DAA-2EFB-67BD-8A2B-CB0FA1FA7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71809953-646A-ABE4-A432-0E98B06150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Cardinalidade / Multiplicidade entre Classes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4F47CA64-8AC4-6170-25E4-27F37055EE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Consiste na quantidade mínima e máxima de objetos que podem ser conectados pela instancia de uma associação.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pt-BR" spc="-1" dirty="0">
                <a:solidFill>
                  <a:srgbClr val="000000"/>
                </a:solidFill>
              </a:rPr>
              <a:t>Exemplo: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781E5207-765F-6245-003E-F6383660C3FC}"/>
              </a:ext>
            </a:extLst>
          </p:cNvPr>
          <p:cNvSpPr/>
          <p:nvPr/>
        </p:nvSpPr>
        <p:spPr>
          <a:xfrm>
            <a:off x="395718" y="2960019"/>
            <a:ext cx="1287000" cy="456120"/>
          </a:xfrm>
          <a:prstGeom prst="rect">
            <a:avLst/>
          </a:prstGeom>
          <a:solidFill>
            <a:srgbClr val="FFC000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000000"/>
                </a:solidFill>
                <a:latin typeface="Arial" panose="020B0604020202020204"/>
              </a:rPr>
              <a:t>Pessoa</a:t>
            </a:r>
            <a:endParaRPr lang="pt-BR" sz="2400" b="0" strike="noStrike" spc="-1">
              <a:latin typeface="Arial" panose="020B0604020202020204"/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7D5536CD-3321-4B1B-17D7-ED4802A56F71}"/>
              </a:ext>
            </a:extLst>
          </p:cNvPr>
          <p:cNvSpPr/>
          <p:nvPr/>
        </p:nvSpPr>
        <p:spPr>
          <a:xfrm>
            <a:off x="7307718" y="2960019"/>
            <a:ext cx="1657080" cy="456120"/>
          </a:xfrm>
          <a:prstGeom prst="rect">
            <a:avLst/>
          </a:prstGeom>
          <a:solidFill>
            <a:srgbClr val="FFC000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000000"/>
                </a:solidFill>
                <a:latin typeface="Arial" panose="020B0604020202020204"/>
              </a:rPr>
              <a:t>Empresa</a:t>
            </a:r>
            <a:endParaRPr lang="pt-BR" sz="2400" b="0" strike="noStrike" spc="-1">
              <a:latin typeface="Arial" panose="020B0604020202020204"/>
            </a:endParaRPr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A27D8F98-940B-8C36-9E2F-43D03A31B4C0}"/>
              </a:ext>
            </a:extLst>
          </p:cNvPr>
          <p:cNvSpPr/>
          <p:nvPr/>
        </p:nvSpPr>
        <p:spPr>
          <a:xfrm>
            <a:off x="1682718" y="3190059"/>
            <a:ext cx="5624640" cy="360"/>
          </a:xfrm>
          <a:prstGeom prst="line">
            <a:avLst/>
          </a:prstGeom>
          <a:ln w="3492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5" name="CustomShape 5">
            <a:extLst>
              <a:ext uri="{FF2B5EF4-FFF2-40B4-BE49-F238E27FC236}">
                <a16:creationId xmlns:a16="http://schemas.microsoft.com/office/drawing/2014/main" id="{25695A67-D31C-D3EC-7D85-F56AF06BBC8F}"/>
              </a:ext>
            </a:extLst>
          </p:cNvPr>
          <p:cNvSpPr/>
          <p:nvPr/>
        </p:nvSpPr>
        <p:spPr>
          <a:xfrm>
            <a:off x="3570918" y="2693259"/>
            <a:ext cx="1595520" cy="39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2000" b="1" strike="noStrike" spc="-1">
                <a:solidFill>
                  <a:srgbClr val="000000"/>
                </a:solidFill>
                <a:latin typeface="Arial" panose="020B0604020202020204"/>
              </a:rPr>
              <a:t>Trabalha na</a:t>
            </a:r>
            <a:endParaRPr lang="pt-BR" sz="2000" b="0" strike="noStrike" spc="-1">
              <a:latin typeface="Arial" panose="020B0604020202020204"/>
            </a:endParaRPr>
          </a:p>
        </p:txBody>
      </p:sp>
      <p:sp>
        <p:nvSpPr>
          <p:cNvPr id="6" name="CustomShape 6">
            <a:extLst>
              <a:ext uri="{FF2B5EF4-FFF2-40B4-BE49-F238E27FC236}">
                <a16:creationId xmlns:a16="http://schemas.microsoft.com/office/drawing/2014/main" id="{C7846EE1-49AD-C354-F91F-12BE08EBAD26}"/>
              </a:ext>
            </a:extLst>
          </p:cNvPr>
          <p:cNvSpPr/>
          <p:nvPr/>
        </p:nvSpPr>
        <p:spPr>
          <a:xfrm>
            <a:off x="1811958" y="3277539"/>
            <a:ext cx="5241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1800" b="1" strike="noStrike" spc="-1">
                <a:solidFill>
                  <a:srgbClr val="FF0000"/>
                </a:solidFill>
                <a:latin typeface="Arial" panose="020B0604020202020204"/>
              </a:rPr>
              <a:t>1..*</a:t>
            </a:r>
            <a:endParaRPr lang="pt-BR" sz="1800" b="0" strike="noStrike" spc="-1">
              <a:latin typeface="Arial" panose="020B0604020202020204"/>
            </a:endParaRPr>
          </a:p>
        </p:txBody>
      </p:sp>
      <p:sp>
        <p:nvSpPr>
          <p:cNvPr id="7" name="CustomShape 7">
            <a:extLst>
              <a:ext uri="{FF2B5EF4-FFF2-40B4-BE49-F238E27FC236}">
                <a16:creationId xmlns:a16="http://schemas.microsoft.com/office/drawing/2014/main" id="{0E5B463D-263F-AFA0-8324-136845483782}"/>
              </a:ext>
            </a:extLst>
          </p:cNvPr>
          <p:cNvSpPr/>
          <p:nvPr/>
        </p:nvSpPr>
        <p:spPr>
          <a:xfrm>
            <a:off x="6591318" y="3339459"/>
            <a:ext cx="5241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1800" b="1" strike="noStrike" spc="-1">
                <a:solidFill>
                  <a:srgbClr val="FF0000"/>
                </a:solidFill>
                <a:latin typeface="Arial" panose="020B0604020202020204"/>
              </a:rPr>
              <a:t>0..*</a:t>
            </a:r>
            <a:endParaRPr lang="pt-BR" sz="1800" b="0" strike="noStrike" spc="-1">
              <a:latin typeface="Arial" panose="020B0604020202020204"/>
            </a:endParaRPr>
          </a:p>
        </p:txBody>
      </p:sp>
      <p:sp>
        <p:nvSpPr>
          <p:cNvPr id="8" name="CustomShape 8">
            <a:extLst>
              <a:ext uri="{FF2B5EF4-FFF2-40B4-BE49-F238E27FC236}">
                <a16:creationId xmlns:a16="http://schemas.microsoft.com/office/drawing/2014/main" id="{967B0E6B-AB3A-4A4A-7B5C-C342CB10AA73}"/>
              </a:ext>
            </a:extLst>
          </p:cNvPr>
          <p:cNvSpPr/>
          <p:nvPr/>
        </p:nvSpPr>
        <p:spPr>
          <a:xfrm flipV="1">
            <a:off x="1764078" y="3259179"/>
            <a:ext cx="576000" cy="394920"/>
          </a:xfrm>
          <a:prstGeom prst="rect">
            <a:avLst/>
          </a:prstGeom>
          <a:noFill/>
          <a:ln w="47520">
            <a:solidFill>
              <a:srgbClr val="0070C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9" name="CustomShape 9">
            <a:extLst>
              <a:ext uri="{FF2B5EF4-FFF2-40B4-BE49-F238E27FC236}">
                <a16:creationId xmlns:a16="http://schemas.microsoft.com/office/drawing/2014/main" id="{83BCAC42-9483-DEFD-2A93-192D3ECA1DBC}"/>
              </a:ext>
            </a:extLst>
          </p:cNvPr>
          <p:cNvSpPr/>
          <p:nvPr/>
        </p:nvSpPr>
        <p:spPr>
          <a:xfrm flipV="1">
            <a:off x="6532998" y="3313179"/>
            <a:ext cx="574200" cy="394920"/>
          </a:xfrm>
          <a:prstGeom prst="rect">
            <a:avLst/>
          </a:prstGeom>
          <a:noFill/>
          <a:ln w="47520">
            <a:solidFill>
              <a:srgbClr val="0070C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0" name="CustomShape 10">
            <a:extLst>
              <a:ext uri="{FF2B5EF4-FFF2-40B4-BE49-F238E27FC236}">
                <a16:creationId xmlns:a16="http://schemas.microsoft.com/office/drawing/2014/main" id="{60BE3521-E46C-BBA6-BA8C-2797348BA440}"/>
              </a:ext>
            </a:extLst>
          </p:cNvPr>
          <p:cNvSpPr/>
          <p:nvPr/>
        </p:nvSpPr>
        <p:spPr>
          <a:xfrm>
            <a:off x="5685224" y="4144615"/>
            <a:ext cx="2084040" cy="537120"/>
          </a:xfrm>
          <a:prstGeom prst="wedgeRoundRectCallout">
            <a:avLst>
              <a:gd name="adj1" fmla="val 5347"/>
              <a:gd name="adj2" fmla="val -119822"/>
              <a:gd name="adj3" fmla="val 16667"/>
            </a:avLst>
          </a:prstGeom>
          <a:solidFill>
            <a:srgbClr val="19C3FF"/>
          </a:solidFill>
          <a:ln w="936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pt-BR" sz="2200" b="1" i="1" strike="noStrike" spc="-1" dirty="0">
                <a:solidFill>
                  <a:srgbClr val="000000"/>
                </a:solidFill>
                <a:latin typeface="Arial" panose="020B0604020202020204"/>
              </a:rPr>
              <a:t>Multiplicidade</a:t>
            </a:r>
            <a:endParaRPr lang="pt-BR" sz="2200" b="0" strike="noStrike" spc="-1" dirty="0">
              <a:latin typeface="Arial" panose="020B0604020202020204"/>
            </a:endParaRPr>
          </a:p>
        </p:txBody>
      </p:sp>
      <p:sp>
        <p:nvSpPr>
          <p:cNvPr id="11" name="CustomShape 11">
            <a:extLst>
              <a:ext uri="{FF2B5EF4-FFF2-40B4-BE49-F238E27FC236}">
                <a16:creationId xmlns:a16="http://schemas.microsoft.com/office/drawing/2014/main" id="{0312F674-0C3F-2068-3E44-0CFFE64E044D}"/>
              </a:ext>
            </a:extLst>
          </p:cNvPr>
          <p:cNvSpPr/>
          <p:nvPr/>
        </p:nvSpPr>
        <p:spPr>
          <a:xfrm>
            <a:off x="1213458" y="4144615"/>
            <a:ext cx="2245320" cy="537120"/>
          </a:xfrm>
          <a:prstGeom prst="wedgeRoundRectCallout">
            <a:avLst>
              <a:gd name="adj1" fmla="val -12447"/>
              <a:gd name="adj2" fmla="val -135630"/>
              <a:gd name="adj3" fmla="val 16667"/>
            </a:avLst>
          </a:prstGeom>
          <a:solidFill>
            <a:srgbClr val="19C3FF"/>
          </a:solidFill>
          <a:ln w="936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pt-BR" sz="2200" b="1" i="1" strike="noStrike" spc="-1" dirty="0">
                <a:solidFill>
                  <a:srgbClr val="000000"/>
                </a:solidFill>
                <a:latin typeface="Arial" panose="020B0604020202020204"/>
              </a:rPr>
              <a:t>Multiplicidade</a:t>
            </a:r>
            <a:endParaRPr lang="pt-BR" sz="2200" b="0" strike="noStrike" spc="-1" dirty="0">
              <a:latin typeface="Arial" panose="020B0604020202020204"/>
            </a:endParaRPr>
          </a:p>
        </p:txBody>
      </p:sp>
      <p:sp>
        <p:nvSpPr>
          <p:cNvPr id="12" name="CustomShape 14">
            <a:extLst>
              <a:ext uri="{FF2B5EF4-FFF2-40B4-BE49-F238E27FC236}">
                <a16:creationId xmlns:a16="http://schemas.microsoft.com/office/drawing/2014/main" id="{F459225B-ECD2-F1BC-30FC-88FCF0D9AA8E}"/>
              </a:ext>
            </a:extLst>
          </p:cNvPr>
          <p:cNvSpPr/>
          <p:nvPr/>
        </p:nvSpPr>
        <p:spPr>
          <a:xfrm rot="5400000">
            <a:off x="5082198" y="2812419"/>
            <a:ext cx="336240" cy="225000"/>
          </a:xfrm>
          <a:prstGeom prst="triangle">
            <a:avLst>
              <a:gd name="adj" fmla="val 50000"/>
            </a:avLst>
          </a:prstGeom>
          <a:ln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1316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08FC398-E518-AAAD-F058-F068BCE9A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8CFC9995-FD8C-6EFD-06CE-9350F8C333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Cardinalidade / Multiplicidade entre Classes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671D82CE-B41A-5A0A-450C-B86EDEF6DA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pt-BR" spc="-1" dirty="0">
                <a:solidFill>
                  <a:srgbClr val="000000"/>
                </a:solidFill>
              </a:rPr>
              <a:t>Exemplos</a:t>
            </a:r>
            <a:endParaRPr dirty="0"/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B91CB865-FC61-1AF3-D877-CAD7E2D78968}"/>
              </a:ext>
            </a:extLst>
          </p:cNvPr>
          <p:cNvSpPr/>
          <p:nvPr/>
        </p:nvSpPr>
        <p:spPr>
          <a:xfrm>
            <a:off x="311700" y="1673689"/>
            <a:ext cx="2303280" cy="516960"/>
          </a:xfrm>
          <a:prstGeom prst="rect">
            <a:avLst/>
          </a:prstGeom>
          <a:solidFill>
            <a:srgbClr val="FFC000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2800" b="0" strike="noStrike" spc="-1">
                <a:solidFill>
                  <a:srgbClr val="000000"/>
                </a:solidFill>
                <a:latin typeface="Arial" panose="020B0604020202020204"/>
              </a:rPr>
              <a:t>Cliente</a:t>
            </a:r>
            <a:endParaRPr lang="pt-BR" sz="2800" b="0" strike="noStrike" spc="-1">
              <a:latin typeface="Arial" panose="020B0604020202020204"/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A140C428-C3CA-E3F7-9858-0F61076E793F}"/>
              </a:ext>
            </a:extLst>
          </p:cNvPr>
          <p:cNvSpPr/>
          <p:nvPr/>
        </p:nvSpPr>
        <p:spPr>
          <a:xfrm>
            <a:off x="5999700" y="1673689"/>
            <a:ext cx="2269800" cy="516960"/>
          </a:xfrm>
          <a:prstGeom prst="rect">
            <a:avLst/>
          </a:prstGeom>
          <a:solidFill>
            <a:srgbClr val="FFC000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2800" b="0" strike="noStrike" spc="-1">
                <a:solidFill>
                  <a:srgbClr val="000000"/>
                </a:solidFill>
                <a:latin typeface="Arial" panose="020B0604020202020204"/>
              </a:rPr>
              <a:t>Pedido</a:t>
            </a:r>
            <a:endParaRPr lang="pt-BR" sz="2800" b="0" strike="noStrike" spc="-1">
              <a:latin typeface="Arial" panose="020B0604020202020204"/>
            </a:endParaRPr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563321F0-FB4C-5DB0-20EE-335C82845F3F}"/>
              </a:ext>
            </a:extLst>
          </p:cNvPr>
          <p:cNvSpPr/>
          <p:nvPr/>
        </p:nvSpPr>
        <p:spPr>
          <a:xfrm>
            <a:off x="2614980" y="1935409"/>
            <a:ext cx="3384720" cy="360"/>
          </a:xfrm>
          <a:prstGeom prst="line">
            <a:avLst/>
          </a:prstGeom>
          <a:ln w="3492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5" name="CustomShape 5">
            <a:extLst>
              <a:ext uri="{FF2B5EF4-FFF2-40B4-BE49-F238E27FC236}">
                <a16:creationId xmlns:a16="http://schemas.microsoft.com/office/drawing/2014/main" id="{F68CEDA5-3143-59EE-94A5-DB73049D5EAE}"/>
              </a:ext>
            </a:extLst>
          </p:cNvPr>
          <p:cNvSpPr/>
          <p:nvPr/>
        </p:nvSpPr>
        <p:spPr>
          <a:xfrm>
            <a:off x="2890740" y="2011729"/>
            <a:ext cx="30744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1800" b="1" strike="noStrike" spc="-1">
                <a:solidFill>
                  <a:srgbClr val="000000"/>
                </a:solidFill>
                <a:latin typeface="Arial" panose="020B0604020202020204"/>
              </a:rPr>
              <a:t>1</a:t>
            </a:r>
            <a:endParaRPr lang="pt-BR" sz="1800" b="0" strike="noStrike" spc="-1">
              <a:latin typeface="Arial" panose="020B0604020202020204"/>
            </a:endParaRPr>
          </a:p>
        </p:txBody>
      </p:sp>
      <p:sp>
        <p:nvSpPr>
          <p:cNvPr id="6" name="CustomShape 6">
            <a:extLst>
              <a:ext uri="{FF2B5EF4-FFF2-40B4-BE49-F238E27FC236}">
                <a16:creationId xmlns:a16="http://schemas.microsoft.com/office/drawing/2014/main" id="{DC67EB47-EBEE-C4BF-83FD-531EB1AD83EA}"/>
              </a:ext>
            </a:extLst>
          </p:cNvPr>
          <p:cNvSpPr/>
          <p:nvPr/>
        </p:nvSpPr>
        <p:spPr>
          <a:xfrm>
            <a:off x="5362140" y="2024689"/>
            <a:ext cx="5241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1800" b="1" strike="noStrike" spc="-1">
                <a:solidFill>
                  <a:srgbClr val="000000"/>
                </a:solidFill>
                <a:latin typeface="Arial" panose="020B0604020202020204"/>
              </a:rPr>
              <a:t>0..*</a:t>
            </a:r>
            <a:endParaRPr lang="pt-BR" sz="1800" b="0" strike="noStrike" spc="-1">
              <a:latin typeface="Arial" panose="020B0604020202020204"/>
            </a:endParaRPr>
          </a:p>
        </p:txBody>
      </p:sp>
      <p:sp>
        <p:nvSpPr>
          <p:cNvPr id="7" name="CustomShape 9">
            <a:extLst>
              <a:ext uri="{FF2B5EF4-FFF2-40B4-BE49-F238E27FC236}">
                <a16:creationId xmlns:a16="http://schemas.microsoft.com/office/drawing/2014/main" id="{27B5E50D-ACB0-F3CE-19F2-DC0155C8A8FC}"/>
              </a:ext>
            </a:extLst>
          </p:cNvPr>
          <p:cNvSpPr/>
          <p:nvPr/>
        </p:nvSpPr>
        <p:spPr>
          <a:xfrm>
            <a:off x="3950220" y="1507009"/>
            <a:ext cx="606240" cy="39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2000" b="1" strike="noStrike" spc="-1">
                <a:solidFill>
                  <a:srgbClr val="000000"/>
                </a:solidFill>
                <a:latin typeface="Arial" panose="020B0604020202020204"/>
              </a:rPr>
              <a:t>Faz</a:t>
            </a:r>
            <a:endParaRPr lang="pt-BR" sz="2000" b="0" strike="noStrike" spc="-1">
              <a:latin typeface="Arial" panose="020B0604020202020204"/>
            </a:endParaRPr>
          </a:p>
        </p:txBody>
      </p:sp>
      <p:sp>
        <p:nvSpPr>
          <p:cNvPr id="8" name="CustomShape 10">
            <a:extLst>
              <a:ext uri="{FF2B5EF4-FFF2-40B4-BE49-F238E27FC236}">
                <a16:creationId xmlns:a16="http://schemas.microsoft.com/office/drawing/2014/main" id="{F635FD56-5BB3-C7EE-CA8E-3D0A40ADA9A1}"/>
              </a:ext>
            </a:extLst>
          </p:cNvPr>
          <p:cNvSpPr/>
          <p:nvPr/>
        </p:nvSpPr>
        <p:spPr>
          <a:xfrm rot="5400000">
            <a:off x="4497420" y="1611049"/>
            <a:ext cx="336240" cy="226800"/>
          </a:xfrm>
          <a:prstGeom prst="triangle">
            <a:avLst>
              <a:gd name="adj" fmla="val 50000"/>
            </a:avLst>
          </a:prstGeom>
          <a:ln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63F31B2-7060-BE0D-7A09-7F961E04E332}"/>
              </a:ext>
            </a:extLst>
          </p:cNvPr>
          <p:cNvSpPr txBox="1"/>
          <p:nvPr/>
        </p:nvSpPr>
        <p:spPr>
          <a:xfrm>
            <a:off x="258742" y="2329877"/>
            <a:ext cx="8097195" cy="2410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7370" lvl="1" indent="-227965">
              <a:spcBef>
                <a:spcPts val="375"/>
              </a:spcBef>
              <a:buClr>
                <a:srgbClr val="DA1F28"/>
              </a:buClr>
              <a:buSzPct val="85000"/>
              <a:buFont typeface="Wingdings 2" charset="2"/>
              <a:buChar char=""/>
            </a:pPr>
            <a:r>
              <a:rPr lang="pt-BR" sz="2400" spc="-1" dirty="0"/>
              <a:t>Pode haver </a:t>
            </a:r>
            <a:r>
              <a:rPr lang="pt-BR" sz="2400" b="1" spc="-1" dirty="0"/>
              <a:t>um</a:t>
            </a:r>
            <a:r>
              <a:rPr lang="pt-BR" sz="2400" spc="-1" dirty="0"/>
              <a:t> </a:t>
            </a:r>
            <a:r>
              <a:rPr lang="pt-BR" sz="2400" b="1" spc="-1" dirty="0"/>
              <a:t>cliente</a:t>
            </a:r>
            <a:r>
              <a:rPr lang="pt-BR" sz="2400" spc="-1" dirty="0"/>
              <a:t> que esteja associado a </a:t>
            </a:r>
            <a:r>
              <a:rPr lang="pt-BR" sz="2400" b="1" spc="-1" dirty="0"/>
              <a:t>vários</a:t>
            </a:r>
            <a:r>
              <a:rPr lang="pt-BR" sz="2400" spc="-1" dirty="0"/>
              <a:t> </a:t>
            </a:r>
            <a:r>
              <a:rPr lang="pt-BR" sz="2400" b="1" spc="-1" dirty="0"/>
              <a:t>pedidos</a:t>
            </a:r>
            <a:r>
              <a:rPr lang="pt-BR" sz="2400" spc="-1" dirty="0"/>
              <a:t>.</a:t>
            </a:r>
          </a:p>
          <a:p>
            <a:pPr marL="547370" lvl="1" indent="-227965">
              <a:spcBef>
                <a:spcPts val="375"/>
              </a:spcBef>
              <a:buClr>
                <a:srgbClr val="DA1F28"/>
              </a:buClr>
              <a:buSzPct val="85000"/>
              <a:buFont typeface="Wingdings 2" charset="2"/>
              <a:buChar char=""/>
            </a:pPr>
            <a:r>
              <a:rPr lang="pt-BR" sz="2400" spc="-1" dirty="0"/>
              <a:t>Pode haver </a:t>
            </a:r>
            <a:r>
              <a:rPr lang="pt-BR" sz="2400" b="1" spc="-1" dirty="0"/>
              <a:t>um</a:t>
            </a:r>
            <a:r>
              <a:rPr lang="pt-BR" sz="2400" spc="-1" dirty="0"/>
              <a:t> </a:t>
            </a:r>
            <a:r>
              <a:rPr lang="pt-BR" sz="2400" b="1" spc="-1" dirty="0"/>
              <a:t>cliente</a:t>
            </a:r>
            <a:r>
              <a:rPr lang="pt-BR" sz="2400" spc="-1" dirty="0"/>
              <a:t> que </a:t>
            </a:r>
            <a:r>
              <a:rPr lang="pt-BR" sz="2400" b="1" spc="-1" dirty="0"/>
              <a:t>não</a:t>
            </a:r>
            <a:r>
              <a:rPr lang="pt-BR" sz="2400" spc="-1" dirty="0"/>
              <a:t> esteja associado a</a:t>
            </a:r>
            <a:r>
              <a:rPr lang="pt-BR" sz="2400" b="1" spc="-1" dirty="0"/>
              <a:t> pedido </a:t>
            </a:r>
            <a:r>
              <a:rPr lang="pt-BR" sz="2400" spc="-1" dirty="0"/>
              <a:t>algum.</a:t>
            </a:r>
          </a:p>
          <a:p>
            <a:pPr marL="547370" lvl="1" indent="-227965">
              <a:spcBef>
                <a:spcPts val="375"/>
              </a:spcBef>
              <a:buClr>
                <a:srgbClr val="DA1F28"/>
              </a:buClr>
              <a:buSzPct val="85000"/>
              <a:buFont typeface="Wingdings 2" charset="2"/>
              <a:buChar char=""/>
            </a:pPr>
            <a:r>
              <a:rPr lang="pt-BR" sz="2400" b="1" spc="-1" dirty="0"/>
              <a:t>Um</a:t>
            </a:r>
            <a:r>
              <a:rPr lang="pt-BR" sz="2400" spc="-1" dirty="0"/>
              <a:t> </a:t>
            </a:r>
            <a:r>
              <a:rPr lang="pt-BR" sz="2400" b="1" spc="-1" dirty="0"/>
              <a:t>pedido</a:t>
            </a:r>
            <a:r>
              <a:rPr lang="pt-BR" sz="2400" spc="-1" dirty="0"/>
              <a:t> está associado a </a:t>
            </a:r>
            <a:r>
              <a:rPr lang="pt-BR" sz="2400" b="1" spc="-1" dirty="0"/>
              <a:t>um</a:t>
            </a:r>
            <a:r>
              <a:rPr lang="pt-BR" sz="2400" spc="-1" dirty="0"/>
              <a:t>, e </a:t>
            </a:r>
            <a:r>
              <a:rPr lang="pt-BR" sz="2400" b="1" spc="-1" dirty="0"/>
              <a:t>somente um</a:t>
            </a:r>
            <a:r>
              <a:rPr lang="pt-BR" sz="2400" spc="-1" dirty="0"/>
              <a:t>, </a:t>
            </a:r>
            <a:r>
              <a:rPr lang="pt-BR" sz="2400" b="1" spc="-1" dirty="0"/>
              <a:t>cliente</a:t>
            </a:r>
            <a:r>
              <a:rPr lang="pt-BR" sz="2400" spc="-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2866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258DFBF-3409-08B2-34F1-5694024FD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FC6CB267-5E28-2237-FE48-A154706683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Conectividades entre Classes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D5A45BD7-2CB0-F264-6ACB-38098A2A0A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Corresponde ao tipo de associação existentes entre classes: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DF91833E-4F59-1AF3-39D7-D815130AC2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901644"/>
              </p:ext>
            </p:extLst>
          </p:nvPr>
        </p:nvGraphicFramePr>
        <p:xfrm>
          <a:off x="311700" y="1757082"/>
          <a:ext cx="8520600" cy="2834934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1874577">
                  <a:extLst>
                    <a:ext uri="{9D8B030D-6E8A-4147-A177-3AD203B41FA5}">
                      <a16:colId xmlns:a16="http://schemas.microsoft.com/office/drawing/2014/main" val="4264583681"/>
                    </a:ext>
                  </a:extLst>
                </a:gridCol>
                <a:gridCol w="1829911">
                  <a:extLst>
                    <a:ext uri="{9D8B030D-6E8A-4147-A177-3AD203B41FA5}">
                      <a16:colId xmlns:a16="http://schemas.microsoft.com/office/drawing/2014/main" val="1080366282"/>
                    </a:ext>
                  </a:extLst>
                </a:gridCol>
                <a:gridCol w="4816112">
                  <a:extLst>
                    <a:ext uri="{9D8B030D-6E8A-4147-A177-3AD203B41FA5}">
                      <a16:colId xmlns:a16="http://schemas.microsoft.com/office/drawing/2014/main" val="2319350441"/>
                    </a:ext>
                  </a:extLst>
                </a:gridCol>
              </a:tblGrid>
              <a:tr h="4933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400" b="1" dirty="0">
                          <a:solidFill>
                            <a:srgbClr val="1F1F1F"/>
                          </a:solidFill>
                          <a:effectLst/>
                        </a:rPr>
                        <a:t>Tipo</a:t>
                      </a:r>
                      <a:endParaRPr lang="pt-BR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597" marR="109497" marT="145996" marB="14599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400" b="1">
                          <a:solidFill>
                            <a:srgbClr val="1F1F1F"/>
                          </a:solidFill>
                          <a:effectLst/>
                        </a:rPr>
                        <a:t>Exemplo Didático</a:t>
                      </a:r>
                      <a:endParaRPr lang="pt-BR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597" marR="109497" marT="145996" marB="14599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400" b="1">
                          <a:solidFill>
                            <a:srgbClr val="1F1F1F"/>
                          </a:solidFill>
                          <a:effectLst/>
                        </a:rPr>
                        <a:t>Explicação</a:t>
                      </a:r>
                      <a:endParaRPr lang="pt-BR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597" marR="87597" marT="145996" marB="145996" anchor="ctr"/>
                </a:tc>
                <a:extLst>
                  <a:ext uri="{0D108BD9-81ED-4DB2-BD59-A6C34878D82A}">
                    <a16:rowId xmlns:a16="http://schemas.microsoft.com/office/drawing/2014/main" val="3750622099"/>
                  </a:ext>
                </a:extLst>
              </a:tr>
              <a:tr h="69727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400" b="1">
                          <a:solidFill>
                            <a:srgbClr val="1F1F1F"/>
                          </a:solidFill>
                          <a:effectLst/>
                        </a:rPr>
                        <a:t>1 para 1 (1:1)</a:t>
                      </a:r>
                      <a:endParaRPr lang="pt-BR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597" marR="109497" marT="145996" marB="14599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400" dirty="0">
                          <a:solidFill>
                            <a:srgbClr val="1F1F1F"/>
                          </a:solidFill>
                          <a:effectLst/>
                        </a:rPr>
                        <a:t>Pessoa e CPF</a:t>
                      </a:r>
                      <a:endParaRPr lang="pt-BR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597" marR="109497" marT="145996" marB="14599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400">
                          <a:solidFill>
                            <a:srgbClr val="1F1F1F"/>
                          </a:solidFill>
                          <a:effectLst/>
                        </a:rPr>
                        <a:t>Uma pessoa tem exatamente um CPF, e um CPF pertence a uma só pessoa.</a:t>
                      </a:r>
                      <a:endParaRPr lang="pt-BR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597" marR="87597" marT="145996" marB="145996" anchor="ctr"/>
                </a:tc>
                <a:extLst>
                  <a:ext uri="{0D108BD9-81ED-4DB2-BD59-A6C34878D82A}">
                    <a16:rowId xmlns:a16="http://schemas.microsoft.com/office/drawing/2014/main" val="3613820571"/>
                  </a:ext>
                </a:extLst>
              </a:tr>
              <a:tr h="89215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400" b="1">
                          <a:solidFill>
                            <a:srgbClr val="1F1F1F"/>
                          </a:solidFill>
                          <a:effectLst/>
                        </a:rPr>
                        <a:t>1 para Muitos (1:N)</a:t>
                      </a:r>
                      <a:endParaRPr lang="pt-BR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597" marR="109497" marT="145996" marB="14599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400">
                          <a:solidFill>
                            <a:srgbClr val="1F1F1F"/>
                          </a:solidFill>
                          <a:effectLst/>
                        </a:rPr>
                        <a:t>Departamento e Funcionários</a:t>
                      </a:r>
                      <a:endParaRPr lang="pt-BR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597" marR="109497" marT="145996" marB="14599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400">
                          <a:solidFill>
                            <a:srgbClr val="1F1F1F"/>
                          </a:solidFill>
                          <a:effectLst/>
                        </a:rPr>
                        <a:t>Um departamento tem vários funcionários, mas cada funcionário pertence a apenas um departamento.</a:t>
                      </a:r>
                      <a:endParaRPr lang="pt-BR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597" marR="87597" marT="145996" marB="145996" anchor="ctr"/>
                </a:tc>
                <a:extLst>
                  <a:ext uri="{0D108BD9-81ED-4DB2-BD59-A6C34878D82A}">
                    <a16:rowId xmlns:a16="http://schemas.microsoft.com/office/drawing/2014/main" val="2070670308"/>
                  </a:ext>
                </a:extLst>
              </a:tr>
              <a:tr h="69727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400" b="1">
                          <a:solidFill>
                            <a:srgbClr val="1F1F1F"/>
                          </a:solidFill>
                          <a:effectLst/>
                        </a:rPr>
                        <a:t>Muitos para Muitos (N:N)</a:t>
                      </a:r>
                      <a:endParaRPr lang="pt-BR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597" marR="109497" marT="145996" marB="14599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400">
                          <a:solidFill>
                            <a:srgbClr val="1F1F1F"/>
                          </a:solidFill>
                          <a:effectLst/>
                        </a:rPr>
                        <a:t>Aluno e Disciplina</a:t>
                      </a:r>
                      <a:endParaRPr lang="pt-BR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597" marR="109497" marT="145996" marB="14599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400" dirty="0">
                          <a:solidFill>
                            <a:srgbClr val="1F1F1F"/>
                          </a:solidFill>
                          <a:effectLst/>
                        </a:rPr>
                        <a:t>Um aluno pode cursar várias disciplinas, e uma disciplina tem vários alunos matriculados.</a:t>
                      </a:r>
                      <a:endParaRPr lang="pt-BR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597" marR="87597" marT="145996" marB="145996" anchor="ctr"/>
                </a:tc>
                <a:extLst>
                  <a:ext uri="{0D108BD9-81ED-4DB2-BD59-A6C34878D82A}">
                    <a16:rowId xmlns:a16="http://schemas.microsoft.com/office/drawing/2014/main" val="3421838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6709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56298AA3-C74C-9F62-C672-6492EDD2D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BAE08ED4-89D6-274B-467D-A371142383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Conectividades entre Classes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B5931F47-E6B7-BE78-336B-84C3B0192F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pt-BR" spc="-1" dirty="0">
                <a:solidFill>
                  <a:srgbClr val="000000"/>
                </a:solidFill>
              </a:rPr>
              <a:t>Exemplos</a:t>
            </a:r>
            <a:endParaRPr dirty="0"/>
          </a:p>
        </p:txBody>
      </p:sp>
      <p:sp>
        <p:nvSpPr>
          <p:cNvPr id="20" name="CustomShape 2">
            <a:extLst>
              <a:ext uri="{FF2B5EF4-FFF2-40B4-BE49-F238E27FC236}">
                <a16:creationId xmlns:a16="http://schemas.microsoft.com/office/drawing/2014/main" id="{92B23EDA-A2A1-0868-51FC-DC20E9AED97C}"/>
              </a:ext>
            </a:extLst>
          </p:cNvPr>
          <p:cNvSpPr/>
          <p:nvPr/>
        </p:nvSpPr>
        <p:spPr>
          <a:xfrm>
            <a:off x="311700" y="1813144"/>
            <a:ext cx="2303280" cy="395280"/>
          </a:xfrm>
          <a:prstGeom prst="rect">
            <a:avLst/>
          </a:prstGeom>
          <a:solidFill>
            <a:srgbClr val="FFC000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2000" b="0" strike="noStrike" spc="-1">
                <a:solidFill>
                  <a:srgbClr val="000000"/>
                </a:solidFill>
                <a:latin typeface="Arial" panose="020B0604020202020204"/>
              </a:rPr>
              <a:t>Empregado</a:t>
            </a:r>
            <a:endParaRPr lang="pt-BR" sz="2000" b="0" strike="noStrike" spc="-1">
              <a:latin typeface="Arial" panose="020B0604020202020204"/>
            </a:endParaRPr>
          </a:p>
        </p:txBody>
      </p:sp>
      <p:sp>
        <p:nvSpPr>
          <p:cNvPr id="21" name="CustomShape 3">
            <a:extLst>
              <a:ext uri="{FF2B5EF4-FFF2-40B4-BE49-F238E27FC236}">
                <a16:creationId xmlns:a16="http://schemas.microsoft.com/office/drawing/2014/main" id="{B6EE1443-D2EE-7A4D-A229-B54382B9EFF9}"/>
              </a:ext>
            </a:extLst>
          </p:cNvPr>
          <p:cNvSpPr/>
          <p:nvPr/>
        </p:nvSpPr>
        <p:spPr>
          <a:xfrm>
            <a:off x="4161180" y="1813144"/>
            <a:ext cx="2269800" cy="395280"/>
          </a:xfrm>
          <a:prstGeom prst="rect">
            <a:avLst/>
          </a:prstGeom>
          <a:solidFill>
            <a:srgbClr val="FFC000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2000" b="0" strike="noStrike" spc="-1">
                <a:solidFill>
                  <a:srgbClr val="000000"/>
                </a:solidFill>
                <a:latin typeface="Arial" panose="020B0604020202020204"/>
              </a:rPr>
              <a:t>Departamento</a:t>
            </a:r>
            <a:endParaRPr lang="pt-BR" sz="2000" b="0" strike="noStrike" spc="-1">
              <a:latin typeface="Arial" panose="020B0604020202020204"/>
            </a:endParaRPr>
          </a:p>
        </p:txBody>
      </p:sp>
      <p:sp>
        <p:nvSpPr>
          <p:cNvPr id="22" name="Line 4">
            <a:extLst>
              <a:ext uri="{FF2B5EF4-FFF2-40B4-BE49-F238E27FC236}">
                <a16:creationId xmlns:a16="http://schemas.microsoft.com/office/drawing/2014/main" id="{F2F5995B-0470-46DD-F35B-1076F02A106C}"/>
              </a:ext>
            </a:extLst>
          </p:cNvPr>
          <p:cNvSpPr/>
          <p:nvPr/>
        </p:nvSpPr>
        <p:spPr>
          <a:xfrm>
            <a:off x="2614980" y="2013304"/>
            <a:ext cx="1546200" cy="360"/>
          </a:xfrm>
          <a:prstGeom prst="line">
            <a:avLst/>
          </a:prstGeom>
          <a:ln w="3492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23" name="CustomShape 5">
            <a:extLst>
              <a:ext uri="{FF2B5EF4-FFF2-40B4-BE49-F238E27FC236}">
                <a16:creationId xmlns:a16="http://schemas.microsoft.com/office/drawing/2014/main" id="{A19290A1-65EB-EDED-FB59-E475BDC58111}"/>
              </a:ext>
            </a:extLst>
          </p:cNvPr>
          <p:cNvSpPr/>
          <p:nvPr/>
        </p:nvSpPr>
        <p:spPr>
          <a:xfrm>
            <a:off x="2617500" y="2151544"/>
            <a:ext cx="30744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1800" b="1" strike="noStrike" spc="-1">
                <a:solidFill>
                  <a:srgbClr val="000000"/>
                </a:solidFill>
                <a:latin typeface="Arial" panose="020B0604020202020204"/>
              </a:rPr>
              <a:t>1</a:t>
            </a:r>
            <a:endParaRPr lang="pt-BR" sz="1800" b="0" strike="noStrike" spc="-1">
              <a:latin typeface="Arial" panose="020B0604020202020204"/>
            </a:endParaRPr>
          </a:p>
        </p:txBody>
      </p:sp>
      <p:sp>
        <p:nvSpPr>
          <p:cNvPr id="24" name="CustomShape 6">
            <a:extLst>
              <a:ext uri="{FF2B5EF4-FFF2-40B4-BE49-F238E27FC236}">
                <a16:creationId xmlns:a16="http://schemas.microsoft.com/office/drawing/2014/main" id="{DE190B47-0779-A271-F01B-19252B3B2429}"/>
              </a:ext>
            </a:extLst>
          </p:cNvPr>
          <p:cNvSpPr/>
          <p:nvPr/>
        </p:nvSpPr>
        <p:spPr>
          <a:xfrm>
            <a:off x="3633780" y="2164144"/>
            <a:ext cx="5619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1800" b="1" strike="noStrike" spc="-1">
                <a:solidFill>
                  <a:srgbClr val="000000"/>
                </a:solidFill>
                <a:latin typeface="Arial" panose="020B0604020202020204"/>
              </a:rPr>
              <a:t>0..1</a:t>
            </a:r>
            <a:endParaRPr lang="pt-BR" sz="1800" b="0" strike="noStrike" spc="-1">
              <a:latin typeface="Arial" panose="020B0604020202020204"/>
            </a:endParaRPr>
          </a:p>
        </p:txBody>
      </p:sp>
      <p:sp>
        <p:nvSpPr>
          <p:cNvPr id="25" name="CustomShape 7">
            <a:extLst>
              <a:ext uri="{FF2B5EF4-FFF2-40B4-BE49-F238E27FC236}">
                <a16:creationId xmlns:a16="http://schemas.microsoft.com/office/drawing/2014/main" id="{C7491879-0040-F3BF-CFF9-7BC1A95EAF82}"/>
              </a:ext>
            </a:extLst>
          </p:cNvPr>
          <p:cNvSpPr/>
          <p:nvPr/>
        </p:nvSpPr>
        <p:spPr>
          <a:xfrm>
            <a:off x="7296780" y="1602184"/>
            <a:ext cx="1584000" cy="404280"/>
          </a:xfrm>
          <a:prstGeom prst="borderCallout1">
            <a:avLst>
              <a:gd name="adj1" fmla="val 46051"/>
              <a:gd name="adj2" fmla="val 1255"/>
              <a:gd name="adj3" fmla="val 108616"/>
              <a:gd name="adj4" fmla="val -53653"/>
            </a:avLst>
          </a:prstGeom>
          <a:solidFill>
            <a:srgbClr val="92D050"/>
          </a:solidFill>
          <a:ln w="22320">
            <a:solidFill>
              <a:srgbClr val="0070C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pt-BR" sz="2000" b="1" i="1" strike="noStrike" spc="-1">
                <a:solidFill>
                  <a:srgbClr val="000000"/>
                </a:solidFill>
                <a:latin typeface="Times New Roman" panose="02020603050405020304"/>
              </a:rPr>
              <a:t>Um para um</a:t>
            </a:r>
            <a:endParaRPr lang="pt-BR" sz="2000" b="0" strike="noStrike" spc="-1">
              <a:latin typeface="Arial" panose="020B0604020202020204"/>
            </a:endParaRPr>
          </a:p>
        </p:txBody>
      </p:sp>
      <p:sp>
        <p:nvSpPr>
          <p:cNvPr id="26" name="CustomShape 8">
            <a:extLst>
              <a:ext uri="{FF2B5EF4-FFF2-40B4-BE49-F238E27FC236}">
                <a16:creationId xmlns:a16="http://schemas.microsoft.com/office/drawing/2014/main" id="{ECADD698-547F-559F-65F9-8912D04427E8}"/>
              </a:ext>
            </a:extLst>
          </p:cNvPr>
          <p:cNvSpPr/>
          <p:nvPr/>
        </p:nvSpPr>
        <p:spPr>
          <a:xfrm>
            <a:off x="311700" y="2900884"/>
            <a:ext cx="2303280" cy="395280"/>
          </a:xfrm>
          <a:prstGeom prst="rect">
            <a:avLst/>
          </a:prstGeom>
          <a:solidFill>
            <a:srgbClr val="FFC000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2000" b="0" strike="noStrike" spc="-1" dirty="0">
                <a:solidFill>
                  <a:srgbClr val="000000"/>
                </a:solidFill>
                <a:latin typeface="Arial" panose="020B0604020202020204"/>
              </a:rPr>
              <a:t>Empregado</a:t>
            </a:r>
            <a:endParaRPr lang="pt-BR" sz="2000" b="0" strike="noStrike" spc="-1" dirty="0">
              <a:latin typeface="Arial" panose="020B0604020202020204"/>
            </a:endParaRPr>
          </a:p>
        </p:txBody>
      </p:sp>
      <p:sp>
        <p:nvSpPr>
          <p:cNvPr id="27" name="CustomShape 9">
            <a:extLst>
              <a:ext uri="{FF2B5EF4-FFF2-40B4-BE49-F238E27FC236}">
                <a16:creationId xmlns:a16="http://schemas.microsoft.com/office/drawing/2014/main" id="{1392C37F-FA7C-F60D-B766-0CC58C504E7D}"/>
              </a:ext>
            </a:extLst>
          </p:cNvPr>
          <p:cNvSpPr/>
          <p:nvPr/>
        </p:nvSpPr>
        <p:spPr>
          <a:xfrm>
            <a:off x="4161180" y="2900884"/>
            <a:ext cx="2269800" cy="395280"/>
          </a:xfrm>
          <a:prstGeom prst="rect">
            <a:avLst/>
          </a:prstGeom>
          <a:solidFill>
            <a:srgbClr val="FFC000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2000" b="0" strike="noStrike" spc="-1">
                <a:solidFill>
                  <a:srgbClr val="000000"/>
                </a:solidFill>
                <a:latin typeface="Arial" panose="020B0604020202020204"/>
              </a:rPr>
              <a:t>Departamento</a:t>
            </a:r>
            <a:endParaRPr lang="pt-BR" sz="2000" b="0" strike="noStrike" spc="-1">
              <a:latin typeface="Arial" panose="020B0604020202020204"/>
            </a:endParaRPr>
          </a:p>
        </p:txBody>
      </p:sp>
      <p:sp>
        <p:nvSpPr>
          <p:cNvPr id="28" name="Line 10">
            <a:extLst>
              <a:ext uri="{FF2B5EF4-FFF2-40B4-BE49-F238E27FC236}">
                <a16:creationId xmlns:a16="http://schemas.microsoft.com/office/drawing/2014/main" id="{48E9EC0F-442B-299E-264B-441E34ED3ED1}"/>
              </a:ext>
            </a:extLst>
          </p:cNvPr>
          <p:cNvSpPr/>
          <p:nvPr/>
        </p:nvSpPr>
        <p:spPr>
          <a:xfrm>
            <a:off x="2614980" y="3100684"/>
            <a:ext cx="1546200" cy="360"/>
          </a:xfrm>
          <a:prstGeom prst="line">
            <a:avLst/>
          </a:prstGeom>
          <a:ln w="3492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29" name="CustomShape 11">
            <a:extLst>
              <a:ext uri="{FF2B5EF4-FFF2-40B4-BE49-F238E27FC236}">
                <a16:creationId xmlns:a16="http://schemas.microsoft.com/office/drawing/2014/main" id="{D3618473-BE41-CA13-8289-ED5C74D27596}"/>
              </a:ext>
            </a:extLst>
          </p:cNvPr>
          <p:cNvSpPr/>
          <p:nvPr/>
        </p:nvSpPr>
        <p:spPr>
          <a:xfrm>
            <a:off x="2581500" y="3239284"/>
            <a:ext cx="5241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1800" b="1" strike="noStrike" spc="-1">
                <a:solidFill>
                  <a:srgbClr val="000000"/>
                </a:solidFill>
                <a:latin typeface="Arial" panose="020B0604020202020204"/>
              </a:rPr>
              <a:t>0..*</a:t>
            </a:r>
            <a:endParaRPr lang="pt-BR" sz="1800" b="0" strike="noStrike" spc="-1">
              <a:latin typeface="Arial" panose="020B0604020202020204"/>
            </a:endParaRPr>
          </a:p>
        </p:txBody>
      </p:sp>
      <p:sp>
        <p:nvSpPr>
          <p:cNvPr id="30" name="CustomShape 12">
            <a:extLst>
              <a:ext uri="{FF2B5EF4-FFF2-40B4-BE49-F238E27FC236}">
                <a16:creationId xmlns:a16="http://schemas.microsoft.com/office/drawing/2014/main" id="{3C162D9F-116F-355E-2A34-365C6CB7ACA5}"/>
              </a:ext>
            </a:extLst>
          </p:cNvPr>
          <p:cNvSpPr/>
          <p:nvPr/>
        </p:nvSpPr>
        <p:spPr>
          <a:xfrm>
            <a:off x="3817740" y="3251884"/>
            <a:ext cx="30744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1800" b="1" strike="noStrike" spc="-1">
                <a:solidFill>
                  <a:srgbClr val="000000"/>
                </a:solidFill>
                <a:latin typeface="Arial" panose="020B0604020202020204"/>
              </a:rPr>
              <a:t>1</a:t>
            </a:r>
            <a:endParaRPr lang="pt-BR" sz="1800" b="0" strike="noStrike" spc="-1">
              <a:latin typeface="Arial" panose="020B0604020202020204"/>
            </a:endParaRPr>
          </a:p>
        </p:txBody>
      </p:sp>
      <p:sp>
        <p:nvSpPr>
          <p:cNvPr id="31" name="CustomShape 13">
            <a:extLst>
              <a:ext uri="{FF2B5EF4-FFF2-40B4-BE49-F238E27FC236}">
                <a16:creationId xmlns:a16="http://schemas.microsoft.com/office/drawing/2014/main" id="{66DDD9A3-413D-8691-4221-0A14B78D3391}"/>
              </a:ext>
            </a:extLst>
          </p:cNvPr>
          <p:cNvSpPr/>
          <p:nvPr/>
        </p:nvSpPr>
        <p:spPr>
          <a:xfrm>
            <a:off x="7152060" y="2712244"/>
            <a:ext cx="1834920" cy="404280"/>
          </a:xfrm>
          <a:prstGeom prst="borderCallout1">
            <a:avLst>
              <a:gd name="adj1" fmla="val 46051"/>
              <a:gd name="adj2" fmla="val 1255"/>
              <a:gd name="adj3" fmla="val 101463"/>
              <a:gd name="adj4" fmla="val -38005"/>
            </a:avLst>
          </a:prstGeom>
          <a:solidFill>
            <a:srgbClr val="92D050"/>
          </a:solidFill>
          <a:ln w="22320">
            <a:solidFill>
              <a:srgbClr val="0070C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pt-BR" sz="2000" b="1" i="1" strike="noStrike" spc="-1">
                <a:solidFill>
                  <a:srgbClr val="000000"/>
                </a:solidFill>
                <a:latin typeface="Times New Roman" panose="02020603050405020304"/>
              </a:rPr>
              <a:t>Um para muitos</a:t>
            </a:r>
            <a:endParaRPr lang="pt-BR" sz="2000" b="0" strike="noStrike" spc="-1">
              <a:latin typeface="Arial" panose="020B0604020202020204"/>
            </a:endParaRPr>
          </a:p>
        </p:txBody>
      </p:sp>
      <p:sp>
        <p:nvSpPr>
          <p:cNvPr id="32" name="CustomShape 14">
            <a:extLst>
              <a:ext uri="{FF2B5EF4-FFF2-40B4-BE49-F238E27FC236}">
                <a16:creationId xmlns:a16="http://schemas.microsoft.com/office/drawing/2014/main" id="{65FB0672-168E-C485-E2F9-7FB7657F8C4F}"/>
              </a:ext>
            </a:extLst>
          </p:cNvPr>
          <p:cNvSpPr/>
          <p:nvPr/>
        </p:nvSpPr>
        <p:spPr>
          <a:xfrm>
            <a:off x="311700" y="3928504"/>
            <a:ext cx="2303280" cy="395280"/>
          </a:xfrm>
          <a:prstGeom prst="rect">
            <a:avLst/>
          </a:prstGeom>
          <a:solidFill>
            <a:srgbClr val="FFC000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2000" b="0" strike="noStrike" spc="-1" dirty="0">
                <a:solidFill>
                  <a:srgbClr val="000000"/>
                </a:solidFill>
                <a:latin typeface="Arial" panose="020B0604020202020204"/>
              </a:rPr>
              <a:t>Empregado</a:t>
            </a:r>
            <a:endParaRPr lang="pt-BR" sz="2000" b="0" strike="noStrike" spc="-1" dirty="0">
              <a:latin typeface="Arial" panose="020B0604020202020204"/>
            </a:endParaRPr>
          </a:p>
        </p:txBody>
      </p:sp>
      <p:sp>
        <p:nvSpPr>
          <p:cNvPr id="33" name="CustomShape 15">
            <a:extLst>
              <a:ext uri="{FF2B5EF4-FFF2-40B4-BE49-F238E27FC236}">
                <a16:creationId xmlns:a16="http://schemas.microsoft.com/office/drawing/2014/main" id="{8E406B4A-C31D-E173-78BD-23E6DC63D1C9}"/>
              </a:ext>
            </a:extLst>
          </p:cNvPr>
          <p:cNvSpPr/>
          <p:nvPr/>
        </p:nvSpPr>
        <p:spPr>
          <a:xfrm>
            <a:off x="4161180" y="3928504"/>
            <a:ext cx="2269800" cy="395280"/>
          </a:xfrm>
          <a:prstGeom prst="rect">
            <a:avLst/>
          </a:prstGeom>
          <a:solidFill>
            <a:srgbClr val="FFC000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2000" b="0" strike="noStrike" spc="-1">
                <a:solidFill>
                  <a:srgbClr val="000000"/>
                </a:solidFill>
                <a:latin typeface="Arial" panose="020B0604020202020204"/>
              </a:rPr>
              <a:t>Departamento</a:t>
            </a:r>
            <a:endParaRPr lang="pt-BR" sz="2000" b="0" strike="noStrike" spc="-1">
              <a:latin typeface="Arial" panose="020B0604020202020204"/>
            </a:endParaRPr>
          </a:p>
        </p:txBody>
      </p:sp>
      <p:sp>
        <p:nvSpPr>
          <p:cNvPr id="34" name="Line 16">
            <a:extLst>
              <a:ext uri="{FF2B5EF4-FFF2-40B4-BE49-F238E27FC236}">
                <a16:creationId xmlns:a16="http://schemas.microsoft.com/office/drawing/2014/main" id="{2306C622-6BEF-8C40-E9A7-DBAF96C3C75C}"/>
              </a:ext>
            </a:extLst>
          </p:cNvPr>
          <p:cNvSpPr/>
          <p:nvPr/>
        </p:nvSpPr>
        <p:spPr>
          <a:xfrm>
            <a:off x="2614980" y="4128304"/>
            <a:ext cx="1546200" cy="360"/>
          </a:xfrm>
          <a:prstGeom prst="line">
            <a:avLst/>
          </a:prstGeom>
          <a:ln w="3492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35" name="CustomShape 17">
            <a:extLst>
              <a:ext uri="{FF2B5EF4-FFF2-40B4-BE49-F238E27FC236}">
                <a16:creationId xmlns:a16="http://schemas.microsoft.com/office/drawing/2014/main" id="{671FFD91-365C-6DFA-67B0-3702340CFFC7}"/>
              </a:ext>
            </a:extLst>
          </p:cNvPr>
          <p:cNvSpPr/>
          <p:nvPr/>
        </p:nvSpPr>
        <p:spPr>
          <a:xfrm>
            <a:off x="2663940" y="4529344"/>
            <a:ext cx="5241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1800" b="1" strike="noStrike" spc="-1">
                <a:solidFill>
                  <a:srgbClr val="000000"/>
                </a:solidFill>
                <a:latin typeface="Arial" panose="020B0604020202020204"/>
              </a:rPr>
              <a:t>0..*</a:t>
            </a:r>
            <a:endParaRPr lang="pt-BR" sz="1800" b="0" strike="noStrike" spc="-1">
              <a:latin typeface="Arial" panose="020B0604020202020204"/>
            </a:endParaRPr>
          </a:p>
        </p:txBody>
      </p:sp>
      <p:sp>
        <p:nvSpPr>
          <p:cNvPr id="36" name="CustomShape 18">
            <a:extLst>
              <a:ext uri="{FF2B5EF4-FFF2-40B4-BE49-F238E27FC236}">
                <a16:creationId xmlns:a16="http://schemas.microsoft.com/office/drawing/2014/main" id="{BF879757-CE58-DEF2-4BA3-5F75F951E718}"/>
              </a:ext>
            </a:extLst>
          </p:cNvPr>
          <p:cNvSpPr/>
          <p:nvPr/>
        </p:nvSpPr>
        <p:spPr>
          <a:xfrm>
            <a:off x="3671940" y="4542304"/>
            <a:ext cx="5241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1800" b="1" strike="noStrike" spc="-1">
                <a:solidFill>
                  <a:srgbClr val="000000"/>
                </a:solidFill>
                <a:latin typeface="Arial" panose="020B0604020202020204"/>
              </a:rPr>
              <a:t>1..*</a:t>
            </a:r>
            <a:endParaRPr lang="pt-BR" sz="1800" b="0" strike="noStrike" spc="-1">
              <a:latin typeface="Arial" panose="020B0604020202020204"/>
            </a:endParaRPr>
          </a:p>
        </p:txBody>
      </p:sp>
      <p:sp>
        <p:nvSpPr>
          <p:cNvPr id="37" name="CustomShape 19">
            <a:extLst>
              <a:ext uri="{FF2B5EF4-FFF2-40B4-BE49-F238E27FC236}">
                <a16:creationId xmlns:a16="http://schemas.microsoft.com/office/drawing/2014/main" id="{7AFF1C3D-62BB-77E5-02D1-5DD98D373628}"/>
              </a:ext>
            </a:extLst>
          </p:cNvPr>
          <p:cNvSpPr/>
          <p:nvPr/>
        </p:nvSpPr>
        <p:spPr>
          <a:xfrm>
            <a:off x="6828420" y="3668224"/>
            <a:ext cx="2195280" cy="404280"/>
          </a:xfrm>
          <a:prstGeom prst="borderCallout1">
            <a:avLst>
              <a:gd name="adj1" fmla="val 46051"/>
              <a:gd name="adj2" fmla="val 1255"/>
              <a:gd name="adj3" fmla="val 122926"/>
              <a:gd name="adj4" fmla="val -16787"/>
            </a:avLst>
          </a:prstGeom>
          <a:solidFill>
            <a:srgbClr val="92D050"/>
          </a:solidFill>
          <a:ln w="22320">
            <a:solidFill>
              <a:srgbClr val="0070C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pt-BR" sz="2000" b="1" i="1" strike="noStrike" spc="-1">
                <a:solidFill>
                  <a:srgbClr val="000000"/>
                </a:solidFill>
                <a:latin typeface="Times New Roman" panose="02020603050405020304"/>
              </a:rPr>
              <a:t>Muitos para muitos</a:t>
            </a:r>
            <a:endParaRPr lang="pt-BR" sz="2000" b="0" strike="noStrike" spc="-1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57366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3183790-93AA-3256-C583-4D1EC08A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68E1EB22-32EF-4CCE-DB02-F190087F00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Tipos de Associação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16F23630-FFE8-B046-BAC6-CC0F15A8E1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800" dirty="0"/>
              <a:t>Associação Binária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pt-BR" sz="1600" dirty="0"/>
              <a:t>Associações entre duas classes</a:t>
            </a:r>
            <a:br>
              <a:rPr lang="pt-BR" sz="1600" dirty="0"/>
            </a:br>
            <a:r>
              <a:rPr lang="pt-BR" sz="1600" dirty="0"/>
              <a:t>Mais comum</a:t>
            </a:r>
            <a:br>
              <a:rPr lang="pt-BR" sz="1600" dirty="0"/>
            </a:br>
            <a:endParaRPr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9ECF59E-3766-758E-3B1F-DE327A0FF72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56129" y="2311310"/>
            <a:ext cx="7431741" cy="23871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5504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FFED5DC-8A06-20B5-152D-19D548516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CB74E801-3BD4-D090-A7EC-3A7A93BC1D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Tipos de Associação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F3FF0D07-182B-1D35-A2FE-F911CBEE8D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Associação Unária (ou Reflexiva)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pt-BR" dirty="0"/>
              <a:t>Ocorre quando uma classe relaciona com si mesmo.</a:t>
            </a:r>
            <a:br>
              <a:rPr lang="pt-BR" dirty="0"/>
            </a:br>
            <a:r>
              <a:rPr lang="pt-BR" dirty="0"/>
              <a:t>Exemplo:</a:t>
            </a:r>
          </a:p>
          <a:p>
            <a:pPr marL="457200" lvl="1" indent="0"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C10FB1E-24F5-5714-BFD7-3E0DAFA8798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087576" y="2430448"/>
            <a:ext cx="2968848" cy="252389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0725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F1AE1F1-2425-52F9-4A0B-5A3F76DD9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D32F5616-A076-34AA-6F85-40EDB894B1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Representação Gráfica de associação entre Classes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2CB92598-6B2B-D3A0-28DC-4DAE8502C8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8BEA63C-B3C5-1D9A-FC9E-319CDC08F3C5}"/>
              </a:ext>
            </a:extLst>
          </p:cNvPr>
          <p:cNvGrpSpPr/>
          <p:nvPr/>
        </p:nvGrpSpPr>
        <p:grpSpPr>
          <a:xfrm>
            <a:off x="405092" y="1073525"/>
            <a:ext cx="2819538" cy="1649505"/>
            <a:chOff x="611280" y="1684440"/>
            <a:chExt cx="3025440" cy="1960200"/>
          </a:xfrm>
          <a:solidFill>
            <a:schemeClr val="bg1"/>
          </a:solidFill>
        </p:grpSpPr>
        <p:sp>
          <p:nvSpPr>
            <p:cNvPr id="3" name="CustomShape 2">
              <a:extLst>
                <a:ext uri="{FF2B5EF4-FFF2-40B4-BE49-F238E27FC236}">
                  <a16:creationId xmlns:a16="http://schemas.microsoft.com/office/drawing/2014/main" id="{F9F26866-2311-E5A1-563C-54E7D21DB78A}"/>
                </a:ext>
              </a:extLst>
            </p:cNvPr>
            <p:cNvSpPr/>
            <p:nvPr/>
          </p:nvSpPr>
          <p:spPr>
            <a:xfrm>
              <a:off x="611280" y="1684440"/>
              <a:ext cx="3025440" cy="390240"/>
            </a:xfrm>
            <a:prstGeom prst="rect">
              <a:avLst/>
            </a:prstGeom>
            <a:grpFill/>
            <a:ln w="25560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 algn="ctr">
                <a:lnSpc>
                  <a:spcPct val="100000"/>
                </a:lnSpc>
              </a:pPr>
              <a:r>
                <a:rPr lang="pt-BR" sz="1800" b="1" strike="noStrike" spc="-1">
                  <a:solidFill>
                    <a:srgbClr val="000000"/>
                  </a:solidFill>
                  <a:latin typeface="Arial" panose="020B0604020202020204"/>
                </a:rPr>
                <a:t>Departamento</a:t>
              </a:r>
              <a:endParaRPr lang="pt-BR" sz="1800" b="0" strike="noStrike" spc="-1">
                <a:latin typeface="Arial" panose="020B0604020202020204"/>
              </a:endParaRPr>
            </a:p>
          </p:txBody>
        </p:sp>
        <p:sp>
          <p:nvSpPr>
            <p:cNvPr id="4" name="CustomShape 3">
              <a:extLst>
                <a:ext uri="{FF2B5EF4-FFF2-40B4-BE49-F238E27FC236}">
                  <a16:creationId xmlns:a16="http://schemas.microsoft.com/office/drawing/2014/main" id="{0886D72D-5C70-2B67-088B-C6D4DACCF999}"/>
                </a:ext>
              </a:extLst>
            </p:cNvPr>
            <p:cNvSpPr/>
            <p:nvPr/>
          </p:nvSpPr>
          <p:spPr>
            <a:xfrm>
              <a:off x="611280" y="2075040"/>
              <a:ext cx="3025440" cy="468000"/>
            </a:xfrm>
            <a:prstGeom prst="rect">
              <a:avLst/>
            </a:prstGeom>
            <a:grpFill/>
            <a:ln w="25560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>
                <a:lnSpc>
                  <a:spcPct val="100000"/>
                </a:lnSpc>
              </a:pPr>
              <a:r>
                <a:rPr lang="pt-BR" sz="1800" b="1" strike="noStrike" spc="-1">
                  <a:solidFill>
                    <a:srgbClr val="000000"/>
                  </a:solidFill>
                  <a:latin typeface="Arial" panose="020B0604020202020204"/>
                </a:rPr>
                <a:t>-</a:t>
              </a:r>
              <a:r>
                <a:rPr lang="pt-BR" sz="1800" b="0" strike="noStrike" spc="-1">
                  <a:solidFill>
                    <a:srgbClr val="000000"/>
                  </a:solidFill>
                  <a:latin typeface="Arial" panose="020B0604020202020204"/>
                </a:rPr>
                <a:t> descricao: String</a:t>
              </a:r>
              <a:endParaRPr lang="pt-BR" sz="1800" b="0" strike="noStrike" spc="-1">
                <a:latin typeface="Arial" panose="020B0604020202020204"/>
              </a:endParaRPr>
            </a:p>
          </p:txBody>
        </p:sp>
        <p:sp>
          <p:nvSpPr>
            <p:cNvPr id="5" name="CustomShape 4">
              <a:extLst>
                <a:ext uri="{FF2B5EF4-FFF2-40B4-BE49-F238E27FC236}">
                  <a16:creationId xmlns:a16="http://schemas.microsoft.com/office/drawing/2014/main" id="{88BEF286-7B4D-2529-5446-D3CB22CA73EA}"/>
                </a:ext>
              </a:extLst>
            </p:cNvPr>
            <p:cNvSpPr/>
            <p:nvPr/>
          </p:nvSpPr>
          <p:spPr>
            <a:xfrm>
              <a:off x="611280" y="2546280"/>
              <a:ext cx="3025440" cy="1098360"/>
            </a:xfrm>
            <a:prstGeom prst="rect">
              <a:avLst/>
            </a:prstGeom>
            <a:grpFill/>
            <a:ln w="25560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>
                <a:lnSpc>
                  <a:spcPct val="100000"/>
                </a:lnSpc>
              </a:pPr>
              <a:r>
                <a:rPr lang="pt-BR" sz="1800" b="1" strike="noStrike" spc="-1">
                  <a:solidFill>
                    <a:srgbClr val="000000"/>
                  </a:solidFill>
                  <a:latin typeface="Arial" panose="020B0604020202020204"/>
                </a:rPr>
                <a:t>+ </a:t>
              </a:r>
              <a:r>
                <a:rPr lang="pt-BR" sz="1800" b="0" strike="noStrike" spc="-1">
                  <a:solidFill>
                    <a:srgbClr val="000000"/>
                  </a:solidFill>
                  <a:latin typeface="Arial" panose="020B0604020202020204"/>
                </a:rPr>
                <a:t>Departamento()</a:t>
              </a:r>
              <a:endParaRPr lang="pt-BR" sz="1800" b="0" strike="noStrike" spc="-1">
                <a:latin typeface="Arial" panose="020B0604020202020204"/>
              </a:endParaRPr>
            </a:p>
            <a:p>
              <a:pPr>
                <a:lnSpc>
                  <a:spcPct val="100000"/>
                </a:lnSpc>
              </a:pPr>
              <a:r>
                <a:rPr lang="pt-BR" sz="1800" b="1" strike="noStrike" spc="-1">
                  <a:solidFill>
                    <a:srgbClr val="000000"/>
                  </a:solidFill>
                  <a:latin typeface="Arial" panose="020B0604020202020204"/>
                </a:rPr>
                <a:t>+</a:t>
              </a:r>
              <a:r>
                <a:rPr lang="pt-BR" sz="1800" b="0" strike="noStrike" spc="-1">
                  <a:solidFill>
                    <a:srgbClr val="000000"/>
                  </a:solidFill>
                  <a:latin typeface="Arial" panose="020B0604020202020204"/>
                </a:rPr>
                <a:t> GETs()</a:t>
              </a:r>
              <a:endParaRPr lang="pt-BR" sz="1800" b="0" strike="noStrike" spc="-1">
                <a:latin typeface="Arial" panose="020B0604020202020204"/>
              </a:endParaRPr>
            </a:p>
            <a:p>
              <a:pPr>
                <a:lnSpc>
                  <a:spcPct val="100000"/>
                </a:lnSpc>
              </a:pPr>
              <a:r>
                <a:rPr lang="pt-BR" sz="1800" b="1" strike="noStrike" spc="-1">
                  <a:solidFill>
                    <a:srgbClr val="000000"/>
                  </a:solidFill>
                  <a:latin typeface="Arial" panose="020B0604020202020204"/>
                </a:rPr>
                <a:t>+</a:t>
              </a:r>
              <a:r>
                <a:rPr lang="pt-BR" sz="1800" b="0" strike="noStrike" spc="-1">
                  <a:solidFill>
                    <a:srgbClr val="000000"/>
                  </a:solidFill>
                  <a:latin typeface="Arial" panose="020B0604020202020204"/>
                </a:rPr>
                <a:t> SETs()</a:t>
              </a:r>
              <a:endParaRPr lang="pt-BR" sz="1800" b="0" strike="noStrike" spc="-1">
                <a:latin typeface="Arial" panose="020B0604020202020204"/>
              </a:endParaRPr>
            </a:p>
          </p:txBody>
        </p:sp>
      </p:grpSp>
      <p:grpSp>
        <p:nvGrpSpPr>
          <p:cNvPr id="6" name="Group 7">
            <a:extLst>
              <a:ext uri="{FF2B5EF4-FFF2-40B4-BE49-F238E27FC236}">
                <a16:creationId xmlns:a16="http://schemas.microsoft.com/office/drawing/2014/main" id="{36B4A345-1CFD-F374-BAC1-642398755AE1}"/>
              </a:ext>
            </a:extLst>
          </p:cNvPr>
          <p:cNvGrpSpPr/>
          <p:nvPr/>
        </p:nvGrpSpPr>
        <p:grpSpPr>
          <a:xfrm>
            <a:off x="5661091" y="1017725"/>
            <a:ext cx="2751431" cy="1813698"/>
            <a:chOff x="5867280" y="1628640"/>
            <a:chExt cx="2952360" cy="2155320"/>
          </a:xfrm>
          <a:solidFill>
            <a:schemeClr val="bg1"/>
          </a:solidFill>
        </p:grpSpPr>
        <p:sp>
          <p:nvSpPr>
            <p:cNvPr id="7" name="CustomShape 8">
              <a:extLst>
                <a:ext uri="{FF2B5EF4-FFF2-40B4-BE49-F238E27FC236}">
                  <a16:creationId xmlns:a16="http://schemas.microsoft.com/office/drawing/2014/main" id="{59BFD3A9-188E-3316-092D-AD385E8DCE1D}"/>
                </a:ext>
              </a:extLst>
            </p:cNvPr>
            <p:cNvSpPr/>
            <p:nvPr/>
          </p:nvSpPr>
          <p:spPr>
            <a:xfrm>
              <a:off x="5867280" y="1628640"/>
              <a:ext cx="2952360" cy="390240"/>
            </a:xfrm>
            <a:prstGeom prst="rect">
              <a:avLst/>
            </a:prstGeom>
            <a:grpFill/>
            <a:ln w="25560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 algn="ctr">
                <a:lnSpc>
                  <a:spcPct val="100000"/>
                </a:lnSpc>
              </a:pPr>
              <a:r>
                <a:rPr lang="pt-BR" sz="1800" b="1" strike="noStrike" spc="-1">
                  <a:solidFill>
                    <a:srgbClr val="000000"/>
                  </a:solidFill>
                  <a:latin typeface="Arial" panose="020B0604020202020204"/>
                </a:rPr>
                <a:t>Funcionario</a:t>
              </a:r>
              <a:endParaRPr lang="pt-BR" sz="1800" b="0" strike="noStrike" spc="-1">
                <a:latin typeface="Arial" panose="020B0604020202020204"/>
              </a:endParaRPr>
            </a:p>
          </p:txBody>
        </p:sp>
        <p:sp>
          <p:nvSpPr>
            <p:cNvPr id="8" name="CustomShape 9">
              <a:extLst>
                <a:ext uri="{FF2B5EF4-FFF2-40B4-BE49-F238E27FC236}">
                  <a16:creationId xmlns:a16="http://schemas.microsoft.com/office/drawing/2014/main" id="{A2AA519D-7A62-C1DC-1B55-2A0EDFCEC792}"/>
                </a:ext>
              </a:extLst>
            </p:cNvPr>
            <p:cNvSpPr/>
            <p:nvPr/>
          </p:nvSpPr>
          <p:spPr>
            <a:xfrm>
              <a:off x="5867280" y="2019240"/>
              <a:ext cx="2952360" cy="758520"/>
            </a:xfrm>
            <a:prstGeom prst="rect">
              <a:avLst/>
            </a:prstGeom>
            <a:grpFill/>
            <a:ln w="25560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>
                <a:lnSpc>
                  <a:spcPct val="100000"/>
                </a:lnSpc>
              </a:pPr>
              <a:r>
                <a:rPr lang="pt-BR" sz="1800" b="1" strike="noStrike" spc="-1" dirty="0">
                  <a:solidFill>
                    <a:srgbClr val="000000"/>
                  </a:solidFill>
                  <a:latin typeface="Arial" panose="020B0604020202020204"/>
                </a:rPr>
                <a:t>-</a:t>
              </a:r>
              <a:r>
                <a:rPr lang="pt-BR" sz="1800" b="0" strike="noStrike" spc="-1" dirty="0">
                  <a:solidFill>
                    <a:srgbClr val="000000"/>
                  </a:solidFill>
                  <a:latin typeface="Arial" panose="020B0604020202020204"/>
                </a:rPr>
                <a:t> nome: </a:t>
              </a:r>
              <a:r>
                <a:rPr lang="pt-BR" sz="1800" b="0" strike="noStrike" spc="-1" dirty="0" err="1">
                  <a:solidFill>
                    <a:srgbClr val="000000"/>
                  </a:solidFill>
                  <a:latin typeface="Arial" panose="020B0604020202020204"/>
                </a:rPr>
                <a:t>String</a:t>
              </a:r>
              <a:endParaRPr lang="pt-BR" sz="1800" b="0" strike="noStrike" spc="-1" dirty="0">
                <a:latin typeface="Arial" panose="020B0604020202020204"/>
              </a:endParaRPr>
            </a:p>
            <a:p>
              <a:pPr>
                <a:lnSpc>
                  <a:spcPct val="100000"/>
                </a:lnSpc>
              </a:pPr>
              <a:r>
                <a:rPr lang="pt-BR" sz="1800" b="1" strike="noStrike" spc="-1" dirty="0">
                  <a:solidFill>
                    <a:srgbClr val="000000"/>
                  </a:solidFill>
                  <a:latin typeface="Arial" panose="020B0604020202020204"/>
                </a:rPr>
                <a:t>-</a:t>
              </a:r>
              <a:r>
                <a:rPr lang="pt-BR" sz="1800" b="0" strike="noStrike" spc="-1" dirty="0">
                  <a:solidFill>
                    <a:srgbClr val="000000"/>
                  </a:solidFill>
                  <a:latin typeface="Arial" panose="020B0604020202020204"/>
                </a:rPr>
                <a:t> salario: Double</a:t>
              </a:r>
              <a:endParaRPr lang="pt-BR" sz="1800" b="0" strike="noStrike" spc="-1" dirty="0">
                <a:latin typeface="Arial" panose="020B0604020202020204"/>
              </a:endParaRPr>
            </a:p>
          </p:txBody>
        </p:sp>
        <p:sp>
          <p:nvSpPr>
            <p:cNvPr id="9" name="CustomShape 10">
              <a:extLst>
                <a:ext uri="{FF2B5EF4-FFF2-40B4-BE49-F238E27FC236}">
                  <a16:creationId xmlns:a16="http://schemas.microsoft.com/office/drawing/2014/main" id="{C43748C1-8F24-C4A1-F54B-AB205AAB8C60}"/>
                </a:ext>
              </a:extLst>
            </p:cNvPr>
            <p:cNvSpPr/>
            <p:nvPr/>
          </p:nvSpPr>
          <p:spPr>
            <a:xfrm>
              <a:off x="5867280" y="2763720"/>
              <a:ext cx="2952360" cy="1020240"/>
            </a:xfrm>
            <a:prstGeom prst="rect">
              <a:avLst/>
            </a:prstGeom>
            <a:grpFill/>
            <a:ln w="25560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>
                <a:lnSpc>
                  <a:spcPct val="100000"/>
                </a:lnSpc>
              </a:pPr>
              <a:r>
                <a:rPr lang="pt-BR" sz="1800" b="1" strike="noStrike" spc="-1" dirty="0">
                  <a:solidFill>
                    <a:srgbClr val="000000"/>
                  </a:solidFill>
                  <a:latin typeface="Arial" panose="020B0604020202020204"/>
                </a:rPr>
                <a:t>+ </a:t>
              </a:r>
              <a:r>
                <a:rPr lang="pt-BR" sz="1800" b="0" strike="noStrike" spc="-1" dirty="0" err="1">
                  <a:solidFill>
                    <a:srgbClr val="000000"/>
                  </a:solidFill>
                  <a:latin typeface="Arial" panose="020B0604020202020204"/>
                </a:rPr>
                <a:t>Funcionario</a:t>
              </a:r>
              <a:r>
                <a:rPr lang="pt-BR" sz="1800" b="0" strike="noStrike" spc="-1" dirty="0">
                  <a:solidFill>
                    <a:srgbClr val="000000"/>
                  </a:solidFill>
                  <a:latin typeface="Arial" panose="020B0604020202020204"/>
                </a:rPr>
                <a:t>()</a:t>
              </a:r>
              <a:endParaRPr lang="pt-BR" sz="1800" b="0" strike="noStrike" spc="-1" dirty="0">
                <a:latin typeface="Arial" panose="020B0604020202020204"/>
              </a:endParaRPr>
            </a:p>
            <a:p>
              <a:pPr>
                <a:lnSpc>
                  <a:spcPct val="100000"/>
                </a:lnSpc>
              </a:pPr>
              <a:r>
                <a:rPr lang="pt-BR" sz="1800" b="1" strike="noStrike" spc="-1" dirty="0">
                  <a:solidFill>
                    <a:srgbClr val="000000"/>
                  </a:solidFill>
                  <a:latin typeface="Arial" panose="020B0604020202020204"/>
                </a:rPr>
                <a:t>+</a:t>
              </a:r>
              <a:r>
                <a:rPr lang="pt-BR" sz="1800" b="0" strike="noStrike" spc="-1" dirty="0">
                  <a:solidFill>
                    <a:srgbClr val="000000"/>
                  </a:solidFill>
                  <a:latin typeface="Arial" panose="020B0604020202020204"/>
                </a:rPr>
                <a:t> </a:t>
              </a:r>
              <a:r>
                <a:rPr lang="pt-BR" sz="1800" b="0" strike="noStrike" spc="-1" dirty="0" err="1">
                  <a:solidFill>
                    <a:srgbClr val="000000"/>
                  </a:solidFill>
                  <a:latin typeface="Arial" panose="020B0604020202020204"/>
                </a:rPr>
                <a:t>GETs</a:t>
              </a:r>
              <a:r>
                <a:rPr lang="pt-BR" sz="1800" b="0" strike="noStrike" spc="-1" dirty="0">
                  <a:solidFill>
                    <a:srgbClr val="000000"/>
                  </a:solidFill>
                  <a:latin typeface="Arial" panose="020B0604020202020204"/>
                </a:rPr>
                <a:t>()</a:t>
              </a:r>
              <a:endParaRPr lang="pt-BR" sz="1800" b="0" strike="noStrike" spc="-1" dirty="0">
                <a:latin typeface="Arial" panose="020B0604020202020204"/>
              </a:endParaRPr>
            </a:p>
            <a:p>
              <a:pPr>
                <a:lnSpc>
                  <a:spcPct val="100000"/>
                </a:lnSpc>
              </a:pPr>
              <a:r>
                <a:rPr lang="pt-BR" sz="1800" b="1" strike="noStrike" spc="-1" dirty="0">
                  <a:solidFill>
                    <a:srgbClr val="000000"/>
                  </a:solidFill>
                  <a:latin typeface="Arial" panose="020B0604020202020204"/>
                </a:rPr>
                <a:t>+</a:t>
              </a:r>
              <a:r>
                <a:rPr lang="pt-BR" sz="1800" b="0" strike="noStrike" spc="-1" dirty="0">
                  <a:solidFill>
                    <a:srgbClr val="000000"/>
                  </a:solidFill>
                  <a:latin typeface="Arial" panose="020B0604020202020204"/>
                </a:rPr>
                <a:t> </a:t>
              </a:r>
              <a:r>
                <a:rPr lang="pt-BR" sz="1800" b="0" strike="noStrike" spc="-1" dirty="0" err="1">
                  <a:solidFill>
                    <a:srgbClr val="000000"/>
                  </a:solidFill>
                  <a:latin typeface="Arial" panose="020B0604020202020204"/>
                </a:rPr>
                <a:t>SETs</a:t>
              </a:r>
              <a:r>
                <a:rPr lang="pt-BR" sz="1800" b="0" strike="noStrike" spc="-1" dirty="0">
                  <a:solidFill>
                    <a:srgbClr val="000000"/>
                  </a:solidFill>
                  <a:latin typeface="Arial" panose="020B0604020202020204"/>
                </a:rPr>
                <a:t>()</a:t>
              </a:r>
              <a:endParaRPr lang="pt-BR" sz="1800" b="0" strike="noStrike" spc="-1" dirty="0">
                <a:latin typeface="Arial" panose="020B0604020202020204"/>
              </a:endParaRPr>
            </a:p>
          </p:txBody>
        </p:sp>
      </p:grpSp>
      <p:grpSp>
        <p:nvGrpSpPr>
          <p:cNvPr id="10" name="Group 11">
            <a:extLst>
              <a:ext uri="{FF2B5EF4-FFF2-40B4-BE49-F238E27FC236}">
                <a16:creationId xmlns:a16="http://schemas.microsoft.com/office/drawing/2014/main" id="{2EB862CF-AACA-4C3B-25EB-9C1139C1250C}"/>
              </a:ext>
            </a:extLst>
          </p:cNvPr>
          <p:cNvGrpSpPr/>
          <p:nvPr/>
        </p:nvGrpSpPr>
        <p:grpSpPr>
          <a:xfrm>
            <a:off x="405092" y="2941769"/>
            <a:ext cx="2819538" cy="1871305"/>
            <a:chOff x="611280" y="4292640"/>
            <a:chExt cx="3025440" cy="2144520"/>
          </a:xfrm>
          <a:solidFill>
            <a:schemeClr val="bg1"/>
          </a:solidFill>
        </p:grpSpPr>
        <p:sp>
          <p:nvSpPr>
            <p:cNvPr id="11" name="CustomShape 12">
              <a:extLst>
                <a:ext uri="{FF2B5EF4-FFF2-40B4-BE49-F238E27FC236}">
                  <a16:creationId xmlns:a16="http://schemas.microsoft.com/office/drawing/2014/main" id="{6B71944E-1877-2DD7-EA99-5FC617C6F71E}"/>
                </a:ext>
              </a:extLst>
            </p:cNvPr>
            <p:cNvSpPr/>
            <p:nvPr/>
          </p:nvSpPr>
          <p:spPr>
            <a:xfrm>
              <a:off x="611280" y="4292640"/>
              <a:ext cx="3025440" cy="390240"/>
            </a:xfrm>
            <a:prstGeom prst="rect">
              <a:avLst/>
            </a:prstGeom>
            <a:grpFill/>
            <a:ln w="25560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 algn="ctr">
                <a:lnSpc>
                  <a:spcPct val="100000"/>
                </a:lnSpc>
              </a:pPr>
              <a:r>
                <a:rPr lang="pt-BR" sz="1800" b="1" strike="noStrike" spc="-1">
                  <a:solidFill>
                    <a:srgbClr val="000000"/>
                  </a:solidFill>
                  <a:latin typeface="Arial" panose="020B0604020202020204"/>
                </a:rPr>
                <a:t>Departamento</a:t>
              </a:r>
              <a:endParaRPr lang="pt-BR" sz="1800" b="0" strike="noStrike" spc="-1">
                <a:latin typeface="Arial" panose="020B0604020202020204"/>
              </a:endParaRPr>
            </a:p>
          </p:txBody>
        </p:sp>
        <p:sp>
          <p:nvSpPr>
            <p:cNvPr id="12" name="CustomShape 13">
              <a:extLst>
                <a:ext uri="{FF2B5EF4-FFF2-40B4-BE49-F238E27FC236}">
                  <a16:creationId xmlns:a16="http://schemas.microsoft.com/office/drawing/2014/main" id="{63FC9B2A-F3FC-53CE-179C-17140DDBC699}"/>
                </a:ext>
              </a:extLst>
            </p:cNvPr>
            <p:cNvSpPr/>
            <p:nvPr/>
          </p:nvSpPr>
          <p:spPr>
            <a:xfrm>
              <a:off x="611280" y="4683240"/>
              <a:ext cx="3025440" cy="752040"/>
            </a:xfrm>
            <a:prstGeom prst="rect">
              <a:avLst/>
            </a:prstGeom>
            <a:grpFill/>
            <a:ln w="25560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>
                <a:lnSpc>
                  <a:spcPct val="100000"/>
                </a:lnSpc>
              </a:pPr>
              <a:r>
                <a:rPr lang="pt-BR" sz="1800" b="1" strike="noStrike" spc="-1" dirty="0">
                  <a:solidFill>
                    <a:srgbClr val="000000"/>
                  </a:solidFill>
                  <a:latin typeface="Arial" panose="020B0604020202020204"/>
                </a:rPr>
                <a:t>-</a:t>
              </a:r>
              <a:r>
                <a:rPr lang="pt-BR" sz="1800" b="0" strike="noStrike" spc="-1" dirty="0">
                  <a:solidFill>
                    <a:srgbClr val="000000"/>
                  </a:solidFill>
                  <a:latin typeface="Arial" panose="020B0604020202020204"/>
                </a:rPr>
                <a:t> </a:t>
              </a:r>
              <a:r>
                <a:rPr lang="pt-BR" sz="1800" b="0" strike="noStrike" spc="-1" dirty="0" err="1">
                  <a:solidFill>
                    <a:srgbClr val="000000"/>
                  </a:solidFill>
                  <a:latin typeface="Arial" panose="020B0604020202020204"/>
                </a:rPr>
                <a:t>descricao</a:t>
              </a:r>
              <a:r>
                <a:rPr lang="pt-BR" sz="1800" b="0" strike="noStrike" spc="-1" dirty="0">
                  <a:solidFill>
                    <a:srgbClr val="000000"/>
                  </a:solidFill>
                  <a:latin typeface="Arial" panose="020B0604020202020204"/>
                </a:rPr>
                <a:t>: </a:t>
              </a:r>
              <a:r>
                <a:rPr lang="pt-BR" sz="1800" b="0" strike="noStrike" spc="-1" dirty="0" err="1">
                  <a:solidFill>
                    <a:srgbClr val="000000"/>
                  </a:solidFill>
                  <a:latin typeface="Arial" panose="020B0604020202020204"/>
                </a:rPr>
                <a:t>String</a:t>
              </a:r>
              <a:endParaRPr lang="pt-BR" sz="1800" b="0" strike="noStrike" spc="-1" dirty="0">
                <a:latin typeface="Arial" panose="020B0604020202020204"/>
              </a:endParaRPr>
            </a:p>
            <a:p>
              <a:pPr>
                <a:lnSpc>
                  <a:spcPct val="100000"/>
                </a:lnSpc>
              </a:pPr>
              <a:r>
                <a:rPr lang="pt-BR" sz="1800" b="1" strike="noStrike" spc="-1" dirty="0">
                  <a:solidFill>
                    <a:srgbClr val="FF0000"/>
                  </a:solidFill>
                  <a:latin typeface="Arial" panose="020B0604020202020204"/>
                </a:rPr>
                <a:t>- </a:t>
              </a:r>
              <a:r>
                <a:rPr lang="pt-BR" sz="1800" b="1" strike="noStrike" spc="-1" dirty="0" err="1">
                  <a:solidFill>
                    <a:srgbClr val="FF0000"/>
                  </a:solidFill>
                  <a:latin typeface="Arial" panose="020B0604020202020204"/>
                </a:rPr>
                <a:t>func</a:t>
              </a:r>
              <a:r>
                <a:rPr lang="pt-BR" sz="1800" b="1" strike="noStrike" spc="-1" dirty="0">
                  <a:solidFill>
                    <a:srgbClr val="FF0000"/>
                  </a:solidFill>
                  <a:latin typeface="Arial" panose="020B0604020202020204"/>
                </a:rPr>
                <a:t>[]: </a:t>
              </a:r>
              <a:r>
                <a:rPr lang="pt-BR" sz="1800" b="1" strike="noStrike" spc="-1" dirty="0" err="1">
                  <a:solidFill>
                    <a:srgbClr val="FF0000"/>
                  </a:solidFill>
                  <a:latin typeface="Arial" panose="020B0604020202020204"/>
                </a:rPr>
                <a:t>Funcionario</a:t>
              </a:r>
              <a:r>
                <a:rPr lang="pt-BR" sz="1800" b="1" strike="noStrike" spc="-1" dirty="0">
                  <a:solidFill>
                    <a:srgbClr val="FF0000"/>
                  </a:solidFill>
                  <a:latin typeface="Arial" panose="020B0604020202020204"/>
                </a:rPr>
                <a:t>[5]</a:t>
              </a:r>
              <a:endParaRPr lang="pt-BR" sz="1800" b="0" strike="noStrike" spc="-1" dirty="0">
                <a:latin typeface="Arial" panose="020B0604020202020204"/>
              </a:endParaRPr>
            </a:p>
          </p:txBody>
        </p:sp>
        <p:sp>
          <p:nvSpPr>
            <p:cNvPr id="13" name="CustomShape 14">
              <a:extLst>
                <a:ext uri="{FF2B5EF4-FFF2-40B4-BE49-F238E27FC236}">
                  <a16:creationId xmlns:a16="http://schemas.microsoft.com/office/drawing/2014/main" id="{3BD7D772-A980-EAED-9D34-7FCCF3DC90EB}"/>
                </a:ext>
              </a:extLst>
            </p:cNvPr>
            <p:cNvSpPr/>
            <p:nvPr/>
          </p:nvSpPr>
          <p:spPr>
            <a:xfrm>
              <a:off x="611280" y="5411880"/>
              <a:ext cx="3025440" cy="1025280"/>
            </a:xfrm>
            <a:prstGeom prst="rect">
              <a:avLst/>
            </a:prstGeom>
            <a:grpFill/>
            <a:ln w="25560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>
                <a:lnSpc>
                  <a:spcPct val="100000"/>
                </a:lnSpc>
              </a:pPr>
              <a:r>
                <a:rPr lang="pt-BR" sz="1800" b="1" strike="noStrike" spc="-1">
                  <a:solidFill>
                    <a:srgbClr val="000000"/>
                  </a:solidFill>
                  <a:latin typeface="Arial" panose="020B0604020202020204"/>
                </a:rPr>
                <a:t>+ </a:t>
              </a:r>
              <a:r>
                <a:rPr lang="pt-BR" sz="1800" b="0" strike="noStrike" spc="-1">
                  <a:solidFill>
                    <a:srgbClr val="000000"/>
                  </a:solidFill>
                  <a:latin typeface="Arial" panose="020B0604020202020204"/>
                </a:rPr>
                <a:t>Departamento()</a:t>
              </a:r>
              <a:endParaRPr lang="pt-BR" sz="1800" b="0" strike="noStrike" spc="-1">
                <a:latin typeface="Arial" panose="020B0604020202020204"/>
              </a:endParaRPr>
            </a:p>
            <a:p>
              <a:pPr>
                <a:lnSpc>
                  <a:spcPct val="100000"/>
                </a:lnSpc>
              </a:pPr>
              <a:r>
                <a:rPr lang="pt-BR" sz="1800" b="1" strike="noStrike" spc="-1">
                  <a:solidFill>
                    <a:srgbClr val="000000"/>
                  </a:solidFill>
                  <a:latin typeface="Arial" panose="020B0604020202020204"/>
                </a:rPr>
                <a:t>+</a:t>
              </a:r>
              <a:r>
                <a:rPr lang="pt-BR" sz="1800" b="0" strike="noStrike" spc="-1">
                  <a:solidFill>
                    <a:srgbClr val="000000"/>
                  </a:solidFill>
                  <a:latin typeface="Arial" panose="020B0604020202020204"/>
                </a:rPr>
                <a:t> GETs()</a:t>
              </a:r>
              <a:endParaRPr lang="pt-BR" sz="1800" b="0" strike="noStrike" spc="-1">
                <a:latin typeface="Arial" panose="020B0604020202020204"/>
              </a:endParaRPr>
            </a:p>
            <a:p>
              <a:pPr>
                <a:lnSpc>
                  <a:spcPct val="100000"/>
                </a:lnSpc>
              </a:pPr>
              <a:r>
                <a:rPr lang="pt-BR" sz="1800" b="1" strike="noStrike" spc="-1">
                  <a:solidFill>
                    <a:srgbClr val="000000"/>
                  </a:solidFill>
                  <a:latin typeface="Arial" panose="020B0604020202020204"/>
                </a:rPr>
                <a:t>+</a:t>
              </a:r>
              <a:r>
                <a:rPr lang="pt-BR" sz="1800" b="0" strike="noStrike" spc="-1">
                  <a:solidFill>
                    <a:srgbClr val="000000"/>
                  </a:solidFill>
                  <a:latin typeface="Arial" panose="020B0604020202020204"/>
                </a:rPr>
                <a:t> SETs()</a:t>
              </a:r>
              <a:endParaRPr lang="pt-BR" sz="1800" b="0" strike="noStrike" spc="-1">
                <a:latin typeface="Arial" panose="020B0604020202020204"/>
              </a:endParaRPr>
            </a:p>
          </p:txBody>
        </p:sp>
      </p:grpSp>
      <p:grpSp>
        <p:nvGrpSpPr>
          <p:cNvPr id="14" name="Group 15">
            <a:extLst>
              <a:ext uri="{FF2B5EF4-FFF2-40B4-BE49-F238E27FC236}">
                <a16:creationId xmlns:a16="http://schemas.microsoft.com/office/drawing/2014/main" id="{F7110D6A-CC29-AAC6-6D57-E76EA45BC17B}"/>
              </a:ext>
            </a:extLst>
          </p:cNvPr>
          <p:cNvGrpSpPr/>
          <p:nvPr/>
        </p:nvGrpSpPr>
        <p:grpSpPr>
          <a:xfrm>
            <a:off x="5653026" y="2941769"/>
            <a:ext cx="2751431" cy="2087431"/>
            <a:chOff x="5867280" y="4294080"/>
            <a:chExt cx="2952360" cy="2392200"/>
          </a:xfrm>
          <a:solidFill>
            <a:schemeClr val="bg1"/>
          </a:solidFill>
        </p:grpSpPr>
        <p:sp>
          <p:nvSpPr>
            <p:cNvPr id="15" name="CustomShape 16">
              <a:extLst>
                <a:ext uri="{FF2B5EF4-FFF2-40B4-BE49-F238E27FC236}">
                  <a16:creationId xmlns:a16="http://schemas.microsoft.com/office/drawing/2014/main" id="{22185DC6-C321-3EA8-73A7-B211FCD7B51A}"/>
                </a:ext>
              </a:extLst>
            </p:cNvPr>
            <p:cNvSpPr/>
            <p:nvPr/>
          </p:nvSpPr>
          <p:spPr>
            <a:xfrm>
              <a:off x="5867280" y="4294080"/>
              <a:ext cx="2952360" cy="390240"/>
            </a:xfrm>
            <a:prstGeom prst="rect">
              <a:avLst/>
            </a:prstGeom>
            <a:grpFill/>
            <a:ln w="25560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 algn="ctr">
                <a:lnSpc>
                  <a:spcPct val="100000"/>
                </a:lnSpc>
              </a:pPr>
              <a:r>
                <a:rPr lang="pt-BR" sz="1800" b="1" strike="noStrike" spc="-1" dirty="0" err="1">
                  <a:solidFill>
                    <a:srgbClr val="000000"/>
                  </a:solidFill>
                  <a:latin typeface="Arial" panose="020B0604020202020204"/>
                </a:rPr>
                <a:t>Funcionario</a:t>
              </a:r>
              <a:endParaRPr lang="pt-BR" sz="1800" b="0" strike="noStrike" spc="-1" dirty="0">
                <a:latin typeface="Arial" panose="020B0604020202020204"/>
              </a:endParaRPr>
            </a:p>
          </p:txBody>
        </p:sp>
        <p:sp>
          <p:nvSpPr>
            <p:cNvPr id="16" name="CustomShape 17">
              <a:extLst>
                <a:ext uri="{FF2B5EF4-FFF2-40B4-BE49-F238E27FC236}">
                  <a16:creationId xmlns:a16="http://schemas.microsoft.com/office/drawing/2014/main" id="{17F143C8-F413-C445-1396-A42012597707}"/>
                </a:ext>
              </a:extLst>
            </p:cNvPr>
            <p:cNvSpPr/>
            <p:nvPr/>
          </p:nvSpPr>
          <p:spPr>
            <a:xfrm>
              <a:off x="5867280" y="4684680"/>
              <a:ext cx="2952360" cy="1022040"/>
            </a:xfrm>
            <a:prstGeom prst="rect">
              <a:avLst/>
            </a:prstGeom>
            <a:grpFill/>
            <a:ln w="25560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>
                <a:lnSpc>
                  <a:spcPct val="100000"/>
                </a:lnSpc>
              </a:pPr>
              <a:r>
                <a:rPr lang="pt-BR" sz="1800" b="1" strike="noStrike" spc="-1" dirty="0">
                  <a:solidFill>
                    <a:srgbClr val="000000"/>
                  </a:solidFill>
                  <a:latin typeface="Arial" panose="020B0604020202020204"/>
                </a:rPr>
                <a:t>-</a:t>
              </a:r>
              <a:r>
                <a:rPr lang="pt-BR" sz="1800" b="0" strike="noStrike" spc="-1" dirty="0">
                  <a:solidFill>
                    <a:srgbClr val="000000"/>
                  </a:solidFill>
                  <a:latin typeface="Arial" panose="020B0604020202020204"/>
                </a:rPr>
                <a:t> nome: </a:t>
              </a:r>
              <a:r>
                <a:rPr lang="pt-BR" sz="1800" b="0" strike="noStrike" spc="-1" dirty="0" err="1">
                  <a:solidFill>
                    <a:srgbClr val="000000"/>
                  </a:solidFill>
                  <a:latin typeface="Arial" panose="020B0604020202020204"/>
                </a:rPr>
                <a:t>String</a:t>
              </a:r>
              <a:endParaRPr lang="pt-BR" sz="1800" b="0" strike="noStrike" spc="-1" dirty="0">
                <a:latin typeface="Arial" panose="020B0604020202020204"/>
              </a:endParaRPr>
            </a:p>
            <a:p>
              <a:pPr>
                <a:lnSpc>
                  <a:spcPct val="100000"/>
                </a:lnSpc>
              </a:pPr>
              <a:r>
                <a:rPr lang="pt-BR" sz="1800" b="1" strike="noStrike" spc="-1" dirty="0">
                  <a:solidFill>
                    <a:srgbClr val="000000"/>
                  </a:solidFill>
                  <a:latin typeface="Arial" panose="020B0604020202020204"/>
                </a:rPr>
                <a:t>-</a:t>
              </a:r>
              <a:r>
                <a:rPr lang="pt-BR" sz="1800" b="0" strike="noStrike" spc="-1" dirty="0">
                  <a:solidFill>
                    <a:srgbClr val="000000"/>
                  </a:solidFill>
                  <a:latin typeface="Arial" panose="020B0604020202020204"/>
                </a:rPr>
                <a:t> salario: Double</a:t>
              </a:r>
              <a:endParaRPr lang="pt-BR" sz="1800" b="0" strike="noStrike" spc="-1" dirty="0">
                <a:latin typeface="Arial" panose="020B0604020202020204"/>
              </a:endParaRPr>
            </a:p>
            <a:p>
              <a:pPr>
                <a:lnSpc>
                  <a:spcPct val="100000"/>
                </a:lnSpc>
              </a:pPr>
              <a:r>
                <a:rPr lang="pt-BR" sz="1800" b="1" strike="noStrike" spc="-1" dirty="0">
                  <a:solidFill>
                    <a:srgbClr val="FF0000"/>
                  </a:solidFill>
                  <a:latin typeface="Arial" panose="020B0604020202020204"/>
                </a:rPr>
                <a:t>- </a:t>
              </a:r>
              <a:r>
                <a:rPr lang="pt-BR" sz="1800" b="1" strike="noStrike" spc="-1" dirty="0" err="1">
                  <a:solidFill>
                    <a:srgbClr val="FF0000"/>
                  </a:solidFill>
                  <a:latin typeface="Arial" panose="020B0604020202020204"/>
                </a:rPr>
                <a:t>dep</a:t>
              </a:r>
              <a:r>
                <a:rPr lang="pt-BR" sz="1800" b="1" strike="noStrike" spc="-1" dirty="0">
                  <a:solidFill>
                    <a:srgbClr val="FF0000"/>
                  </a:solidFill>
                  <a:latin typeface="Arial" panose="020B0604020202020204"/>
                </a:rPr>
                <a:t>: Departamento</a:t>
              </a:r>
              <a:endParaRPr lang="pt-BR" sz="1800" b="0" strike="noStrike" spc="-1" dirty="0">
                <a:latin typeface="Arial" panose="020B0604020202020204"/>
              </a:endParaRPr>
            </a:p>
          </p:txBody>
        </p:sp>
        <p:sp>
          <p:nvSpPr>
            <p:cNvPr id="17" name="CustomShape 18">
              <a:extLst>
                <a:ext uri="{FF2B5EF4-FFF2-40B4-BE49-F238E27FC236}">
                  <a16:creationId xmlns:a16="http://schemas.microsoft.com/office/drawing/2014/main" id="{A83B597F-800A-93A7-1645-D37B41B4F322}"/>
                </a:ext>
              </a:extLst>
            </p:cNvPr>
            <p:cNvSpPr/>
            <p:nvPr/>
          </p:nvSpPr>
          <p:spPr>
            <a:xfrm>
              <a:off x="5867280" y="5703840"/>
              <a:ext cx="2952360" cy="982440"/>
            </a:xfrm>
            <a:prstGeom prst="rect">
              <a:avLst/>
            </a:prstGeom>
            <a:grpFill/>
            <a:ln w="25560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>
                <a:lnSpc>
                  <a:spcPct val="100000"/>
                </a:lnSpc>
              </a:pPr>
              <a:r>
                <a:rPr lang="pt-BR" sz="1800" b="1" strike="noStrike" spc="-1" dirty="0">
                  <a:solidFill>
                    <a:srgbClr val="000000"/>
                  </a:solidFill>
                  <a:latin typeface="Arial" panose="020B0604020202020204"/>
                </a:rPr>
                <a:t>+ </a:t>
              </a:r>
              <a:r>
                <a:rPr lang="pt-BR" sz="1800" b="0" strike="noStrike" spc="-1" dirty="0" err="1">
                  <a:solidFill>
                    <a:srgbClr val="000000"/>
                  </a:solidFill>
                  <a:latin typeface="Arial" panose="020B0604020202020204"/>
                </a:rPr>
                <a:t>Funcionario</a:t>
              </a:r>
              <a:r>
                <a:rPr lang="pt-BR" sz="1800" b="0" strike="noStrike" spc="-1" dirty="0">
                  <a:solidFill>
                    <a:srgbClr val="000000"/>
                  </a:solidFill>
                  <a:latin typeface="Arial" panose="020B0604020202020204"/>
                </a:rPr>
                <a:t>()</a:t>
              </a:r>
              <a:endParaRPr lang="pt-BR" sz="1800" b="0" strike="noStrike" spc="-1" dirty="0">
                <a:latin typeface="Arial" panose="020B0604020202020204"/>
              </a:endParaRPr>
            </a:p>
            <a:p>
              <a:pPr>
                <a:lnSpc>
                  <a:spcPct val="100000"/>
                </a:lnSpc>
              </a:pPr>
              <a:r>
                <a:rPr lang="pt-BR" sz="1800" b="1" strike="noStrike" spc="-1" dirty="0">
                  <a:solidFill>
                    <a:srgbClr val="000000"/>
                  </a:solidFill>
                  <a:latin typeface="Arial" panose="020B0604020202020204"/>
                </a:rPr>
                <a:t>+</a:t>
              </a:r>
              <a:r>
                <a:rPr lang="pt-BR" sz="1800" b="0" strike="noStrike" spc="-1" dirty="0">
                  <a:solidFill>
                    <a:srgbClr val="000000"/>
                  </a:solidFill>
                  <a:latin typeface="Arial" panose="020B0604020202020204"/>
                </a:rPr>
                <a:t> </a:t>
              </a:r>
              <a:r>
                <a:rPr lang="pt-BR" sz="1800" b="0" strike="noStrike" spc="-1" dirty="0" err="1">
                  <a:solidFill>
                    <a:srgbClr val="000000"/>
                  </a:solidFill>
                  <a:latin typeface="Arial" panose="020B0604020202020204"/>
                </a:rPr>
                <a:t>GETs</a:t>
              </a:r>
              <a:r>
                <a:rPr lang="pt-BR" sz="1800" b="0" strike="noStrike" spc="-1" dirty="0">
                  <a:solidFill>
                    <a:srgbClr val="000000"/>
                  </a:solidFill>
                  <a:latin typeface="Arial" panose="020B0604020202020204"/>
                </a:rPr>
                <a:t>()</a:t>
              </a:r>
              <a:endParaRPr lang="pt-BR" sz="1800" b="0" strike="noStrike" spc="-1" dirty="0">
                <a:latin typeface="Arial" panose="020B0604020202020204"/>
              </a:endParaRPr>
            </a:p>
            <a:p>
              <a:pPr>
                <a:lnSpc>
                  <a:spcPct val="100000"/>
                </a:lnSpc>
              </a:pPr>
              <a:r>
                <a:rPr lang="pt-BR" sz="1800" b="1" strike="noStrike" spc="-1" dirty="0">
                  <a:solidFill>
                    <a:srgbClr val="000000"/>
                  </a:solidFill>
                  <a:latin typeface="Arial" panose="020B0604020202020204"/>
                </a:rPr>
                <a:t>+</a:t>
              </a:r>
              <a:r>
                <a:rPr lang="pt-BR" sz="1800" b="0" strike="noStrike" spc="-1" dirty="0">
                  <a:solidFill>
                    <a:srgbClr val="000000"/>
                  </a:solidFill>
                  <a:latin typeface="Arial" panose="020B0604020202020204"/>
                </a:rPr>
                <a:t> </a:t>
              </a:r>
              <a:r>
                <a:rPr lang="pt-BR" sz="1800" b="0" strike="noStrike" spc="-1" dirty="0" err="1">
                  <a:solidFill>
                    <a:srgbClr val="000000"/>
                  </a:solidFill>
                  <a:latin typeface="Arial" panose="020B0604020202020204"/>
                </a:rPr>
                <a:t>SETs</a:t>
              </a:r>
              <a:r>
                <a:rPr lang="pt-BR" sz="1800" b="0" strike="noStrike" spc="-1" dirty="0">
                  <a:solidFill>
                    <a:srgbClr val="000000"/>
                  </a:solidFill>
                  <a:latin typeface="Arial" panose="020B0604020202020204"/>
                </a:rPr>
                <a:t>()</a:t>
              </a:r>
              <a:endParaRPr lang="pt-BR" sz="1800" b="0" strike="noStrike" spc="-1" dirty="0">
                <a:latin typeface="Arial" panose="020B0604020202020204"/>
              </a:endParaRPr>
            </a:p>
          </p:txBody>
        </p:sp>
      </p:grpSp>
      <p:sp>
        <p:nvSpPr>
          <p:cNvPr id="18" name="CustomShape 21">
            <a:extLst>
              <a:ext uri="{FF2B5EF4-FFF2-40B4-BE49-F238E27FC236}">
                <a16:creationId xmlns:a16="http://schemas.microsoft.com/office/drawing/2014/main" id="{6D68AD7A-22BE-21BB-48C1-0C376E55DF53}"/>
              </a:ext>
            </a:extLst>
          </p:cNvPr>
          <p:cNvSpPr/>
          <p:nvPr/>
        </p:nvSpPr>
        <p:spPr>
          <a:xfrm>
            <a:off x="3450009" y="4517979"/>
            <a:ext cx="1977638" cy="36099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1800" b="1" strike="noStrike" spc="-1" dirty="0">
                <a:solidFill>
                  <a:srgbClr val="0000CC"/>
                </a:solidFill>
                <a:latin typeface="Arial" panose="020B0604020202020204"/>
              </a:rPr>
              <a:t>Representação 2</a:t>
            </a:r>
            <a:endParaRPr lang="pt-BR" sz="1800" b="0" strike="noStrike" spc="-1" dirty="0">
              <a:latin typeface="Arial" panose="020B0604020202020204"/>
            </a:endParaRPr>
          </a:p>
        </p:txBody>
      </p:sp>
      <p:sp>
        <p:nvSpPr>
          <p:cNvPr id="19" name="Line 22">
            <a:extLst>
              <a:ext uri="{FF2B5EF4-FFF2-40B4-BE49-F238E27FC236}">
                <a16:creationId xmlns:a16="http://schemas.microsoft.com/office/drawing/2014/main" id="{0B6ECB35-285A-D3FD-91DB-A174182DB26A}"/>
              </a:ext>
            </a:extLst>
          </p:cNvPr>
          <p:cNvSpPr/>
          <p:nvPr/>
        </p:nvSpPr>
        <p:spPr>
          <a:xfrm flipH="1">
            <a:off x="3232695" y="1678325"/>
            <a:ext cx="2428396" cy="0"/>
          </a:xfrm>
          <a:prstGeom prst="line">
            <a:avLst/>
          </a:prstGeom>
          <a:ln w="3492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20" name="CustomShape 23">
            <a:extLst>
              <a:ext uri="{FF2B5EF4-FFF2-40B4-BE49-F238E27FC236}">
                <a16:creationId xmlns:a16="http://schemas.microsoft.com/office/drawing/2014/main" id="{702B157E-D99C-9C74-0843-55580365A57A}"/>
              </a:ext>
            </a:extLst>
          </p:cNvPr>
          <p:cNvSpPr/>
          <p:nvPr/>
        </p:nvSpPr>
        <p:spPr>
          <a:xfrm>
            <a:off x="3429091" y="1687685"/>
            <a:ext cx="567573" cy="33034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1600" b="1" strike="noStrike" spc="-1">
                <a:solidFill>
                  <a:srgbClr val="FF0000"/>
                </a:solidFill>
                <a:latin typeface="Arial" panose="020B0604020202020204"/>
              </a:rPr>
              <a:t>0..1</a:t>
            </a:r>
            <a:endParaRPr lang="pt-BR" sz="1600" b="0" strike="noStrike" spc="-1">
              <a:latin typeface="Arial" panose="020B0604020202020204"/>
            </a:endParaRPr>
          </a:p>
        </p:txBody>
      </p:sp>
      <p:sp>
        <p:nvSpPr>
          <p:cNvPr id="21" name="CustomShape 24">
            <a:extLst>
              <a:ext uri="{FF2B5EF4-FFF2-40B4-BE49-F238E27FC236}">
                <a16:creationId xmlns:a16="http://schemas.microsoft.com/office/drawing/2014/main" id="{0E1538B2-5F30-B339-7B02-245557A7CF7A}"/>
              </a:ext>
            </a:extLst>
          </p:cNvPr>
          <p:cNvSpPr/>
          <p:nvPr/>
        </p:nvSpPr>
        <p:spPr>
          <a:xfrm>
            <a:off x="5020235" y="1678325"/>
            <a:ext cx="632791" cy="33034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1600" b="1" strike="noStrike" spc="-1" dirty="0">
                <a:solidFill>
                  <a:srgbClr val="FF0000"/>
                </a:solidFill>
                <a:latin typeface="Arial" panose="020B0604020202020204"/>
              </a:rPr>
              <a:t>0..5</a:t>
            </a:r>
            <a:endParaRPr lang="pt-BR" sz="1600" b="0" strike="noStrike" spc="-1" dirty="0">
              <a:latin typeface="Arial" panose="020B0604020202020204"/>
            </a:endParaRPr>
          </a:p>
        </p:txBody>
      </p:sp>
      <p:sp>
        <p:nvSpPr>
          <p:cNvPr id="22" name="CustomShape 25">
            <a:extLst>
              <a:ext uri="{FF2B5EF4-FFF2-40B4-BE49-F238E27FC236}">
                <a16:creationId xmlns:a16="http://schemas.microsoft.com/office/drawing/2014/main" id="{8E4A9A54-E251-FF05-7C4E-173C0FCB19DF}"/>
              </a:ext>
            </a:extLst>
          </p:cNvPr>
          <p:cNvSpPr/>
          <p:nvPr/>
        </p:nvSpPr>
        <p:spPr>
          <a:xfrm>
            <a:off x="3257701" y="2008457"/>
            <a:ext cx="2370758" cy="1759422"/>
          </a:xfrm>
          <a:prstGeom prst="star8">
            <a:avLst>
              <a:gd name="adj" fmla="val 37500"/>
            </a:avLst>
          </a:prstGeom>
          <a:solidFill>
            <a:srgbClr val="FFFF00"/>
          </a:solidFill>
          <a:ln>
            <a:solidFill>
              <a:srgbClr val="006600"/>
            </a:solidFill>
            <a:rou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pt-BR" sz="1600" b="1" strike="noStrike" spc="-1" dirty="0">
                <a:solidFill>
                  <a:srgbClr val="000000"/>
                </a:solidFill>
                <a:latin typeface="Arial" panose="020B0604020202020204"/>
              </a:rPr>
              <a:t>As duas </a:t>
            </a:r>
            <a:r>
              <a:rPr lang="pt-BR" sz="1500" b="1" strike="noStrike" spc="-1" dirty="0">
                <a:solidFill>
                  <a:srgbClr val="000000"/>
                </a:solidFill>
                <a:latin typeface="Arial" panose="020B0604020202020204"/>
              </a:rPr>
              <a:t>representações</a:t>
            </a:r>
            <a:r>
              <a:rPr lang="pt-BR" sz="1600" b="1" strike="noStrike" spc="-1" dirty="0">
                <a:solidFill>
                  <a:srgbClr val="000000"/>
                </a:solidFill>
                <a:latin typeface="Arial" panose="020B0604020202020204"/>
              </a:rPr>
              <a:t> são equivalentes!!!</a:t>
            </a:r>
            <a:endParaRPr lang="pt-BR" sz="1600" b="0" strike="noStrike" spc="-1" dirty="0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987765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DFA0772-B1F6-F9B7-5CA2-ADCCB744F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08B3FDB0-24C8-5799-15EE-4D389C851C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Associação “um para um” em Python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E95962D1-8EBD-B88F-B906-7D10F1C6BA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B1D52DA3-5297-855F-DD9C-C94E77FA23DC}"/>
              </a:ext>
            </a:extLst>
          </p:cNvPr>
          <p:cNvSpPr/>
          <p:nvPr/>
        </p:nvSpPr>
        <p:spPr>
          <a:xfrm>
            <a:off x="403412" y="1355515"/>
            <a:ext cx="2242800" cy="456120"/>
          </a:xfrm>
          <a:prstGeom prst="rect">
            <a:avLst/>
          </a:prstGeom>
          <a:solidFill>
            <a:srgbClr val="FFC000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000000"/>
                </a:solidFill>
                <a:latin typeface="Arial" panose="020B0604020202020204"/>
              </a:rPr>
              <a:t>Departamento</a:t>
            </a:r>
            <a:endParaRPr lang="pt-BR" sz="2400" b="0" strike="noStrike" spc="-1">
              <a:latin typeface="Arial" panose="020B0604020202020204"/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15428953-2CC9-B972-CE66-AF58D76F31F5}"/>
              </a:ext>
            </a:extLst>
          </p:cNvPr>
          <p:cNvSpPr/>
          <p:nvPr/>
        </p:nvSpPr>
        <p:spPr>
          <a:xfrm>
            <a:off x="6173852" y="1355515"/>
            <a:ext cx="2458800" cy="456120"/>
          </a:xfrm>
          <a:prstGeom prst="rect">
            <a:avLst/>
          </a:prstGeom>
          <a:solidFill>
            <a:srgbClr val="FFC000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000000"/>
                </a:solidFill>
                <a:latin typeface="Arial" panose="020B0604020202020204"/>
              </a:rPr>
              <a:t>Funcionario</a:t>
            </a:r>
            <a:endParaRPr lang="pt-BR" sz="2400" b="0" strike="noStrike" spc="-1">
              <a:latin typeface="Arial" panose="020B0604020202020204"/>
            </a:endParaRPr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AF96FBBC-9043-3133-00CA-209567267C66}"/>
              </a:ext>
            </a:extLst>
          </p:cNvPr>
          <p:cNvSpPr/>
          <p:nvPr/>
        </p:nvSpPr>
        <p:spPr>
          <a:xfrm>
            <a:off x="2646212" y="1585555"/>
            <a:ext cx="3527640" cy="1800"/>
          </a:xfrm>
          <a:prstGeom prst="line">
            <a:avLst/>
          </a:prstGeom>
          <a:ln w="3492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5" name="CustomShape 5">
            <a:extLst>
              <a:ext uri="{FF2B5EF4-FFF2-40B4-BE49-F238E27FC236}">
                <a16:creationId xmlns:a16="http://schemas.microsoft.com/office/drawing/2014/main" id="{B6948EB6-3276-3F70-9E3A-AF2A82241986}"/>
              </a:ext>
            </a:extLst>
          </p:cNvPr>
          <p:cNvSpPr/>
          <p:nvPr/>
        </p:nvSpPr>
        <p:spPr>
          <a:xfrm>
            <a:off x="3731252" y="1152475"/>
            <a:ext cx="1014840" cy="39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2000" b="1" strike="noStrike" spc="-1">
                <a:solidFill>
                  <a:srgbClr val="000000"/>
                </a:solidFill>
                <a:latin typeface="Arial" panose="020B0604020202020204"/>
              </a:rPr>
              <a:t>Possui</a:t>
            </a:r>
            <a:endParaRPr lang="pt-BR" sz="2000" b="0" strike="noStrike" spc="-1">
              <a:latin typeface="Arial" panose="020B0604020202020204"/>
            </a:endParaRPr>
          </a:p>
        </p:txBody>
      </p:sp>
      <p:sp>
        <p:nvSpPr>
          <p:cNvPr id="6" name="CustomShape 6">
            <a:extLst>
              <a:ext uri="{FF2B5EF4-FFF2-40B4-BE49-F238E27FC236}">
                <a16:creationId xmlns:a16="http://schemas.microsoft.com/office/drawing/2014/main" id="{7CE227CC-55E9-6B83-3859-8B5B59734ECB}"/>
              </a:ext>
            </a:extLst>
          </p:cNvPr>
          <p:cNvSpPr/>
          <p:nvPr/>
        </p:nvSpPr>
        <p:spPr>
          <a:xfrm>
            <a:off x="2656652" y="1633435"/>
            <a:ext cx="5619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1800" b="1" strike="noStrike" spc="-1">
                <a:solidFill>
                  <a:srgbClr val="FF0000"/>
                </a:solidFill>
                <a:latin typeface="Arial" panose="020B0604020202020204"/>
              </a:rPr>
              <a:t>0..1</a:t>
            </a:r>
            <a:endParaRPr lang="pt-BR" sz="1800" b="0" strike="noStrike" spc="-1">
              <a:latin typeface="Arial" panose="020B0604020202020204"/>
            </a:endParaRPr>
          </a:p>
        </p:txBody>
      </p:sp>
      <p:sp>
        <p:nvSpPr>
          <p:cNvPr id="7" name="CustomShape 11">
            <a:extLst>
              <a:ext uri="{FF2B5EF4-FFF2-40B4-BE49-F238E27FC236}">
                <a16:creationId xmlns:a16="http://schemas.microsoft.com/office/drawing/2014/main" id="{54161134-91AC-66B1-F9D1-9A9B48511B49}"/>
              </a:ext>
            </a:extLst>
          </p:cNvPr>
          <p:cNvSpPr/>
          <p:nvPr/>
        </p:nvSpPr>
        <p:spPr>
          <a:xfrm>
            <a:off x="5608652" y="1624075"/>
            <a:ext cx="5619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1800" b="1" strike="noStrike" spc="-1">
                <a:solidFill>
                  <a:srgbClr val="FF0000"/>
                </a:solidFill>
                <a:latin typeface="Arial" panose="020B0604020202020204"/>
              </a:rPr>
              <a:t>0..1</a:t>
            </a:r>
            <a:endParaRPr lang="pt-BR" sz="1800" b="0" strike="noStrike" spc="-1">
              <a:latin typeface="Arial" panose="020B0604020202020204"/>
            </a:endParaRPr>
          </a:p>
        </p:txBody>
      </p:sp>
      <p:sp>
        <p:nvSpPr>
          <p:cNvPr id="8" name="CustomShape 12">
            <a:extLst>
              <a:ext uri="{FF2B5EF4-FFF2-40B4-BE49-F238E27FC236}">
                <a16:creationId xmlns:a16="http://schemas.microsoft.com/office/drawing/2014/main" id="{23704FD5-5300-6D93-65F0-A3C1BAC64E5C}"/>
              </a:ext>
            </a:extLst>
          </p:cNvPr>
          <p:cNvSpPr/>
          <p:nvPr/>
        </p:nvSpPr>
        <p:spPr>
          <a:xfrm rot="5400000">
            <a:off x="4705052" y="1232755"/>
            <a:ext cx="336240" cy="226800"/>
          </a:xfrm>
          <a:prstGeom prst="triangle">
            <a:avLst>
              <a:gd name="adj" fmla="val 50000"/>
            </a:avLst>
          </a:prstGeom>
          <a:ln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0" name="CustomShape 1">
            <a:extLst>
              <a:ext uri="{FF2B5EF4-FFF2-40B4-BE49-F238E27FC236}">
                <a16:creationId xmlns:a16="http://schemas.microsoft.com/office/drawing/2014/main" id="{8D1968C1-8746-E301-79D0-5E23DBCFB376}"/>
              </a:ext>
            </a:extLst>
          </p:cNvPr>
          <p:cNvSpPr/>
          <p:nvPr/>
        </p:nvSpPr>
        <p:spPr>
          <a:xfrm>
            <a:off x="311700" y="2014675"/>
            <a:ext cx="8274424" cy="281311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73050" indent="-272415">
              <a:lnSpc>
                <a:spcPct val="100000"/>
              </a:lnSpc>
              <a:spcBef>
                <a:spcPts val="575"/>
              </a:spcBef>
              <a:buClr>
                <a:srgbClr val="2DA2BF"/>
              </a:buClr>
              <a:buSzPct val="85000"/>
              <a:buFont typeface="Wingdings 2" charset="2"/>
              <a:buChar char=""/>
            </a:pPr>
            <a:r>
              <a:rPr lang="pt-BR" sz="1800" b="0" strike="noStrike" spc="-1" dirty="0">
                <a:solidFill>
                  <a:srgbClr val="000000"/>
                </a:solidFill>
                <a:latin typeface="Arial" panose="020B0604020202020204"/>
              </a:rPr>
              <a:t>Departamento.java</a:t>
            </a:r>
            <a:endParaRPr lang="pt-BR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lang="pt-BR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lang="pt-BR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lang="pt-BR" sz="1800" b="0" strike="noStrike" spc="-1" dirty="0">
              <a:latin typeface="Arial" panose="020B0604020202020204"/>
            </a:endParaRPr>
          </a:p>
          <a:p>
            <a:pPr marL="273050" indent="-272415">
              <a:lnSpc>
                <a:spcPct val="100000"/>
              </a:lnSpc>
              <a:spcBef>
                <a:spcPts val="575"/>
              </a:spcBef>
              <a:buClr>
                <a:srgbClr val="2DA2BF"/>
              </a:buClr>
              <a:buSzPct val="85000"/>
              <a:buFont typeface="Wingdings 2" charset="2"/>
              <a:buChar char=""/>
            </a:pPr>
            <a:r>
              <a:rPr lang="pt-BR" sz="1800" b="0" strike="noStrike" spc="-1" dirty="0">
                <a:solidFill>
                  <a:srgbClr val="000000"/>
                </a:solidFill>
                <a:latin typeface="Arial" panose="020B0604020202020204"/>
              </a:rPr>
              <a:t>Funcionario.java</a:t>
            </a:r>
            <a:endParaRPr lang="pt-BR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lang="pt-BR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lang="pt-BR" sz="1800" b="0" strike="noStrike" spc="-1" dirty="0">
              <a:latin typeface="Arial" panose="020B0604020202020204"/>
            </a:endParaRPr>
          </a:p>
        </p:txBody>
      </p:sp>
      <p:sp>
        <p:nvSpPr>
          <p:cNvPr id="11" name="TextShape 9">
            <a:extLst>
              <a:ext uri="{FF2B5EF4-FFF2-40B4-BE49-F238E27FC236}">
                <a16:creationId xmlns:a16="http://schemas.microsoft.com/office/drawing/2014/main" id="{7C04773A-198F-7D79-0B4A-77B7541D21F0}"/>
              </a:ext>
            </a:extLst>
          </p:cNvPr>
          <p:cNvSpPr txBox="1"/>
          <p:nvPr/>
        </p:nvSpPr>
        <p:spPr>
          <a:xfrm>
            <a:off x="557876" y="2377623"/>
            <a:ext cx="7831133" cy="884975"/>
          </a:xfrm>
          <a:prstGeom prst="rect">
            <a:avLst/>
          </a:prstGeom>
          <a:noFill/>
          <a:ln w="34920">
            <a:solidFill>
              <a:srgbClr val="008000"/>
            </a:solidFill>
            <a:round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pt-BR" sz="1800" b="1" strike="noStrike" spc="-1">
                <a:solidFill>
                  <a:srgbClr val="0505FF"/>
                </a:solidFill>
                <a:latin typeface="Courier New" panose="02070309020205020404"/>
              </a:rPr>
              <a:t>class </a:t>
            </a:r>
            <a:r>
              <a:rPr lang="pt-BR" sz="1800" b="1" i="1" strike="noStrike" spc="-1">
                <a:solidFill>
                  <a:srgbClr val="000000"/>
                </a:solidFill>
                <a:latin typeface="Courier New" panose="02070309020205020404"/>
              </a:rPr>
              <a:t>Departamento(object)</a:t>
            </a: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lang="pt-B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   </a:t>
            </a:r>
            <a:r>
              <a:rPr lang="pt-BR" sz="1800" b="1" strike="noStrike" spc="-1">
                <a:solidFill>
                  <a:srgbClr val="0000CC"/>
                </a:solidFill>
                <a:latin typeface="Courier New" panose="02070309020205020404"/>
              </a:rPr>
              <a:t>private </a:t>
            </a:r>
            <a:r>
              <a:rPr lang="pt-BR" sz="1800" b="1" strike="noStrike" spc="-1">
                <a:solidFill>
                  <a:srgbClr val="FF0000"/>
                </a:solidFill>
                <a:latin typeface="Courier New" panose="02070309020205020404"/>
              </a:rPr>
              <a:t>Funcionario </a:t>
            </a:r>
            <a:r>
              <a:rPr lang="pt-BR" sz="1800" b="1" strike="noStrike" spc="-1">
                <a:solidFill>
                  <a:srgbClr val="008000"/>
                </a:solidFill>
                <a:latin typeface="Courier New" panose="02070309020205020404"/>
              </a:rPr>
              <a:t>func </a:t>
            </a: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= </a:t>
            </a:r>
            <a:r>
              <a:rPr lang="pt-BR" sz="1800" b="1" strike="noStrike" spc="-1">
                <a:solidFill>
                  <a:srgbClr val="0000CC"/>
                </a:solidFill>
                <a:latin typeface="Courier New" panose="02070309020205020404"/>
              </a:rPr>
              <a:t>new </a:t>
            </a:r>
            <a:r>
              <a:rPr lang="pt-BR" sz="1800" b="1" strike="noStrike" spc="-1">
                <a:solidFill>
                  <a:srgbClr val="FF0000"/>
                </a:solidFill>
                <a:latin typeface="Courier New" panose="02070309020205020404"/>
              </a:rPr>
              <a:t>Funcionario()</a:t>
            </a: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lang="pt-B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73050" indent="-272415">
              <a:lnSpc>
                <a:spcPct val="100000"/>
              </a:lnSpc>
            </a:pP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lang="pt-B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" name="CustomShape 10">
            <a:extLst>
              <a:ext uri="{FF2B5EF4-FFF2-40B4-BE49-F238E27FC236}">
                <a16:creationId xmlns:a16="http://schemas.microsoft.com/office/drawing/2014/main" id="{F8B157A6-C80A-62D3-7597-B530277F26DE}"/>
              </a:ext>
            </a:extLst>
          </p:cNvPr>
          <p:cNvSpPr/>
          <p:nvPr/>
        </p:nvSpPr>
        <p:spPr>
          <a:xfrm>
            <a:off x="534921" y="3772460"/>
            <a:ext cx="7827981" cy="884975"/>
          </a:xfrm>
          <a:prstGeom prst="rect">
            <a:avLst/>
          </a:prstGeom>
          <a:noFill/>
          <a:ln w="34920">
            <a:solidFill>
              <a:srgbClr val="008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1800" b="1" strike="noStrike" spc="-1">
                <a:solidFill>
                  <a:srgbClr val="0000CC"/>
                </a:solidFill>
                <a:latin typeface="Courier New" panose="02070309020205020404"/>
              </a:rPr>
              <a:t>public </a:t>
            </a:r>
            <a:r>
              <a:rPr lang="pt-BR" sz="1800" b="1" strike="noStrike" spc="-1">
                <a:solidFill>
                  <a:srgbClr val="0505FF"/>
                </a:solidFill>
                <a:latin typeface="Courier New" panose="02070309020205020404"/>
              </a:rPr>
              <a:t>class </a:t>
            </a:r>
            <a:r>
              <a:rPr lang="pt-BR" sz="1800" b="1" i="1" strike="noStrike" spc="-1">
                <a:solidFill>
                  <a:srgbClr val="000000"/>
                </a:solidFill>
                <a:latin typeface="Courier New" panose="02070309020205020404"/>
              </a:rPr>
              <a:t>Funcionario</a:t>
            </a: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lang="pt-BR" sz="18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   </a:t>
            </a:r>
            <a:r>
              <a:rPr lang="pt-BR" sz="1800" b="1" strike="noStrike" spc="-1">
                <a:solidFill>
                  <a:srgbClr val="0000CC"/>
                </a:solidFill>
                <a:latin typeface="Courier New" panose="02070309020205020404"/>
              </a:rPr>
              <a:t>private </a:t>
            </a:r>
            <a:r>
              <a:rPr lang="pt-BR" sz="1800" b="1" strike="noStrike" spc="-1">
                <a:solidFill>
                  <a:srgbClr val="FF0000"/>
                </a:solidFill>
                <a:latin typeface="Courier New" panose="02070309020205020404"/>
              </a:rPr>
              <a:t>Departamento </a:t>
            </a:r>
            <a:r>
              <a:rPr lang="pt-BR" sz="1800" b="1" strike="noStrike" spc="-1">
                <a:solidFill>
                  <a:srgbClr val="008000"/>
                </a:solidFill>
                <a:latin typeface="Courier New" panose="02070309020205020404"/>
              </a:rPr>
              <a:t>dep </a:t>
            </a: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= </a:t>
            </a:r>
            <a:r>
              <a:rPr lang="pt-BR" sz="1800" b="1" strike="noStrike" spc="-1">
                <a:solidFill>
                  <a:srgbClr val="0000CC"/>
                </a:solidFill>
                <a:latin typeface="Courier New" panose="02070309020205020404"/>
              </a:rPr>
              <a:t>new </a:t>
            </a:r>
            <a:r>
              <a:rPr lang="pt-BR" sz="1800" b="1" strike="noStrike" spc="-1">
                <a:solidFill>
                  <a:srgbClr val="FF0000"/>
                </a:solidFill>
                <a:latin typeface="Courier New" panose="02070309020205020404"/>
              </a:rPr>
              <a:t>Departamento()</a:t>
            </a: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lang="pt-BR" sz="1800" b="0" strike="noStrike" spc="-1">
              <a:latin typeface="Arial" panose="020B0604020202020204"/>
            </a:endParaRPr>
          </a:p>
          <a:p>
            <a:pPr marL="273050" indent="-272415">
              <a:lnSpc>
                <a:spcPct val="100000"/>
              </a:lnSpc>
            </a:pP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lang="pt-BR" sz="1800" b="0" strike="noStrike" spc="-1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922822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798F8E1-1124-39D6-8DAD-0C290AEAC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9049E244-454C-5481-9099-A5D020DFF2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Associação “um para muitos” em Java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A225D57A-3DB5-BAD9-AB58-B57EF5AEB5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DC13E547-78C4-9D8C-A315-760876DB053B}"/>
              </a:ext>
            </a:extLst>
          </p:cNvPr>
          <p:cNvSpPr/>
          <p:nvPr/>
        </p:nvSpPr>
        <p:spPr>
          <a:xfrm>
            <a:off x="493059" y="1355515"/>
            <a:ext cx="2249280" cy="456120"/>
          </a:xfrm>
          <a:prstGeom prst="rect">
            <a:avLst/>
          </a:prstGeom>
          <a:solidFill>
            <a:srgbClr val="FFC000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000000"/>
                </a:solidFill>
                <a:latin typeface="Arial" panose="020B0604020202020204"/>
              </a:rPr>
              <a:t>Departamento</a:t>
            </a:r>
            <a:endParaRPr lang="pt-BR" sz="2400" b="0" strike="noStrike" spc="-1">
              <a:latin typeface="Arial" panose="020B0604020202020204"/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1A99CC95-D69D-66DB-8805-445126B07602}"/>
              </a:ext>
            </a:extLst>
          </p:cNvPr>
          <p:cNvSpPr/>
          <p:nvPr/>
        </p:nvSpPr>
        <p:spPr>
          <a:xfrm>
            <a:off x="6263499" y="1355515"/>
            <a:ext cx="2458800" cy="456120"/>
          </a:xfrm>
          <a:prstGeom prst="rect">
            <a:avLst/>
          </a:prstGeom>
          <a:solidFill>
            <a:srgbClr val="FFC000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000000"/>
                </a:solidFill>
                <a:latin typeface="Arial" panose="020B0604020202020204"/>
              </a:rPr>
              <a:t>Funcionario</a:t>
            </a:r>
            <a:endParaRPr lang="pt-BR" sz="2400" b="0" strike="noStrike" spc="-1">
              <a:latin typeface="Arial" panose="020B0604020202020204"/>
            </a:endParaRPr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C4B8B236-4FA9-2FCE-4C1B-C2C3D54A319A}"/>
              </a:ext>
            </a:extLst>
          </p:cNvPr>
          <p:cNvSpPr/>
          <p:nvPr/>
        </p:nvSpPr>
        <p:spPr>
          <a:xfrm>
            <a:off x="2742339" y="1587355"/>
            <a:ext cx="3521160" cy="360"/>
          </a:xfrm>
          <a:prstGeom prst="line">
            <a:avLst/>
          </a:prstGeom>
          <a:ln w="3492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5" name="CustomShape 5">
            <a:extLst>
              <a:ext uri="{FF2B5EF4-FFF2-40B4-BE49-F238E27FC236}">
                <a16:creationId xmlns:a16="http://schemas.microsoft.com/office/drawing/2014/main" id="{B88C34CD-DBF3-D058-9B15-60B3CFD3901F}"/>
              </a:ext>
            </a:extLst>
          </p:cNvPr>
          <p:cNvSpPr/>
          <p:nvPr/>
        </p:nvSpPr>
        <p:spPr>
          <a:xfrm>
            <a:off x="3820899" y="1152475"/>
            <a:ext cx="1014840" cy="39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2000" b="1" strike="noStrike" spc="-1">
                <a:solidFill>
                  <a:srgbClr val="000000"/>
                </a:solidFill>
                <a:latin typeface="Arial" panose="020B0604020202020204"/>
              </a:rPr>
              <a:t>Possui</a:t>
            </a:r>
            <a:endParaRPr lang="pt-BR" sz="2000" b="0" strike="noStrike" spc="-1">
              <a:latin typeface="Arial" panose="020B0604020202020204"/>
            </a:endParaRPr>
          </a:p>
        </p:txBody>
      </p:sp>
      <p:sp>
        <p:nvSpPr>
          <p:cNvPr id="6" name="CustomShape 6">
            <a:extLst>
              <a:ext uri="{FF2B5EF4-FFF2-40B4-BE49-F238E27FC236}">
                <a16:creationId xmlns:a16="http://schemas.microsoft.com/office/drawing/2014/main" id="{CE08334E-E92D-6C97-F443-ABD79A4118B1}"/>
              </a:ext>
            </a:extLst>
          </p:cNvPr>
          <p:cNvSpPr/>
          <p:nvPr/>
        </p:nvSpPr>
        <p:spPr>
          <a:xfrm>
            <a:off x="5698299" y="1633435"/>
            <a:ext cx="5619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1800" b="1" strike="noStrike" spc="-1">
                <a:solidFill>
                  <a:srgbClr val="FF0000"/>
                </a:solidFill>
                <a:latin typeface="Arial" panose="020B0604020202020204"/>
              </a:rPr>
              <a:t>1..5</a:t>
            </a:r>
            <a:endParaRPr lang="pt-BR" sz="1800" b="0" strike="noStrike" spc="-1">
              <a:latin typeface="Arial" panose="020B0604020202020204"/>
            </a:endParaRPr>
          </a:p>
        </p:txBody>
      </p:sp>
      <p:sp>
        <p:nvSpPr>
          <p:cNvPr id="7" name="CustomShape 9">
            <a:extLst>
              <a:ext uri="{FF2B5EF4-FFF2-40B4-BE49-F238E27FC236}">
                <a16:creationId xmlns:a16="http://schemas.microsoft.com/office/drawing/2014/main" id="{9FD57C7B-97CA-90E1-A5B7-D1D8CC7B5C06}"/>
              </a:ext>
            </a:extLst>
          </p:cNvPr>
          <p:cNvSpPr/>
          <p:nvPr/>
        </p:nvSpPr>
        <p:spPr>
          <a:xfrm>
            <a:off x="2746299" y="1633435"/>
            <a:ext cx="5619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1800" b="1" strike="noStrike" spc="-1">
                <a:solidFill>
                  <a:srgbClr val="FF0000"/>
                </a:solidFill>
                <a:latin typeface="Arial" panose="020B0604020202020204"/>
              </a:rPr>
              <a:t>0..1</a:t>
            </a:r>
            <a:endParaRPr lang="pt-BR" sz="1800" b="0" strike="noStrike" spc="-1">
              <a:latin typeface="Arial" panose="020B0604020202020204"/>
            </a:endParaRPr>
          </a:p>
        </p:txBody>
      </p:sp>
      <p:sp>
        <p:nvSpPr>
          <p:cNvPr id="8" name="CustomShape 12">
            <a:extLst>
              <a:ext uri="{FF2B5EF4-FFF2-40B4-BE49-F238E27FC236}">
                <a16:creationId xmlns:a16="http://schemas.microsoft.com/office/drawing/2014/main" id="{2D9C883F-930B-98D4-C880-EEAF04E7F782}"/>
              </a:ext>
            </a:extLst>
          </p:cNvPr>
          <p:cNvSpPr/>
          <p:nvPr/>
        </p:nvSpPr>
        <p:spPr>
          <a:xfrm rot="5400000">
            <a:off x="4781019" y="1236355"/>
            <a:ext cx="336240" cy="225000"/>
          </a:xfrm>
          <a:prstGeom prst="triangle">
            <a:avLst>
              <a:gd name="adj" fmla="val 50000"/>
            </a:avLst>
          </a:prstGeom>
          <a:ln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9" name="TextShape 10">
            <a:extLst>
              <a:ext uri="{FF2B5EF4-FFF2-40B4-BE49-F238E27FC236}">
                <a16:creationId xmlns:a16="http://schemas.microsoft.com/office/drawing/2014/main" id="{7D1D88F8-C761-F6F0-B7D5-55D26FCE2686}"/>
              </a:ext>
            </a:extLst>
          </p:cNvPr>
          <p:cNvSpPr txBox="1"/>
          <p:nvPr/>
        </p:nvSpPr>
        <p:spPr>
          <a:xfrm>
            <a:off x="362040" y="3804666"/>
            <a:ext cx="8470260" cy="893809"/>
          </a:xfrm>
          <a:prstGeom prst="rect">
            <a:avLst/>
          </a:prstGeom>
          <a:noFill/>
          <a:ln w="34920">
            <a:solidFill>
              <a:srgbClr val="008000"/>
            </a:solidFill>
            <a:round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pt-BR" sz="1800" b="1" strike="noStrike" spc="-1" dirty="0" err="1">
                <a:solidFill>
                  <a:srgbClr val="0000CC"/>
                </a:solidFill>
                <a:latin typeface="Courier New" panose="02070309020205020404"/>
              </a:rPr>
              <a:t>public</a:t>
            </a:r>
            <a:r>
              <a:rPr lang="pt-BR" sz="1800" b="1" strike="noStrike" spc="-1" dirty="0">
                <a:solidFill>
                  <a:srgbClr val="0000CC"/>
                </a:solidFill>
                <a:latin typeface="Courier New" panose="02070309020205020404"/>
              </a:rPr>
              <a:t> </a:t>
            </a:r>
            <a:r>
              <a:rPr lang="pt-BR" sz="1800" b="1" strike="noStrike" spc="-1" dirty="0" err="1">
                <a:solidFill>
                  <a:srgbClr val="0505FF"/>
                </a:solidFill>
                <a:latin typeface="Courier New" panose="02070309020205020404"/>
              </a:rPr>
              <a:t>class</a:t>
            </a:r>
            <a:r>
              <a:rPr lang="pt-BR" sz="1800" b="1" strike="noStrike" spc="-1" dirty="0">
                <a:solidFill>
                  <a:srgbClr val="0505FF"/>
                </a:solidFill>
                <a:latin typeface="Courier New" panose="02070309020205020404"/>
              </a:rPr>
              <a:t> </a:t>
            </a:r>
            <a:r>
              <a:rPr lang="pt-BR" sz="1800" b="1" i="1" strike="noStrike" spc="-1" dirty="0" err="1">
                <a:solidFill>
                  <a:srgbClr val="000000"/>
                </a:solidFill>
                <a:latin typeface="Courier New" panose="02070309020205020404"/>
              </a:rPr>
              <a:t>Funcionario</a:t>
            </a:r>
            <a:r>
              <a:rPr lang="pt-BR" sz="1800" b="1" strike="noStrike" spc="-1" dirty="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lang="pt-BR" sz="18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pt-BR" sz="1800" b="1" strike="noStrike" spc="-1" dirty="0">
                <a:solidFill>
                  <a:srgbClr val="000000"/>
                </a:solidFill>
                <a:latin typeface="Courier New" panose="02070309020205020404"/>
              </a:rPr>
              <a:t>   </a:t>
            </a:r>
            <a:r>
              <a:rPr lang="pt-BR" sz="1800" b="1" strike="noStrike" spc="-1" dirty="0" err="1">
                <a:solidFill>
                  <a:srgbClr val="0000CC"/>
                </a:solidFill>
                <a:latin typeface="Courier New" panose="02070309020205020404"/>
              </a:rPr>
              <a:t>private</a:t>
            </a:r>
            <a:r>
              <a:rPr lang="pt-BR" sz="1800" b="1" strike="noStrike" spc="-1" dirty="0">
                <a:solidFill>
                  <a:srgbClr val="0000CC"/>
                </a:solidFill>
                <a:latin typeface="Courier New" panose="02070309020205020404"/>
              </a:rPr>
              <a:t> </a:t>
            </a:r>
            <a:r>
              <a:rPr lang="pt-BR" sz="1800" b="1" strike="noStrike" spc="-1" dirty="0">
                <a:solidFill>
                  <a:srgbClr val="FF0000"/>
                </a:solidFill>
                <a:latin typeface="Courier New" panose="02070309020205020404"/>
              </a:rPr>
              <a:t>Departamento </a:t>
            </a:r>
            <a:r>
              <a:rPr lang="pt-BR" sz="1800" b="1" strike="noStrike" spc="-1" dirty="0" err="1">
                <a:solidFill>
                  <a:srgbClr val="008000"/>
                </a:solidFill>
                <a:latin typeface="Courier New" panose="02070309020205020404"/>
              </a:rPr>
              <a:t>dep</a:t>
            </a:r>
            <a:r>
              <a:rPr lang="pt-BR" sz="1800" b="1" strike="noStrike" spc="-1" dirty="0">
                <a:solidFill>
                  <a:srgbClr val="008000"/>
                </a:solidFill>
                <a:latin typeface="Courier New" panose="02070309020205020404"/>
              </a:rPr>
              <a:t> </a:t>
            </a:r>
            <a:r>
              <a:rPr lang="pt-BR" sz="1800" b="1" strike="noStrike" spc="-1" dirty="0">
                <a:solidFill>
                  <a:srgbClr val="000000"/>
                </a:solidFill>
                <a:latin typeface="Courier New" panose="02070309020205020404"/>
              </a:rPr>
              <a:t>= </a:t>
            </a:r>
            <a:r>
              <a:rPr lang="pt-BR" sz="1800" b="1" strike="noStrike" spc="-1" dirty="0">
                <a:solidFill>
                  <a:srgbClr val="0000CC"/>
                </a:solidFill>
                <a:latin typeface="Courier New" panose="02070309020205020404"/>
              </a:rPr>
              <a:t>new </a:t>
            </a:r>
            <a:r>
              <a:rPr lang="pt-BR" sz="1800" b="1" strike="noStrike" spc="-1" dirty="0">
                <a:solidFill>
                  <a:srgbClr val="FF0000"/>
                </a:solidFill>
                <a:latin typeface="Courier New" panose="02070309020205020404"/>
              </a:rPr>
              <a:t>Departamento()</a:t>
            </a:r>
            <a:r>
              <a:rPr lang="pt-BR" sz="1800" b="1" strike="noStrike" spc="-1" dirty="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lang="pt-BR" sz="18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marL="273050" indent="-272415">
              <a:lnSpc>
                <a:spcPct val="100000"/>
              </a:lnSpc>
            </a:pPr>
            <a:r>
              <a:rPr lang="pt-BR" sz="1800" b="1" strike="noStrike" spc="-1" dirty="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lang="pt-BR" sz="18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" name="CustomShape 11">
            <a:extLst>
              <a:ext uri="{FF2B5EF4-FFF2-40B4-BE49-F238E27FC236}">
                <a16:creationId xmlns:a16="http://schemas.microsoft.com/office/drawing/2014/main" id="{4E55BB8E-678B-4B33-3CFF-FC3FA57C8074}"/>
              </a:ext>
            </a:extLst>
          </p:cNvPr>
          <p:cNvSpPr/>
          <p:nvPr/>
        </p:nvSpPr>
        <p:spPr>
          <a:xfrm>
            <a:off x="362040" y="2422691"/>
            <a:ext cx="8470260" cy="912180"/>
          </a:xfrm>
          <a:prstGeom prst="rect">
            <a:avLst/>
          </a:prstGeom>
          <a:noFill/>
          <a:ln w="34920">
            <a:solidFill>
              <a:srgbClr val="008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1800" b="1" strike="noStrike" spc="-1" dirty="0" err="1">
                <a:solidFill>
                  <a:srgbClr val="0000CC"/>
                </a:solidFill>
                <a:latin typeface="Courier New" panose="02070309020205020404"/>
              </a:rPr>
              <a:t>public</a:t>
            </a:r>
            <a:r>
              <a:rPr lang="pt-BR" sz="1800" b="1" strike="noStrike" spc="-1" dirty="0">
                <a:solidFill>
                  <a:srgbClr val="0000CC"/>
                </a:solidFill>
                <a:latin typeface="Courier New" panose="02070309020205020404"/>
              </a:rPr>
              <a:t> </a:t>
            </a:r>
            <a:r>
              <a:rPr lang="pt-BR" sz="1800" b="1" strike="noStrike" spc="-1" dirty="0" err="1">
                <a:solidFill>
                  <a:srgbClr val="0505FF"/>
                </a:solidFill>
                <a:latin typeface="Courier New" panose="02070309020205020404"/>
              </a:rPr>
              <a:t>class</a:t>
            </a:r>
            <a:r>
              <a:rPr lang="pt-BR" sz="1800" b="1" strike="noStrike" spc="-1" dirty="0">
                <a:solidFill>
                  <a:srgbClr val="0505FF"/>
                </a:solidFill>
                <a:latin typeface="Courier New" panose="02070309020205020404"/>
              </a:rPr>
              <a:t> </a:t>
            </a:r>
            <a:r>
              <a:rPr lang="pt-BR" sz="1800" b="1" i="1" strike="noStrike" spc="-1" dirty="0">
                <a:solidFill>
                  <a:srgbClr val="000000"/>
                </a:solidFill>
                <a:latin typeface="Courier New" panose="02070309020205020404"/>
              </a:rPr>
              <a:t>Departamento</a:t>
            </a:r>
            <a:r>
              <a:rPr lang="pt-BR" sz="1800" b="1" strike="noStrike" spc="-1" dirty="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lang="pt-BR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pt-BR" sz="1800" b="1" strike="noStrike" spc="-1" dirty="0">
                <a:solidFill>
                  <a:srgbClr val="000000"/>
                </a:solidFill>
                <a:latin typeface="Courier New" panose="02070309020205020404"/>
              </a:rPr>
              <a:t>   </a:t>
            </a:r>
            <a:r>
              <a:rPr lang="pt-BR" sz="1800" b="1" strike="noStrike" spc="-1" dirty="0" err="1">
                <a:solidFill>
                  <a:srgbClr val="0000CC"/>
                </a:solidFill>
                <a:latin typeface="Courier New" panose="02070309020205020404"/>
              </a:rPr>
              <a:t>private</a:t>
            </a:r>
            <a:r>
              <a:rPr lang="pt-BR" sz="1800" b="1" strike="noStrike" spc="-1" dirty="0">
                <a:solidFill>
                  <a:srgbClr val="0000CC"/>
                </a:solidFill>
                <a:latin typeface="Courier New" panose="02070309020205020404"/>
              </a:rPr>
              <a:t> </a:t>
            </a:r>
            <a:r>
              <a:rPr lang="pt-BR" sz="1800" b="1" strike="noStrike" spc="-1" dirty="0" err="1">
                <a:solidFill>
                  <a:srgbClr val="FF0000"/>
                </a:solidFill>
                <a:latin typeface="Courier New" panose="02070309020205020404"/>
              </a:rPr>
              <a:t>Funcionario</a:t>
            </a:r>
            <a:r>
              <a:rPr lang="pt-BR" sz="1800" b="1" strike="noStrike" spc="-1" dirty="0">
                <a:solidFill>
                  <a:srgbClr val="FF0000"/>
                </a:solidFill>
                <a:latin typeface="Courier New" panose="02070309020205020404"/>
              </a:rPr>
              <a:t>[] </a:t>
            </a:r>
            <a:r>
              <a:rPr lang="pt-BR" sz="1800" b="1" strike="noStrike" spc="-1" dirty="0" err="1">
                <a:solidFill>
                  <a:srgbClr val="008000"/>
                </a:solidFill>
                <a:latin typeface="Courier New" panose="02070309020205020404"/>
              </a:rPr>
              <a:t>func</a:t>
            </a:r>
            <a:r>
              <a:rPr lang="pt-BR" sz="1800" b="1" strike="noStrike" spc="-1" dirty="0">
                <a:solidFill>
                  <a:srgbClr val="008000"/>
                </a:solidFill>
                <a:latin typeface="Courier New" panose="02070309020205020404"/>
              </a:rPr>
              <a:t> </a:t>
            </a:r>
            <a:r>
              <a:rPr lang="pt-BR" sz="1800" b="1" strike="noStrike" spc="-1" dirty="0">
                <a:solidFill>
                  <a:srgbClr val="000000"/>
                </a:solidFill>
                <a:latin typeface="Courier New" panose="02070309020205020404"/>
              </a:rPr>
              <a:t>= </a:t>
            </a:r>
            <a:r>
              <a:rPr lang="pt-BR" sz="1800" b="1" strike="noStrike" spc="-1" dirty="0">
                <a:solidFill>
                  <a:srgbClr val="0000CC"/>
                </a:solidFill>
                <a:latin typeface="Courier New" panose="02070309020205020404"/>
              </a:rPr>
              <a:t>new </a:t>
            </a:r>
            <a:r>
              <a:rPr lang="pt-BR" sz="1800" b="1" strike="noStrike" spc="-1" dirty="0" err="1">
                <a:solidFill>
                  <a:srgbClr val="FF0000"/>
                </a:solidFill>
                <a:latin typeface="Courier New" panose="02070309020205020404"/>
              </a:rPr>
              <a:t>Funcionario</a:t>
            </a:r>
            <a:r>
              <a:rPr lang="pt-BR" sz="1800" b="1" strike="noStrike" spc="-1" dirty="0">
                <a:solidFill>
                  <a:srgbClr val="FF0000"/>
                </a:solidFill>
                <a:latin typeface="Courier New" panose="02070309020205020404"/>
              </a:rPr>
              <a:t>[5]</a:t>
            </a:r>
            <a:r>
              <a:rPr lang="pt-BR" sz="1800" b="1" strike="noStrike" spc="-1" dirty="0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lang="pt-BR" sz="1800" b="0" strike="noStrike" spc="-1" dirty="0">
              <a:latin typeface="Arial" panose="020B0604020202020204"/>
            </a:endParaRPr>
          </a:p>
          <a:p>
            <a:pPr marL="273050" indent="-272415">
              <a:lnSpc>
                <a:spcPct val="100000"/>
              </a:lnSpc>
            </a:pPr>
            <a:r>
              <a:rPr lang="pt-BR" sz="1800" b="1" strike="noStrike" spc="-1" dirty="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lang="pt-BR" sz="1800" b="0" strike="noStrike" spc="-1" dirty="0">
              <a:latin typeface="Arial" panose="020B0604020202020204"/>
            </a:endParaRPr>
          </a:p>
        </p:txBody>
      </p:sp>
      <p:sp>
        <p:nvSpPr>
          <p:cNvPr id="11" name="CustomShape 1">
            <a:extLst>
              <a:ext uri="{FF2B5EF4-FFF2-40B4-BE49-F238E27FC236}">
                <a16:creationId xmlns:a16="http://schemas.microsoft.com/office/drawing/2014/main" id="{820337D8-B2A0-E777-505D-89D803BB6D67}"/>
              </a:ext>
            </a:extLst>
          </p:cNvPr>
          <p:cNvSpPr/>
          <p:nvPr/>
        </p:nvSpPr>
        <p:spPr>
          <a:xfrm>
            <a:off x="337440" y="2063520"/>
            <a:ext cx="8507160" cy="366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73050" indent="-272415">
              <a:lnSpc>
                <a:spcPct val="100000"/>
              </a:lnSpc>
              <a:spcBef>
                <a:spcPts val="575"/>
              </a:spcBef>
              <a:buClr>
                <a:srgbClr val="2DA2BF"/>
              </a:buClr>
              <a:buSzPct val="85000"/>
              <a:buFont typeface="Wingdings 2" charset="2"/>
              <a:buChar char=""/>
            </a:pPr>
            <a:r>
              <a:rPr lang="pt-BR" sz="1800" b="0" strike="noStrike" spc="-1" dirty="0">
                <a:solidFill>
                  <a:srgbClr val="000000"/>
                </a:solidFill>
                <a:latin typeface="Arial" panose="020B0604020202020204"/>
              </a:rPr>
              <a:t>Departamento.java</a:t>
            </a:r>
            <a:endParaRPr lang="pt-BR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lang="pt-BR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lang="pt-BR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lang="pt-BR" sz="1800" b="0" strike="noStrike" spc="-1" dirty="0">
              <a:latin typeface="Arial" panose="020B0604020202020204"/>
            </a:endParaRPr>
          </a:p>
          <a:p>
            <a:pPr marL="273050" indent="-272415">
              <a:lnSpc>
                <a:spcPct val="100000"/>
              </a:lnSpc>
              <a:spcBef>
                <a:spcPts val="575"/>
              </a:spcBef>
              <a:buClr>
                <a:srgbClr val="2DA2BF"/>
              </a:buClr>
              <a:buSzPct val="85000"/>
              <a:buFont typeface="Wingdings 2" charset="2"/>
              <a:buChar char=""/>
            </a:pPr>
            <a:r>
              <a:rPr lang="pt-BR" sz="1800" b="0" strike="noStrike" spc="-1" dirty="0">
                <a:solidFill>
                  <a:srgbClr val="000000"/>
                </a:solidFill>
                <a:latin typeface="Arial" panose="020B0604020202020204"/>
              </a:rPr>
              <a:t>Funcionario.java</a:t>
            </a:r>
            <a:endParaRPr lang="pt-BR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lang="pt-BR" sz="1800" b="0" strike="noStrike" spc="-1" dirty="0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768309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5745FB37-AFA7-8A30-A799-ADDC9F3B6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03387F02-2431-B26F-00DD-585B5C73B5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Associação “um para muitos” em Java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4954DF33-228D-EB71-9AD4-3D9E6AB9D1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12" name="CustomShape 1">
            <a:extLst>
              <a:ext uri="{FF2B5EF4-FFF2-40B4-BE49-F238E27FC236}">
                <a16:creationId xmlns:a16="http://schemas.microsoft.com/office/drawing/2014/main" id="{4DC5669D-AD6F-C55D-F80B-464E98CACEC3}"/>
              </a:ext>
            </a:extLst>
          </p:cNvPr>
          <p:cNvSpPr/>
          <p:nvPr/>
        </p:nvSpPr>
        <p:spPr>
          <a:xfrm>
            <a:off x="325140" y="1795075"/>
            <a:ext cx="8507160" cy="366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73050" indent="-272415">
              <a:lnSpc>
                <a:spcPct val="100000"/>
              </a:lnSpc>
              <a:spcBef>
                <a:spcPts val="575"/>
              </a:spcBef>
              <a:buClr>
                <a:srgbClr val="2DA2BF"/>
              </a:buClr>
              <a:buSzPct val="85000"/>
              <a:buFont typeface="Wingdings 2" charset="2"/>
              <a:buChar char=""/>
            </a:pPr>
            <a:r>
              <a:rPr lang="pt-BR" sz="1800" b="0" strike="noStrike" spc="-1" dirty="0">
                <a:solidFill>
                  <a:srgbClr val="000000"/>
                </a:solidFill>
                <a:latin typeface="Arial" panose="020B0604020202020204"/>
              </a:rPr>
              <a:t>Departamento.java</a:t>
            </a:r>
            <a:endParaRPr lang="pt-BR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lang="pt-BR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lang="pt-BR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lang="pt-BR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lang="pt-BR" sz="1800" b="0" strike="noStrike" spc="-1" dirty="0">
              <a:latin typeface="Arial" panose="020B0604020202020204"/>
            </a:endParaRPr>
          </a:p>
          <a:p>
            <a:pPr marL="273050" indent="-272415">
              <a:lnSpc>
                <a:spcPct val="100000"/>
              </a:lnSpc>
              <a:spcBef>
                <a:spcPts val="575"/>
              </a:spcBef>
              <a:buClr>
                <a:srgbClr val="2DA2BF"/>
              </a:buClr>
              <a:buSzPct val="85000"/>
              <a:buFont typeface="Wingdings 2" charset="2"/>
              <a:buChar char=""/>
            </a:pPr>
            <a:r>
              <a:rPr lang="pt-BR" sz="1800" b="0" strike="noStrike" spc="-1" dirty="0">
                <a:solidFill>
                  <a:srgbClr val="000000"/>
                </a:solidFill>
                <a:latin typeface="Arial" panose="020B0604020202020204"/>
              </a:rPr>
              <a:t>Funcionario.java</a:t>
            </a:r>
            <a:endParaRPr lang="pt-BR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lang="pt-BR" sz="1800" b="0" strike="noStrike" spc="-1" dirty="0">
              <a:latin typeface="Arial" panose="020B0604020202020204"/>
            </a:endParaRPr>
          </a:p>
        </p:txBody>
      </p:sp>
      <p:sp>
        <p:nvSpPr>
          <p:cNvPr id="13" name="CustomShape 2">
            <a:extLst>
              <a:ext uri="{FF2B5EF4-FFF2-40B4-BE49-F238E27FC236}">
                <a16:creationId xmlns:a16="http://schemas.microsoft.com/office/drawing/2014/main" id="{82C7E894-BFE8-3140-98A3-CE498496E2FB}"/>
              </a:ext>
            </a:extLst>
          </p:cNvPr>
          <p:cNvSpPr/>
          <p:nvPr/>
        </p:nvSpPr>
        <p:spPr>
          <a:xfrm>
            <a:off x="457200" y="1152475"/>
            <a:ext cx="2249280" cy="456120"/>
          </a:xfrm>
          <a:prstGeom prst="rect">
            <a:avLst/>
          </a:prstGeom>
          <a:solidFill>
            <a:srgbClr val="FFC000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000000"/>
                </a:solidFill>
                <a:latin typeface="Arial" panose="020B0604020202020204"/>
              </a:rPr>
              <a:t>Departamento</a:t>
            </a:r>
            <a:endParaRPr lang="pt-BR" sz="2400" b="0" strike="noStrike" spc="-1">
              <a:latin typeface="Arial" panose="020B0604020202020204"/>
            </a:endParaRPr>
          </a:p>
        </p:txBody>
      </p:sp>
      <p:sp>
        <p:nvSpPr>
          <p:cNvPr id="14" name="CustomShape 3">
            <a:extLst>
              <a:ext uri="{FF2B5EF4-FFF2-40B4-BE49-F238E27FC236}">
                <a16:creationId xmlns:a16="http://schemas.microsoft.com/office/drawing/2014/main" id="{EEE100EF-4A55-F18C-6F6D-C431832F61DF}"/>
              </a:ext>
            </a:extLst>
          </p:cNvPr>
          <p:cNvSpPr/>
          <p:nvPr/>
        </p:nvSpPr>
        <p:spPr>
          <a:xfrm>
            <a:off x="6227640" y="1152475"/>
            <a:ext cx="2458800" cy="456120"/>
          </a:xfrm>
          <a:prstGeom prst="rect">
            <a:avLst/>
          </a:prstGeom>
          <a:solidFill>
            <a:srgbClr val="FFC000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000000"/>
                </a:solidFill>
                <a:latin typeface="Arial" panose="020B0604020202020204"/>
              </a:rPr>
              <a:t>Funcionario</a:t>
            </a:r>
            <a:endParaRPr lang="pt-BR" sz="2400" b="0" strike="noStrike" spc="-1">
              <a:latin typeface="Arial" panose="020B0604020202020204"/>
            </a:endParaRPr>
          </a:p>
        </p:txBody>
      </p:sp>
      <p:sp>
        <p:nvSpPr>
          <p:cNvPr id="15" name="Line 4">
            <a:extLst>
              <a:ext uri="{FF2B5EF4-FFF2-40B4-BE49-F238E27FC236}">
                <a16:creationId xmlns:a16="http://schemas.microsoft.com/office/drawing/2014/main" id="{CB1B99B0-A889-0E3C-0A0C-041C11503760}"/>
              </a:ext>
            </a:extLst>
          </p:cNvPr>
          <p:cNvSpPr/>
          <p:nvPr/>
        </p:nvSpPr>
        <p:spPr>
          <a:xfrm>
            <a:off x="2706480" y="1384315"/>
            <a:ext cx="3521160" cy="360"/>
          </a:xfrm>
          <a:prstGeom prst="line">
            <a:avLst/>
          </a:prstGeom>
          <a:ln w="3492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6" name="CustomShape 6">
            <a:extLst>
              <a:ext uri="{FF2B5EF4-FFF2-40B4-BE49-F238E27FC236}">
                <a16:creationId xmlns:a16="http://schemas.microsoft.com/office/drawing/2014/main" id="{3F8F32CE-CC9F-DA11-FEEC-26D7E9867D63}"/>
              </a:ext>
            </a:extLst>
          </p:cNvPr>
          <p:cNvSpPr/>
          <p:nvPr/>
        </p:nvSpPr>
        <p:spPr>
          <a:xfrm>
            <a:off x="5700240" y="1430395"/>
            <a:ext cx="5241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1800" b="1" strike="noStrike" spc="-1">
                <a:solidFill>
                  <a:srgbClr val="FF0000"/>
                </a:solidFill>
                <a:latin typeface="Arial" panose="020B0604020202020204"/>
              </a:rPr>
              <a:t>1..*</a:t>
            </a:r>
            <a:endParaRPr lang="pt-BR" sz="1800" b="0" strike="noStrike" spc="-1">
              <a:latin typeface="Arial" panose="020B0604020202020204"/>
            </a:endParaRPr>
          </a:p>
        </p:txBody>
      </p:sp>
      <p:sp>
        <p:nvSpPr>
          <p:cNvPr id="17" name="CustomShape 9">
            <a:extLst>
              <a:ext uri="{FF2B5EF4-FFF2-40B4-BE49-F238E27FC236}">
                <a16:creationId xmlns:a16="http://schemas.microsoft.com/office/drawing/2014/main" id="{C59BAA55-F60E-64EB-4BAC-2E923027BB10}"/>
              </a:ext>
            </a:extLst>
          </p:cNvPr>
          <p:cNvSpPr/>
          <p:nvPr/>
        </p:nvSpPr>
        <p:spPr>
          <a:xfrm>
            <a:off x="607147" y="3882270"/>
            <a:ext cx="8064000" cy="873085"/>
          </a:xfrm>
          <a:prstGeom prst="rect">
            <a:avLst/>
          </a:prstGeom>
          <a:noFill/>
          <a:ln w="34920">
            <a:solidFill>
              <a:srgbClr val="008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1800" b="1" strike="noStrike" spc="-1">
                <a:solidFill>
                  <a:srgbClr val="0000CC"/>
                </a:solidFill>
                <a:latin typeface="Courier New" panose="02070309020205020404"/>
              </a:rPr>
              <a:t>public </a:t>
            </a:r>
            <a:r>
              <a:rPr lang="pt-BR" sz="1800" b="1" strike="noStrike" spc="-1">
                <a:solidFill>
                  <a:srgbClr val="0505FF"/>
                </a:solidFill>
                <a:latin typeface="Courier New" panose="02070309020205020404"/>
              </a:rPr>
              <a:t>class </a:t>
            </a:r>
            <a:r>
              <a:rPr lang="pt-BR" sz="1800" b="1" i="1" strike="noStrike" spc="-1">
                <a:solidFill>
                  <a:srgbClr val="000000"/>
                </a:solidFill>
                <a:latin typeface="Courier New" panose="02070309020205020404"/>
              </a:rPr>
              <a:t>Funcionario</a:t>
            </a: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lang="pt-BR" sz="18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   </a:t>
            </a:r>
            <a:r>
              <a:rPr lang="pt-BR" sz="1800" b="1" strike="noStrike" spc="-1">
                <a:solidFill>
                  <a:srgbClr val="0000CC"/>
                </a:solidFill>
                <a:latin typeface="Courier New" panose="02070309020205020404"/>
              </a:rPr>
              <a:t>private </a:t>
            </a:r>
            <a:r>
              <a:rPr lang="pt-BR" sz="1800" b="1" strike="noStrike" spc="-1">
                <a:solidFill>
                  <a:srgbClr val="FF0000"/>
                </a:solidFill>
                <a:latin typeface="Courier New" panose="02070309020205020404"/>
              </a:rPr>
              <a:t>Departamento </a:t>
            </a:r>
            <a:r>
              <a:rPr lang="pt-BR" sz="1800" b="1" strike="noStrike" spc="-1">
                <a:solidFill>
                  <a:srgbClr val="008000"/>
                </a:solidFill>
                <a:latin typeface="Courier New" panose="02070309020205020404"/>
              </a:rPr>
              <a:t>dep </a:t>
            </a: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= </a:t>
            </a:r>
            <a:r>
              <a:rPr lang="pt-BR" sz="1800" b="1" strike="noStrike" spc="-1">
                <a:solidFill>
                  <a:srgbClr val="0000CC"/>
                </a:solidFill>
                <a:latin typeface="Courier New" panose="02070309020205020404"/>
              </a:rPr>
              <a:t>new </a:t>
            </a:r>
            <a:r>
              <a:rPr lang="pt-BR" sz="1800" b="1" strike="noStrike" spc="-1">
                <a:solidFill>
                  <a:srgbClr val="FF0000"/>
                </a:solidFill>
                <a:latin typeface="Courier New" panose="02070309020205020404"/>
              </a:rPr>
              <a:t>Departamento()</a:t>
            </a: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lang="pt-BR" sz="1800" b="0" strike="noStrike" spc="-1">
              <a:latin typeface="Arial" panose="020B0604020202020204"/>
            </a:endParaRPr>
          </a:p>
          <a:p>
            <a:pPr marL="273050" indent="-272415">
              <a:lnSpc>
                <a:spcPct val="100000"/>
              </a:lnSpc>
            </a:pP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lang="pt-BR" sz="1800" b="0" strike="noStrike" spc="-1">
              <a:latin typeface="Arial" panose="020B0604020202020204"/>
            </a:endParaRPr>
          </a:p>
        </p:txBody>
      </p:sp>
      <p:sp>
        <p:nvSpPr>
          <p:cNvPr id="18" name="CustomShape 10">
            <a:extLst>
              <a:ext uri="{FF2B5EF4-FFF2-40B4-BE49-F238E27FC236}">
                <a16:creationId xmlns:a16="http://schemas.microsoft.com/office/drawing/2014/main" id="{165AE535-42CA-C7A8-9347-93F9A5648FB9}"/>
              </a:ext>
            </a:extLst>
          </p:cNvPr>
          <p:cNvSpPr/>
          <p:nvPr/>
        </p:nvSpPr>
        <p:spPr>
          <a:xfrm>
            <a:off x="620100" y="2159755"/>
            <a:ext cx="7903800" cy="1188671"/>
          </a:xfrm>
          <a:prstGeom prst="rect">
            <a:avLst/>
          </a:prstGeom>
          <a:noFill/>
          <a:ln w="34920">
            <a:solidFill>
              <a:srgbClr val="008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1800" b="1" strike="noStrike" spc="-1">
                <a:solidFill>
                  <a:srgbClr val="0000CC"/>
                </a:solidFill>
                <a:latin typeface="Courier New" panose="02070309020205020404"/>
              </a:rPr>
              <a:t>public </a:t>
            </a:r>
            <a:r>
              <a:rPr lang="pt-BR" sz="1800" b="1" strike="noStrike" spc="-1">
                <a:solidFill>
                  <a:srgbClr val="0505FF"/>
                </a:solidFill>
                <a:latin typeface="Courier New" panose="02070309020205020404"/>
              </a:rPr>
              <a:t>class </a:t>
            </a:r>
            <a:r>
              <a:rPr lang="pt-BR" sz="1800" b="1" i="1" strike="noStrike" spc="-1">
                <a:solidFill>
                  <a:srgbClr val="000000"/>
                </a:solidFill>
                <a:latin typeface="Courier New" panose="02070309020205020404"/>
              </a:rPr>
              <a:t>Departamento</a:t>
            </a: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lang="pt-BR" sz="18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lang="pt-BR" sz="1800" b="1" strike="noStrike" spc="-1">
                <a:solidFill>
                  <a:srgbClr val="0000CC"/>
                </a:solidFill>
                <a:latin typeface="Courier New" panose="02070309020205020404"/>
              </a:rPr>
              <a:t>private </a:t>
            </a: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ArrayList</a:t>
            </a:r>
            <a:r>
              <a:rPr lang="pt-BR" sz="1800" b="1" strike="noStrike" spc="-1">
                <a:solidFill>
                  <a:srgbClr val="FF0000"/>
                </a:solidFill>
                <a:latin typeface="Courier New" panose="02070309020205020404"/>
              </a:rPr>
              <a:t>&lt;Funcionario&gt; </a:t>
            </a:r>
            <a:r>
              <a:rPr lang="pt-BR" sz="1800" b="1" strike="noStrike" spc="-1">
                <a:solidFill>
                  <a:srgbClr val="008000"/>
                </a:solidFill>
                <a:latin typeface="Courier New" panose="02070309020205020404"/>
              </a:rPr>
              <a:t>funcionarios </a:t>
            </a: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= 			</a:t>
            </a:r>
            <a:r>
              <a:rPr lang="pt-BR" sz="1800" b="1" strike="noStrike" spc="-1">
                <a:solidFill>
                  <a:srgbClr val="0000CC"/>
                </a:solidFill>
                <a:latin typeface="Courier New" panose="02070309020205020404"/>
              </a:rPr>
              <a:t>new</a:t>
            </a: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 ArrayList</a:t>
            </a:r>
            <a:r>
              <a:rPr lang="pt-BR" sz="1800" b="1" strike="noStrike" spc="-1">
                <a:solidFill>
                  <a:srgbClr val="FF0000"/>
                </a:solidFill>
                <a:latin typeface="Courier New" panose="02070309020205020404"/>
              </a:rPr>
              <a:t>&lt;Funcionario&gt;</a:t>
            </a: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();</a:t>
            </a:r>
            <a:endParaRPr lang="pt-BR" sz="18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lang="pt-BR" sz="1800" b="0" strike="noStrike" spc="-1">
              <a:latin typeface="Arial" panose="020B0604020202020204"/>
            </a:endParaRPr>
          </a:p>
        </p:txBody>
      </p:sp>
      <p:sp>
        <p:nvSpPr>
          <p:cNvPr id="19" name="CustomShape 11">
            <a:extLst>
              <a:ext uri="{FF2B5EF4-FFF2-40B4-BE49-F238E27FC236}">
                <a16:creationId xmlns:a16="http://schemas.microsoft.com/office/drawing/2014/main" id="{3CD55DA2-62FD-5B28-A266-C51C287A07A4}"/>
              </a:ext>
            </a:extLst>
          </p:cNvPr>
          <p:cNvSpPr/>
          <p:nvPr/>
        </p:nvSpPr>
        <p:spPr>
          <a:xfrm>
            <a:off x="2710440" y="1430395"/>
            <a:ext cx="5619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1800" b="1" strike="noStrike" spc="-1">
                <a:solidFill>
                  <a:srgbClr val="FF0000"/>
                </a:solidFill>
                <a:latin typeface="Arial" panose="020B0604020202020204"/>
              </a:rPr>
              <a:t>0..1</a:t>
            </a:r>
            <a:endParaRPr lang="pt-BR" sz="1800" b="0" strike="noStrike" spc="-1">
              <a:latin typeface="Arial" panose="020B0604020202020204"/>
            </a:endParaRPr>
          </a:p>
        </p:txBody>
      </p:sp>
      <p:sp>
        <p:nvSpPr>
          <p:cNvPr id="20" name="CustomShape 12">
            <a:extLst>
              <a:ext uri="{FF2B5EF4-FFF2-40B4-BE49-F238E27FC236}">
                <a16:creationId xmlns:a16="http://schemas.microsoft.com/office/drawing/2014/main" id="{6DC2C3E1-6C56-7DCE-3724-31CB3145FA23}"/>
              </a:ext>
            </a:extLst>
          </p:cNvPr>
          <p:cNvSpPr/>
          <p:nvPr/>
        </p:nvSpPr>
        <p:spPr>
          <a:xfrm rot="5400000">
            <a:off x="4748040" y="1034395"/>
            <a:ext cx="334440" cy="225000"/>
          </a:xfrm>
          <a:prstGeom prst="triangle">
            <a:avLst>
              <a:gd name="adj" fmla="val 50000"/>
            </a:avLst>
          </a:prstGeom>
          <a:ln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5092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3F10140-F2DD-06EC-8C19-D89798F68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E56A2202-ED65-D543-95DA-F9F9D47CA2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Associação “muitos para muitos” em Java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21E49E40-03B0-5987-7205-116C6FE47C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CustomShape 6">
            <a:extLst>
              <a:ext uri="{FF2B5EF4-FFF2-40B4-BE49-F238E27FC236}">
                <a16:creationId xmlns:a16="http://schemas.microsoft.com/office/drawing/2014/main" id="{860BEAFF-B669-58A3-6D07-49BF7C0B4AFC}"/>
              </a:ext>
            </a:extLst>
          </p:cNvPr>
          <p:cNvSpPr/>
          <p:nvPr/>
        </p:nvSpPr>
        <p:spPr>
          <a:xfrm>
            <a:off x="432180" y="1120256"/>
            <a:ext cx="2376000" cy="456120"/>
          </a:xfrm>
          <a:prstGeom prst="rect">
            <a:avLst/>
          </a:prstGeom>
          <a:solidFill>
            <a:srgbClr val="FFC000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000000"/>
                </a:solidFill>
                <a:latin typeface="Arial" panose="020B0604020202020204"/>
              </a:rPr>
              <a:t>Departamento</a:t>
            </a:r>
            <a:endParaRPr lang="pt-BR" sz="2400" b="0" strike="noStrike" spc="-1">
              <a:latin typeface="Arial" panose="020B0604020202020204"/>
            </a:endParaRPr>
          </a:p>
        </p:txBody>
      </p:sp>
      <p:sp>
        <p:nvSpPr>
          <p:cNvPr id="3" name="CustomShape 7">
            <a:extLst>
              <a:ext uri="{FF2B5EF4-FFF2-40B4-BE49-F238E27FC236}">
                <a16:creationId xmlns:a16="http://schemas.microsoft.com/office/drawing/2014/main" id="{4ADB195D-BCE8-F43C-48AC-273FA301085C}"/>
              </a:ext>
            </a:extLst>
          </p:cNvPr>
          <p:cNvSpPr/>
          <p:nvPr/>
        </p:nvSpPr>
        <p:spPr>
          <a:xfrm>
            <a:off x="6335820" y="1120256"/>
            <a:ext cx="2458800" cy="456120"/>
          </a:xfrm>
          <a:prstGeom prst="rect">
            <a:avLst/>
          </a:prstGeom>
          <a:solidFill>
            <a:srgbClr val="FFC000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000000"/>
                </a:solidFill>
                <a:latin typeface="Arial" panose="020B0604020202020204"/>
              </a:rPr>
              <a:t>Funcionario</a:t>
            </a:r>
            <a:endParaRPr lang="pt-BR" sz="2400" b="0" strike="noStrike" spc="-1">
              <a:latin typeface="Arial" panose="020B0604020202020204"/>
            </a:endParaRPr>
          </a:p>
        </p:txBody>
      </p:sp>
      <p:sp>
        <p:nvSpPr>
          <p:cNvPr id="4" name="Line 8">
            <a:extLst>
              <a:ext uri="{FF2B5EF4-FFF2-40B4-BE49-F238E27FC236}">
                <a16:creationId xmlns:a16="http://schemas.microsoft.com/office/drawing/2014/main" id="{C6BE1B24-F6B0-011E-9E12-764122E8D0E0}"/>
              </a:ext>
            </a:extLst>
          </p:cNvPr>
          <p:cNvSpPr/>
          <p:nvPr/>
        </p:nvSpPr>
        <p:spPr>
          <a:xfrm>
            <a:off x="2808180" y="1352096"/>
            <a:ext cx="3527640" cy="360"/>
          </a:xfrm>
          <a:prstGeom prst="line">
            <a:avLst/>
          </a:prstGeom>
          <a:ln w="3492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5" name="CustomShape 9">
            <a:extLst>
              <a:ext uri="{FF2B5EF4-FFF2-40B4-BE49-F238E27FC236}">
                <a16:creationId xmlns:a16="http://schemas.microsoft.com/office/drawing/2014/main" id="{0CACCF62-6929-4394-9AA8-C877FEC66595}"/>
              </a:ext>
            </a:extLst>
          </p:cNvPr>
          <p:cNvSpPr/>
          <p:nvPr/>
        </p:nvSpPr>
        <p:spPr>
          <a:xfrm>
            <a:off x="3893220" y="917216"/>
            <a:ext cx="1014840" cy="39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2000" b="1" strike="noStrike" spc="-1">
                <a:solidFill>
                  <a:srgbClr val="000000"/>
                </a:solidFill>
                <a:latin typeface="Arial" panose="020B0604020202020204"/>
              </a:rPr>
              <a:t>Possui</a:t>
            </a:r>
            <a:endParaRPr lang="pt-BR" sz="2000" b="0" strike="noStrike" spc="-1">
              <a:latin typeface="Arial" panose="020B0604020202020204"/>
            </a:endParaRPr>
          </a:p>
        </p:txBody>
      </p:sp>
      <p:sp>
        <p:nvSpPr>
          <p:cNvPr id="6" name="CustomShape 10">
            <a:extLst>
              <a:ext uri="{FF2B5EF4-FFF2-40B4-BE49-F238E27FC236}">
                <a16:creationId xmlns:a16="http://schemas.microsoft.com/office/drawing/2014/main" id="{F92507C9-9E97-C2B6-C7AD-90CF62F8B98E}"/>
              </a:ext>
            </a:extLst>
          </p:cNvPr>
          <p:cNvSpPr/>
          <p:nvPr/>
        </p:nvSpPr>
        <p:spPr>
          <a:xfrm>
            <a:off x="5790420" y="1398176"/>
            <a:ext cx="5619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1800" b="1" strike="noStrike" spc="-1">
                <a:solidFill>
                  <a:srgbClr val="FF0000"/>
                </a:solidFill>
                <a:latin typeface="Arial" panose="020B0604020202020204"/>
              </a:rPr>
              <a:t>1..5</a:t>
            </a:r>
            <a:endParaRPr lang="pt-BR" sz="1800" b="0" strike="noStrike" spc="-1">
              <a:latin typeface="Arial" panose="020B0604020202020204"/>
            </a:endParaRPr>
          </a:p>
        </p:txBody>
      </p:sp>
      <p:sp>
        <p:nvSpPr>
          <p:cNvPr id="7" name="CustomShape 11">
            <a:extLst>
              <a:ext uri="{FF2B5EF4-FFF2-40B4-BE49-F238E27FC236}">
                <a16:creationId xmlns:a16="http://schemas.microsoft.com/office/drawing/2014/main" id="{9F7799F5-E654-741A-6312-E174E339A41B}"/>
              </a:ext>
            </a:extLst>
          </p:cNvPr>
          <p:cNvSpPr/>
          <p:nvPr/>
        </p:nvSpPr>
        <p:spPr>
          <a:xfrm>
            <a:off x="2812140" y="1398176"/>
            <a:ext cx="5619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1800" b="1" strike="noStrike" spc="-1">
                <a:solidFill>
                  <a:srgbClr val="FF0000"/>
                </a:solidFill>
                <a:latin typeface="Arial" panose="020B0604020202020204"/>
              </a:rPr>
              <a:t>1..2</a:t>
            </a:r>
            <a:endParaRPr lang="pt-BR" sz="1800" b="0" strike="noStrike" spc="-1">
              <a:latin typeface="Arial" panose="020B0604020202020204"/>
            </a:endParaRPr>
          </a:p>
        </p:txBody>
      </p:sp>
      <p:sp>
        <p:nvSpPr>
          <p:cNvPr id="8" name="CustomShape 12">
            <a:extLst>
              <a:ext uri="{FF2B5EF4-FFF2-40B4-BE49-F238E27FC236}">
                <a16:creationId xmlns:a16="http://schemas.microsoft.com/office/drawing/2014/main" id="{EDE6AC46-1498-C8B0-5611-D4CFB8947464}"/>
              </a:ext>
            </a:extLst>
          </p:cNvPr>
          <p:cNvSpPr/>
          <p:nvPr/>
        </p:nvSpPr>
        <p:spPr>
          <a:xfrm rot="5400000">
            <a:off x="4855140" y="1001096"/>
            <a:ext cx="336240" cy="225000"/>
          </a:xfrm>
          <a:prstGeom prst="triangle">
            <a:avLst>
              <a:gd name="adj" fmla="val 50000"/>
            </a:avLst>
          </a:prstGeom>
          <a:ln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9" name="CustomShape 1">
            <a:extLst>
              <a:ext uri="{FF2B5EF4-FFF2-40B4-BE49-F238E27FC236}">
                <a16:creationId xmlns:a16="http://schemas.microsoft.com/office/drawing/2014/main" id="{2A536372-7366-78B7-F043-3E6CD231AAE3}"/>
              </a:ext>
            </a:extLst>
          </p:cNvPr>
          <p:cNvSpPr/>
          <p:nvPr/>
        </p:nvSpPr>
        <p:spPr>
          <a:xfrm>
            <a:off x="407069" y="1762856"/>
            <a:ext cx="8532271" cy="366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73050" indent="-272415">
              <a:lnSpc>
                <a:spcPct val="100000"/>
              </a:lnSpc>
              <a:spcBef>
                <a:spcPts val="575"/>
              </a:spcBef>
              <a:buClr>
                <a:srgbClr val="2DA2BF"/>
              </a:buClr>
              <a:buSzPct val="85000"/>
              <a:buFont typeface="Wingdings 2" charset="2"/>
              <a:buChar char=""/>
            </a:pPr>
            <a:r>
              <a:rPr lang="pt-BR" sz="1800" b="0" strike="noStrike" spc="-1" dirty="0">
                <a:solidFill>
                  <a:srgbClr val="000000"/>
                </a:solidFill>
                <a:latin typeface="Arial" panose="020B0604020202020204"/>
              </a:rPr>
              <a:t>Departamento.java</a:t>
            </a:r>
            <a:endParaRPr lang="pt-BR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lang="pt-BR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lang="pt-BR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lang="pt-BR" sz="1800" b="0" strike="noStrike" spc="-1" dirty="0">
              <a:latin typeface="Arial" panose="020B0604020202020204"/>
            </a:endParaRPr>
          </a:p>
          <a:p>
            <a:pPr marL="273050" indent="-272415">
              <a:lnSpc>
                <a:spcPct val="100000"/>
              </a:lnSpc>
              <a:spcBef>
                <a:spcPts val="575"/>
              </a:spcBef>
              <a:buClr>
                <a:srgbClr val="2DA2BF"/>
              </a:buClr>
              <a:buSzPct val="85000"/>
              <a:buFont typeface="Wingdings 2" charset="2"/>
              <a:buChar char=""/>
            </a:pPr>
            <a:r>
              <a:rPr lang="pt-BR" sz="1800" b="0" strike="noStrike" spc="-1" dirty="0">
                <a:solidFill>
                  <a:srgbClr val="000000"/>
                </a:solidFill>
                <a:latin typeface="Arial" panose="020B0604020202020204"/>
              </a:rPr>
              <a:t>Funcionario.java</a:t>
            </a:r>
            <a:endParaRPr lang="pt-BR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lang="pt-BR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lang="pt-BR" sz="1800" b="0" strike="noStrike" spc="-1" dirty="0">
              <a:latin typeface="Arial" panose="020B0604020202020204"/>
            </a:endParaRPr>
          </a:p>
        </p:txBody>
      </p:sp>
      <p:sp>
        <p:nvSpPr>
          <p:cNvPr id="10" name="TextShape 4">
            <a:extLst>
              <a:ext uri="{FF2B5EF4-FFF2-40B4-BE49-F238E27FC236}">
                <a16:creationId xmlns:a16="http://schemas.microsoft.com/office/drawing/2014/main" id="{4CBE96C9-899F-0AF4-6E0C-9E0FB1D2A291}"/>
              </a:ext>
            </a:extLst>
          </p:cNvPr>
          <p:cNvSpPr txBox="1"/>
          <p:nvPr/>
        </p:nvSpPr>
        <p:spPr>
          <a:xfrm>
            <a:off x="502024" y="3526985"/>
            <a:ext cx="8292596" cy="928080"/>
          </a:xfrm>
          <a:prstGeom prst="rect">
            <a:avLst/>
          </a:prstGeom>
          <a:noFill/>
          <a:ln w="34920">
            <a:solidFill>
              <a:srgbClr val="008000"/>
            </a:solidFill>
            <a:round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pt-BR" sz="1800" b="1" strike="noStrike" spc="-1">
                <a:solidFill>
                  <a:srgbClr val="0000CC"/>
                </a:solidFill>
                <a:latin typeface="Courier New" panose="02070309020205020404"/>
              </a:rPr>
              <a:t>public </a:t>
            </a:r>
            <a:r>
              <a:rPr lang="pt-BR" sz="1800" b="1" strike="noStrike" spc="-1">
                <a:solidFill>
                  <a:srgbClr val="0505FF"/>
                </a:solidFill>
                <a:latin typeface="Courier New" panose="02070309020205020404"/>
              </a:rPr>
              <a:t>class </a:t>
            </a:r>
            <a:r>
              <a:rPr lang="pt-BR" sz="1800" b="1" i="1" strike="noStrike" spc="-1">
                <a:solidFill>
                  <a:srgbClr val="000000"/>
                </a:solidFill>
                <a:latin typeface="Courier New" panose="02070309020205020404"/>
              </a:rPr>
              <a:t>Funcionario</a:t>
            </a: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lang="pt-B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   </a:t>
            </a:r>
            <a:r>
              <a:rPr lang="pt-BR" sz="1800" b="1" strike="noStrike" spc="-1">
                <a:solidFill>
                  <a:srgbClr val="0000CC"/>
                </a:solidFill>
                <a:latin typeface="Courier New" panose="02070309020205020404"/>
              </a:rPr>
              <a:t>private </a:t>
            </a:r>
            <a:r>
              <a:rPr lang="pt-BR" sz="1800" b="1" strike="noStrike" spc="-1">
                <a:solidFill>
                  <a:srgbClr val="FF0000"/>
                </a:solidFill>
                <a:latin typeface="Courier New" panose="02070309020205020404"/>
              </a:rPr>
              <a:t>Departamento[] </a:t>
            </a:r>
            <a:r>
              <a:rPr lang="pt-BR" sz="1800" b="1" strike="noStrike" spc="-1">
                <a:solidFill>
                  <a:srgbClr val="008000"/>
                </a:solidFill>
                <a:latin typeface="Courier New" panose="02070309020205020404"/>
              </a:rPr>
              <a:t>deps </a:t>
            </a: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= </a:t>
            </a:r>
            <a:r>
              <a:rPr lang="pt-BR" sz="1800" b="1" strike="noStrike" spc="-1">
                <a:solidFill>
                  <a:srgbClr val="0000CC"/>
                </a:solidFill>
                <a:latin typeface="Courier New" panose="02070309020205020404"/>
              </a:rPr>
              <a:t>new </a:t>
            </a:r>
            <a:r>
              <a:rPr lang="pt-BR" sz="1800" b="1" strike="noStrike" spc="-1">
                <a:solidFill>
                  <a:srgbClr val="FF0000"/>
                </a:solidFill>
                <a:latin typeface="Courier New" panose="02070309020205020404"/>
              </a:rPr>
              <a:t>Departamento[2]</a:t>
            </a: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lang="pt-B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73050" indent="-272415">
              <a:lnSpc>
                <a:spcPct val="100000"/>
              </a:lnSpc>
            </a:pP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lang="pt-B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" name="CustomShape 5">
            <a:extLst>
              <a:ext uri="{FF2B5EF4-FFF2-40B4-BE49-F238E27FC236}">
                <a16:creationId xmlns:a16="http://schemas.microsoft.com/office/drawing/2014/main" id="{AAE14F78-36A9-FE78-2746-62B5F73C7E6B}"/>
              </a:ext>
            </a:extLst>
          </p:cNvPr>
          <p:cNvSpPr/>
          <p:nvPr/>
        </p:nvSpPr>
        <p:spPr>
          <a:xfrm>
            <a:off x="502024" y="2148487"/>
            <a:ext cx="8292596" cy="933657"/>
          </a:xfrm>
          <a:prstGeom prst="rect">
            <a:avLst/>
          </a:prstGeom>
          <a:noFill/>
          <a:ln w="34920">
            <a:solidFill>
              <a:srgbClr val="008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1800" b="1" strike="noStrike" spc="-1">
                <a:solidFill>
                  <a:srgbClr val="0000CC"/>
                </a:solidFill>
                <a:latin typeface="Courier New" panose="02070309020205020404"/>
              </a:rPr>
              <a:t>public </a:t>
            </a:r>
            <a:r>
              <a:rPr lang="pt-BR" sz="1800" b="1" strike="noStrike" spc="-1">
                <a:solidFill>
                  <a:srgbClr val="0505FF"/>
                </a:solidFill>
                <a:latin typeface="Courier New" panose="02070309020205020404"/>
              </a:rPr>
              <a:t>class </a:t>
            </a:r>
            <a:r>
              <a:rPr lang="pt-BR" sz="1800" b="1" i="1" strike="noStrike" spc="-1">
                <a:solidFill>
                  <a:srgbClr val="000000"/>
                </a:solidFill>
                <a:latin typeface="Courier New" panose="02070309020205020404"/>
              </a:rPr>
              <a:t>Departamento</a:t>
            </a: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lang="pt-BR" sz="18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   </a:t>
            </a:r>
            <a:r>
              <a:rPr lang="pt-BR" sz="1800" b="1" strike="noStrike" spc="-1">
                <a:solidFill>
                  <a:srgbClr val="0000CC"/>
                </a:solidFill>
                <a:latin typeface="Courier New" panose="02070309020205020404"/>
              </a:rPr>
              <a:t>private </a:t>
            </a:r>
            <a:r>
              <a:rPr lang="pt-BR" sz="1800" b="1" strike="noStrike" spc="-1">
                <a:solidFill>
                  <a:srgbClr val="FF0000"/>
                </a:solidFill>
                <a:latin typeface="Courier New" panose="02070309020205020404"/>
              </a:rPr>
              <a:t>Funcionario[] </a:t>
            </a:r>
            <a:r>
              <a:rPr lang="pt-BR" sz="1800" b="1" strike="noStrike" spc="-1">
                <a:solidFill>
                  <a:srgbClr val="008000"/>
                </a:solidFill>
                <a:latin typeface="Courier New" panose="02070309020205020404"/>
              </a:rPr>
              <a:t>funcs </a:t>
            </a: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= </a:t>
            </a:r>
            <a:r>
              <a:rPr lang="pt-BR" sz="1800" b="1" strike="noStrike" spc="-1">
                <a:solidFill>
                  <a:srgbClr val="0000CC"/>
                </a:solidFill>
                <a:latin typeface="Courier New" panose="02070309020205020404"/>
              </a:rPr>
              <a:t>new </a:t>
            </a:r>
            <a:r>
              <a:rPr lang="pt-BR" sz="1800" b="1" strike="noStrike" spc="-1">
                <a:solidFill>
                  <a:srgbClr val="FF0000"/>
                </a:solidFill>
                <a:latin typeface="Courier New" panose="02070309020205020404"/>
              </a:rPr>
              <a:t>Funcionario[5]</a:t>
            </a: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;</a:t>
            </a:r>
            <a:endParaRPr lang="pt-BR" sz="1800" b="0" strike="noStrike" spc="-1">
              <a:latin typeface="Arial" panose="020B0604020202020204"/>
            </a:endParaRPr>
          </a:p>
          <a:p>
            <a:pPr marL="273050" indent="-272415">
              <a:lnSpc>
                <a:spcPct val="100000"/>
              </a:lnSpc>
            </a:pP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lang="pt-BR" sz="1800" b="0" strike="noStrike" spc="-1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255477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613B7ADC-2E2B-977F-44D9-45A9BBF4D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894E8E29-5F79-468E-091B-B8CCD89F33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Associação “muitos para muitos” em Java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EE685CF7-5A0D-6D24-7A8A-D7D8011E3B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15" name="CustomShape 2">
            <a:extLst>
              <a:ext uri="{FF2B5EF4-FFF2-40B4-BE49-F238E27FC236}">
                <a16:creationId xmlns:a16="http://schemas.microsoft.com/office/drawing/2014/main" id="{47F82636-318A-8FFB-B414-8C83F0F86C56}"/>
              </a:ext>
            </a:extLst>
          </p:cNvPr>
          <p:cNvSpPr/>
          <p:nvPr/>
        </p:nvSpPr>
        <p:spPr>
          <a:xfrm>
            <a:off x="547680" y="1129221"/>
            <a:ext cx="2360160" cy="456120"/>
          </a:xfrm>
          <a:prstGeom prst="rect">
            <a:avLst/>
          </a:prstGeom>
          <a:solidFill>
            <a:srgbClr val="FFC000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000000"/>
                </a:solidFill>
                <a:latin typeface="Arial" panose="020B0604020202020204"/>
              </a:rPr>
              <a:t>Departamento</a:t>
            </a:r>
            <a:endParaRPr lang="pt-BR" sz="2400" b="0" strike="noStrike" spc="-1">
              <a:latin typeface="Arial" panose="020B0604020202020204"/>
            </a:endParaRPr>
          </a:p>
        </p:txBody>
      </p:sp>
      <p:sp>
        <p:nvSpPr>
          <p:cNvPr id="16" name="CustomShape 3">
            <a:extLst>
              <a:ext uri="{FF2B5EF4-FFF2-40B4-BE49-F238E27FC236}">
                <a16:creationId xmlns:a16="http://schemas.microsoft.com/office/drawing/2014/main" id="{D4414B6D-081E-FB83-BF48-0365A8B84B5C}"/>
              </a:ext>
            </a:extLst>
          </p:cNvPr>
          <p:cNvSpPr/>
          <p:nvPr/>
        </p:nvSpPr>
        <p:spPr>
          <a:xfrm>
            <a:off x="6380040" y="1129221"/>
            <a:ext cx="2231640" cy="456120"/>
          </a:xfrm>
          <a:prstGeom prst="rect">
            <a:avLst/>
          </a:prstGeom>
          <a:solidFill>
            <a:srgbClr val="FFC000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000000"/>
                </a:solidFill>
                <a:latin typeface="Arial" panose="020B0604020202020204"/>
              </a:rPr>
              <a:t>Funcionario</a:t>
            </a:r>
            <a:endParaRPr lang="pt-BR" sz="2400" b="0" strike="noStrike" spc="-1">
              <a:latin typeface="Arial" panose="020B0604020202020204"/>
            </a:endParaRPr>
          </a:p>
        </p:txBody>
      </p:sp>
      <p:sp>
        <p:nvSpPr>
          <p:cNvPr id="17" name="Line 4">
            <a:extLst>
              <a:ext uri="{FF2B5EF4-FFF2-40B4-BE49-F238E27FC236}">
                <a16:creationId xmlns:a16="http://schemas.microsoft.com/office/drawing/2014/main" id="{B2305B12-CDB2-181B-ACD7-AC28983577A9}"/>
              </a:ext>
            </a:extLst>
          </p:cNvPr>
          <p:cNvSpPr/>
          <p:nvPr/>
        </p:nvSpPr>
        <p:spPr>
          <a:xfrm>
            <a:off x="2908200" y="1361061"/>
            <a:ext cx="3471840" cy="360"/>
          </a:xfrm>
          <a:prstGeom prst="line">
            <a:avLst/>
          </a:prstGeom>
          <a:ln w="3492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8" name="CustomShape 5">
            <a:extLst>
              <a:ext uri="{FF2B5EF4-FFF2-40B4-BE49-F238E27FC236}">
                <a16:creationId xmlns:a16="http://schemas.microsoft.com/office/drawing/2014/main" id="{30ADB99A-889A-96F7-03EE-E8E2C4265959}"/>
              </a:ext>
            </a:extLst>
          </p:cNvPr>
          <p:cNvSpPr/>
          <p:nvPr/>
        </p:nvSpPr>
        <p:spPr>
          <a:xfrm>
            <a:off x="3937440" y="926181"/>
            <a:ext cx="1014840" cy="39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2000" b="1" strike="noStrike" spc="-1">
                <a:solidFill>
                  <a:srgbClr val="000000"/>
                </a:solidFill>
                <a:latin typeface="Arial" panose="020B0604020202020204"/>
              </a:rPr>
              <a:t>Possui</a:t>
            </a:r>
            <a:endParaRPr lang="pt-BR" sz="2000" b="0" strike="noStrike" spc="-1">
              <a:latin typeface="Arial" panose="020B0604020202020204"/>
            </a:endParaRPr>
          </a:p>
        </p:txBody>
      </p:sp>
      <p:sp>
        <p:nvSpPr>
          <p:cNvPr id="19" name="CustomShape 6">
            <a:extLst>
              <a:ext uri="{FF2B5EF4-FFF2-40B4-BE49-F238E27FC236}">
                <a16:creationId xmlns:a16="http://schemas.microsoft.com/office/drawing/2014/main" id="{BA789CFE-9BCC-B9E3-04CB-05621B9C4140}"/>
              </a:ext>
            </a:extLst>
          </p:cNvPr>
          <p:cNvSpPr/>
          <p:nvPr/>
        </p:nvSpPr>
        <p:spPr>
          <a:xfrm>
            <a:off x="5852640" y="1407141"/>
            <a:ext cx="5241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1800" b="1" strike="noStrike" spc="-1">
                <a:solidFill>
                  <a:srgbClr val="FF0000"/>
                </a:solidFill>
                <a:latin typeface="Arial" panose="020B0604020202020204"/>
              </a:rPr>
              <a:t>0..*</a:t>
            </a:r>
            <a:endParaRPr lang="pt-BR" sz="1800" b="0" strike="noStrike" spc="-1">
              <a:latin typeface="Arial" panose="020B0604020202020204"/>
            </a:endParaRPr>
          </a:p>
        </p:txBody>
      </p:sp>
      <p:sp>
        <p:nvSpPr>
          <p:cNvPr id="20" name="CustomShape 11">
            <a:extLst>
              <a:ext uri="{FF2B5EF4-FFF2-40B4-BE49-F238E27FC236}">
                <a16:creationId xmlns:a16="http://schemas.microsoft.com/office/drawing/2014/main" id="{8F302B1E-3BD5-BDB0-C3AD-D76F6F63728A}"/>
              </a:ext>
            </a:extLst>
          </p:cNvPr>
          <p:cNvSpPr/>
          <p:nvPr/>
        </p:nvSpPr>
        <p:spPr>
          <a:xfrm>
            <a:off x="2973000" y="1407141"/>
            <a:ext cx="5241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1800" b="1" strike="noStrike" spc="-1">
                <a:solidFill>
                  <a:srgbClr val="FF0000"/>
                </a:solidFill>
                <a:latin typeface="Arial" panose="020B0604020202020204"/>
              </a:rPr>
              <a:t>1..*</a:t>
            </a:r>
            <a:endParaRPr lang="pt-BR" sz="1800" b="0" strike="noStrike" spc="-1">
              <a:latin typeface="Arial" panose="020B0604020202020204"/>
            </a:endParaRPr>
          </a:p>
        </p:txBody>
      </p:sp>
      <p:sp>
        <p:nvSpPr>
          <p:cNvPr id="21" name="CustomShape 12">
            <a:extLst>
              <a:ext uri="{FF2B5EF4-FFF2-40B4-BE49-F238E27FC236}">
                <a16:creationId xmlns:a16="http://schemas.microsoft.com/office/drawing/2014/main" id="{6492A455-A882-B9A4-9787-0F5D3468686F}"/>
              </a:ext>
            </a:extLst>
          </p:cNvPr>
          <p:cNvSpPr/>
          <p:nvPr/>
        </p:nvSpPr>
        <p:spPr>
          <a:xfrm rot="5400000">
            <a:off x="4897560" y="1010061"/>
            <a:ext cx="336240" cy="225000"/>
          </a:xfrm>
          <a:prstGeom prst="triangle">
            <a:avLst>
              <a:gd name="adj" fmla="val 50000"/>
            </a:avLst>
          </a:prstGeom>
          <a:ln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22" name="CustomShape 1">
            <a:extLst>
              <a:ext uri="{FF2B5EF4-FFF2-40B4-BE49-F238E27FC236}">
                <a16:creationId xmlns:a16="http://schemas.microsoft.com/office/drawing/2014/main" id="{F727ECC2-C769-323B-5817-90BC012B8731}"/>
              </a:ext>
            </a:extLst>
          </p:cNvPr>
          <p:cNvSpPr/>
          <p:nvPr/>
        </p:nvSpPr>
        <p:spPr>
          <a:xfrm>
            <a:off x="311700" y="1585341"/>
            <a:ext cx="8507160" cy="366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73050" indent="-272415">
              <a:lnSpc>
                <a:spcPct val="100000"/>
              </a:lnSpc>
              <a:spcBef>
                <a:spcPts val="575"/>
              </a:spcBef>
              <a:buClr>
                <a:srgbClr val="2DA2BF"/>
              </a:buClr>
              <a:buSzPct val="85000"/>
              <a:buFont typeface="Wingdings 2" charset="2"/>
              <a:buChar char=""/>
            </a:pPr>
            <a:r>
              <a:rPr lang="pt-BR" sz="1800" b="0" strike="noStrike" spc="-1" dirty="0">
                <a:solidFill>
                  <a:srgbClr val="000000"/>
                </a:solidFill>
                <a:latin typeface="Arial" panose="020B0604020202020204"/>
              </a:rPr>
              <a:t>Departamento.java</a:t>
            </a:r>
            <a:endParaRPr lang="pt-BR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lang="pt-BR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lang="pt-BR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lang="pt-BR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lang="pt-BR" sz="1800" b="0" strike="noStrike" spc="-1" dirty="0">
              <a:latin typeface="Arial" panose="020B0604020202020204"/>
            </a:endParaRPr>
          </a:p>
          <a:p>
            <a:pPr marL="273050" indent="-272415">
              <a:lnSpc>
                <a:spcPct val="100000"/>
              </a:lnSpc>
              <a:spcBef>
                <a:spcPts val="575"/>
              </a:spcBef>
              <a:buClr>
                <a:srgbClr val="2DA2BF"/>
              </a:buClr>
              <a:buSzPct val="85000"/>
              <a:buFont typeface="Wingdings 2" charset="2"/>
              <a:buChar char=""/>
            </a:pPr>
            <a:r>
              <a:rPr lang="pt-BR" sz="1800" b="0" strike="noStrike" spc="-1" dirty="0">
                <a:solidFill>
                  <a:srgbClr val="000000"/>
                </a:solidFill>
                <a:latin typeface="Arial" panose="020B0604020202020204"/>
              </a:rPr>
              <a:t>Funcionario.java</a:t>
            </a:r>
            <a:endParaRPr lang="pt-BR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lang="pt-BR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lang="pt-BR" sz="1800" b="0" strike="noStrike" spc="-1" dirty="0">
              <a:latin typeface="Arial" panose="020B0604020202020204"/>
            </a:endParaRPr>
          </a:p>
        </p:txBody>
      </p:sp>
      <p:sp>
        <p:nvSpPr>
          <p:cNvPr id="23" name="CustomShape 9">
            <a:extLst>
              <a:ext uri="{FF2B5EF4-FFF2-40B4-BE49-F238E27FC236}">
                <a16:creationId xmlns:a16="http://schemas.microsoft.com/office/drawing/2014/main" id="{719E0B09-50B9-5E4D-E49B-047761815753}"/>
              </a:ext>
            </a:extLst>
          </p:cNvPr>
          <p:cNvSpPr/>
          <p:nvPr/>
        </p:nvSpPr>
        <p:spPr>
          <a:xfrm>
            <a:off x="547680" y="3671816"/>
            <a:ext cx="8064000" cy="1158055"/>
          </a:xfrm>
          <a:prstGeom prst="rect">
            <a:avLst/>
          </a:prstGeom>
          <a:noFill/>
          <a:ln w="34920">
            <a:solidFill>
              <a:srgbClr val="008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1800" b="1" strike="noStrike" spc="-1">
                <a:solidFill>
                  <a:srgbClr val="0000CC"/>
                </a:solidFill>
                <a:latin typeface="Courier New" panose="02070309020205020404"/>
              </a:rPr>
              <a:t>public </a:t>
            </a:r>
            <a:r>
              <a:rPr lang="pt-BR" sz="1800" b="1" strike="noStrike" spc="-1">
                <a:solidFill>
                  <a:srgbClr val="0505FF"/>
                </a:solidFill>
                <a:latin typeface="Courier New" panose="02070309020205020404"/>
              </a:rPr>
              <a:t>class </a:t>
            </a:r>
            <a:r>
              <a:rPr lang="pt-BR" sz="1800" b="1" i="1" strike="noStrike" spc="-1">
                <a:solidFill>
                  <a:srgbClr val="000000"/>
                </a:solidFill>
                <a:latin typeface="Courier New" panose="02070309020205020404"/>
              </a:rPr>
              <a:t>Funcionario</a:t>
            </a: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lang="pt-BR" sz="18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   </a:t>
            </a:r>
            <a:r>
              <a:rPr lang="pt-BR" sz="1800" b="1" strike="noStrike" spc="-1">
                <a:solidFill>
                  <a:srgbClr val="0000CC"/>
                </a:solidFill>
                <a:latin typeface="Courier New" panose="02070309020205020404"/>
              </a:rPr>
              <a:t>private </a:t>
            </a: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ArrayList</a:t>
            </a:r>
            <a:r>
              <a:rPr lang="pt-BR" sz="1800" b="1" strike="noStrike" spc="-1">
                <a:solidFill>
                  <a:srgbClr val="FF0000"/>
                </a:solidFill>
                <a:latin typeface="Courier New" panose="02070309020205020404"/>
              </a:rPr>
              <a:t>&lt;Departamento&gt; </a:t>
            </a:r>
            <a:r>
              <a:rPr lang="pt-BR" sz="1800" b="1" strike="noStrike" spc="-1">
                <a:solidFill>
                  <a:srgbClr val="008000"/>
                </a:solidFill>
                <a:latin typeface="Courier New" panose="02070309020205020404"/>
              </a:rPr>
              <a:t>deps </a:t>
            </a: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= 			</a:t>
            </a:r>
            <a:r>
              <a:rPr lang="pt-BR" sz="1800" b="1" strike="noStrike" spc="-1">
                <a:solidFill>
                  <a:srgbClr val="0000CC"/>
                </a:solidFill>
                <a:latin typeface="Courier New" panose="02070309020205020404"/>
              </a:rPr>
              <a:t>new</a:t>
            </a: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 ArrayList</a:t>
            </a:r>
            <a:r>
              <a:rPr lang="pt-BR" sz="1800" b="1" strike="noStrike" spc="-1">
                <a:solidFill>
                  <a:srgbClr val="FF0000"/>
                </a:solidFill>
                <a:latin typeface="Courier New" panose="02070309020205020404"/>
              </a:rPr>
              <a:t>&lt;Departamento&gt;</a:t>
            </a: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(); </a:t>
            </a:r>
            <a:endParaRPr lang="pt-BR" sz="1800" b="0" strike="noStrike" spc="-1">
              <a:latin typeface="Arial" panose="020B0604020202020204"/>
            </a:endParaRPr>
          </a:p>
          <a:p>
            <a:pPr marL="273050" indent="-272415">
              <a:lnSpc>
                <a:spcPct val="100000"/>
              </a:lnSpc>
            </a:pPr>
            <a:r>
              <a:rPr lang="pt-BR" sz="1800" b="1" strike="noStrike" spc="-1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lang="pt-BR" sz="1800" b="0" strike="noStrike" spc="-1">
              <a:latin typeface="Arial" panose="020B0604020202020204"/>
            </a:endParaRPr>
          </a:p>
        </p:txBody>
      </p:sp>
      <p:sp>
        <p:nvSpPr>
          <p:cNvPr id="24" name="CustomShape 10">
            <a:extLst>
              <a:ext uri="{FF2B5EF4-FFF2-40B4-BE49-F238E27FC236}">
                <a16:creationId xmlns:a16="http://schemas.microsoft.com/office/drawing/2014/main" id="{C17B5088-448A-ADBE-B10D-8D07C80105F7}"/>
              </a:ext>
            </a:extLst>
          </p:cNvPr>
          <p:cNvSpPr/>
          <p:nvPr/>
        </p:nvSpPr>
        <p:spPr>
          <a:xfrm>
            <a:off x="547680" y="2047792"/>
            <a:ext cx="8064000" cy="1161573"/>
          </a:xfrm>
          <a:prstGeom prst="rect">
            <a:avLst/>
          </a:prstGeom>
          <a:noFill/>
          <a:ln w="34920">
            <a:solidFill>
              <a:srgbClr val="008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1800" b="1" strike="noStrike" spc="-1" dirty="0" err="1">
                <a:solidFill>
                  <a:srgbClr val="0000CC"/>
                </a:solidFill>
                <a:latin typeface="Courier New" panose="02070309020205020404"/>
              </a:rPr>
              <a:t>public</a:t>
            </a:r>
            <a:r>
              <a:rPr lang="pt-BR" sz="1800" b="1" strike="noStrike" spc="-1" dirty="0">
                <a:solidFill>
                  <a:srgbClr val="0000CC"/>
                </a:solidFill>
                <a:latin typeface="Courier New" panose="02070309020205020404"/>
              </a:rPr>
              <a:t> </a:t>
            </a:r>
            <a:r>
              <a:rPr lang="pt-BR" sz="1800" b="1" strike="noStrike" spc="-1" dirty="0" err="1">
                <a:solidFill>
                  <a:srgbClr val="0505FF"/>
                </a:solidFill>
                <a:latin typeface="Courier New" panose="02070309020205020404"/>
              </a:rPr>
              <a:t>class</a:t>
            </a:r>
            <a:r>
              <a:rPr lang="pt-BR" sz="1800" b="1" strike="noStrike" spc="-1" dirty="0">
                <a:solidFill>
                  <a:srgbClr val="0505FF"/>
                </a:solidFill>
                <a:latin typeface="Courier New" panose="02070309020205020404"/>
              </a:rPr>
              <a:t> </a:t>
            </a:r>
            <a:r>
              <a:rPr lang="pt-BR" sz="1800" b="1" i="1" strike="noStrike" spc="-1" dirty="0">
                <a:solidFill>
                  <a:srgbClr val="000000"/>
                </a:solidFill>
                <a:latin typeface="Courier New" panose="02070309020205020404"/>
              </a:rPr>
              <a:t>Departamento</a:t>
            </a:r>
            <a:r>
              <a:rPr lang="pt-BR" sz="1800" b="1" strike="noStrike" spc="-1" dirty="0">
                <a:solidFill>
                  <a:srgbClr val="000000"/>
                </a:solidFill>
                <a:latin typeface="Courier New" panose="02070309020205020404"/>
              </a:rPr>
              <a:t>{</a:t>
            </a:r>
            <a:endParaRPr lang="pt-BR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pt-BR" sz="1800" b="1" strike="noStrike" spc="-1" dirty="0">
                <a:solidFill>
                  <a:srgbClr val="000000"/>
                </a:solidFill>
                <a:latin typeface="Courier New" panose="02070309020205020404"/>
              </a:rPr>
              <a:t>    </a:t>
            </a:r>
            <a:r>
              <a:rPr lang="pt-BR" sz="1800" b="1" strike="noStrike" spc="-1" dirty="0" err="1">
                <a:solidFill>
                  <a:srgbClr val="0000CC"/>
                </a:solidFill>
                <a:latin typeface="Courier New" panose="02070309020205020404"/>
              </a:rPr>
              <a:t>private</a:t>
            </a:r>
            <a:r>
              <a:rPr lang="pt-BR" sz="1800" b="1" strike="noStrike" spc="-1" dirty="0">
                <a:solidFill>
                  <a:srgbClr val="0000CC"/>
                </a:solidFill>
                <a:latin typeface="Courier New" panose="02070309020205020404"/>
              </a:rPr>
              <a:t> </a:t>
            </a:r>
            <a:r>
              <a:rPr lang="pt-BR" sz="1800" b="1" strike="noStrike" spc="-1" dirty="0" err="1">
                <a:solidFill>
                  <a:srgbClr val="000000"/>
                </a:solidFill>
                <a:latin typeface="Courier New" panose="02070309020205020404"/>
              </a:rPr>
              <a:t>ArrayList</a:t>
            </a:r>
            <a:r>
              <a:rPr lang="pt-BR" sz="1800" b="1" strike="noStrike" spc="-1" dirty="0">
                <a:solidFill>
                  <a:srgbClr val="FF0000"/>
                </a:solidFill>
                <a:latin typeface="Courier New" panose="02070309020205020404"/>
              </a:rPr>
              <a:t>&lt;</a:t>
            </a:r>
            <a:r>
              <a:rPr lang="pt-BR" sz="1800" b="1" strike="noStrike" spc="-1" dirty="0" err="1">
                <a:solidFill>
                  <a:srgbClr val="FF0000"/>
                </a:solidFill>
                <a:latin typeface="Courier New" panose="02070309020205020404"/>
              </a:rPr>
              <a:t>Funcionario</a:t>
            </a:r>
            <a:r>
              <a:rPr lang="pt-BR" sz="1800" b="1" strike="noStrike" spc="-1" dirty="0">
                <a:solidFill>
                  <a:srgbClr val="FF0000"/>
                </a:solidFill>
                <a:latin typeface="Courier New" panose="02070309020205020404"/>
              </a:rPr>
              <a:t>&gt; </a:t>
            </a:r>
            <a:r>
              <a:rPr lang="pt-BR" sz="1800" b="1" strike="noStrike" spc="-1" dirty="0" err="1">
                <a:solidFill>
                  <a:srgbClr val="008000"/>
                </a:solidFill>
                <a:latin typeface="Courier New" panose="02070309020205020404"/>
              </a:rPr>
              <a:t>funcs</a:t>
            </a:r>
            <a:r>
              <a:rPr lang="pt-BR" sz="1800" b="1" strike="noStrike" spc="-1" dirty="0">
                <a:solidFill>
                  <a:srgbClr val="008000"/>
                </a:solidFill>
                <a:latin typeface="Courier New" panose="02070309020205020404"/>
              </a:rPr>
              <a:t> </a:t>
            </a:r>
            <a:r>
              <a:rPr lang="pt-BR" sz="1800" b="1" strike="noStrike" spc="-1" dirty="0">
                <a:solidFill>
                  <a:srgbClr val="000000"/>
                </a:solidFill>
                <a:latin typeface="Courier New" panose="02070309020205020404"/>
              </a:rPr>
              <a:t>= </a:t>
            </a:r>
            <a:endParaRPr lang="pt-BR" sz="1800" b="0" strike="noStrike" spc="-1" dirty="0"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pt-BR" sz="1800" b="1" strike="noStrike" spc="-1" dirty="0">
                <a:solidFill>
                  <a:srgbClr val="0000CC"/>
                </a:solidFill>
                <a:latin typeface="Courier New" panose="02070309020205020404"/>
              </a:rPr>
              <a:t>		new </a:t>
            </a:r>
            <a:r>
              <a:rPr lang="pt-BR" sz="1800" b="1" strike="noStrike" spc="-1" dirty="0" err="1">
                <a:solidFill>
                  <a:srgbClr val="000000"/>
                </a:solidFill>
                <a:latin typeface="Courier New" panose="02070309020205020404"/>
              </a:rPr>
              <a:t>ArrayList</a:t>
            </a:r>
            <a:r>
              <a:rPr lang="pt-BR" sz="1800" b="1" strike="noStrike" spc="-1" dirty="0">
                <a:solidFill>
                  <a:srgbClr val="FF0000"/>
                </a:solidFill>
                <a:latin typeface="Courier New" panose="02070309020205020404"/>
              </a:rPr>
              <a:t>&lt;</a:t>
            </a:r>
            <a:r>
              <a:rPr lang="pt-BR" sz="1800" b="1" strike="noStrike" spc="-1" dirty="0" err="1">
                <a:solidFill>
                  <a:srgbClr val="FF0000"/>
                </a:solidFill>
                <a:latin typeface="Courier New" panose="02070309020205020404"/>
              </a:rPr>
              <a:t>Funcionario</a:t>
            </a:r>
            <a:r>
              <a:rPr lang="pt-BR" sz="1800" b="1" strike="noStrike" spc="-1" dirty="0">
                <a:solidFill>
                  <a:srgbClr val="FF0000"/>
                </a:solidFill>
                <a:latin typeface="Courier New" panose="02070309020205020404"/>
              </a:rPr>
              <a:t>&gt;</a:t>
            </a:r>
            <a:r>
              <a:rPr lang="pt-BR" sz="1800" b="1" strike="noStrike" spc="-1" dirty="0">
                <a:solidFill>
                  <a:srgbClr val="000000"/>
                </a:solidFill>
                <a:latin typeface="Courier New" panose="02070309020205020404"/>
              </a:rPr>
              <a:t>();</a:t>
            </a:r>
            <a:endParaRPr lang="pt-BR" sz="1800" b="0" strike="noStrike" spc="-1" dirty="0">
              <a:latin typeface="Arial" panose="020B0604020202020204"/>
            </a:endParaRPr>
          </a:p>
          <a:p>
            <a:pPr marL="273050" indent="-272415">
              <a:lnSpc>
                <a:spcPct val="100000"/>
              </a:lnSpc>
            </a:pPr>
            <a:r>
              <a:rPr lang="pt-BR" sz="1800" b="1" strike="noStrike" spc="-1" dirty="0">
                <a:solidFill>
                  <a:srgbClr val="000000"/>
                </a:solidFill>
                <a:latin typeface="Courier New" panose="02070309020205020404"/>
              </a:rPr>
              <a:t>}</a:t>
            </a:r>
            <a:endParaRPr lang="pt-BR" sz="1800" b="0" strike="noStrike" spc="-1" dirty="0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885551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57F48CD-5910-4CB9-720D-5476830DD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45A0CCB5-A4AE-E5FE-6FB5-186C173D6D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Links Interessantes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35387EED-CE0F-4EAB-7BD6-ECE5E62A57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73050" indent="-272415">
              <a:lnSpc>
                <a:spcPct val="100000"/>
              </a:lnSpc>
              <a:spcBef>
                <a:spcPts val="575"/>
              </a:spcBef>
              <a:buClr>
                <a:srgbClr val="2DA2BF"/>
              </a:buClr>
              <a:buSzPct val="85000"/>
              <a:buFont typeface="Wingdings 2" charset="2"/>
              <a:buChar char=""/>
            </a:pPr>
            <a:r>
              <a:rPr lang="pt-BR" u="sng" spc="-1" dirty="0">
                <a:solidFill>
                  <a:srgbClr val="FF8119"/>
                </a:solidFill>
                <a:hlinkClick r:id="rId3"/>
              </a:rPr>
              <a:t>https://plleon.wordpress.com/2009/02/22/associacoes-entre-classes-de-objetos-uml/</a:t>
            </a:r>
            <a:endParaRPr lang="pt-BR" spc="-1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lang="pt-BR" spc="-1" dirty="0">
              <a:solidFill>
                <a:srgbClr val="000000"/>
              </a:solidFill>
            </a:endParaRPr>
          </a:p>
          <a:p>
            <a:pPr marL="273050" indent="-272415">
              <a:lnSpc>
                <a:spcPct val="100000"/>
              </a:lnSpc>
              <a:spcBef>
                <a:spcPts val="575"/>
              </a:spcBef>
              <a:buClr>
                <a:srgbClr val="2DA2BF"/>
              </a:buClr>
              <a:buSzPct val="85000"/>
              <a:buFont typeface="Wingdings 2" charset="2"/>
              <a:buChar char=""/>
            </a:pPr>
            <a:r>
              <a:rPr lang="pt-BR" u="sng" spc="-1" dirty="0">
                <a:solidFill>
                  <a:srgbClr val="FF8119"/>
                </a:solidFill>
                <a:hlinkClick r:id="rId4"/>
              </a:rPr>
              <a:t>https://www.youtube.com/watch?v=vJvRhQ6Ggt0</a:t>
            </a:r>
            <a:endParaRPr lang="pt-BR" u="sng" spc="-1" dirty="0">
              <a:solidFill>
                <a:srgbClr val="FF8119"/>
              </a:solidFill>
            </a:endParaRPr>
          </a:p>
          <a:p>
            <a:pPr marL="273050" indent="-272415">
              <a:lnSpc>
                <a:spcPct val="100000"/>
              </a:lnSpc>
              <a:spcBef>
                <a:spcPts val="575"/>
              </a:spcBef>
              <a:buClr>
                <a:srgbClr val="2DA2BF"/>
              </a:buClr>
              <a:buSzPct val="85000"/>
              <a:buFont typeface="Wingdings 2" charset="2"/>
              <a:buChar char=""/>
            </a:pPr>
            <a:endParaRPr lang="pt-BR" u="sng" spc="-1" dirty="0">
              <a:solidFill>
                <a:srgbClr val="FF8119"/>
              </a:solidFill>
            </a:endParaRPr>
          </a:p>
          <a:p>
            <a:pPr marL="273050" indent="-272415">
              <a:lnSpc>
                <a:spcPct val="100000"/>
              </a:lnSpc>
              <a:spcBef>
                <a:spcPts val="575"/>
              </a:spcBef>
              <a:buClr>
                <a:srgbClr val="2DA2BF"/>
              </a:buClr>
              <a:buSzPct val="85000"/>
              <a:buFont typeface="Wingdings 2" charset="2"/>
              <a:buChar char=""/>
            </a:pPr>
            <a:r>
              <a:rPr lang="pt-BR" spc="-1" dirty="0">
                <a:solidFill>
                  <a:srgbClr val="000000"/>
                </a:solidFill>
              </a:rPr>
              <a:t>https://www.youtube.com/watch?v=HOjV9M6pRQQ</a:t>
            </a: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lang="pt-BR" spc="-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3775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2EA0D7B-25FA-F8B9-80CD-582B88A9C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A93AEB86-A782-6DF2-C7DC-4F8CBF4FAB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Vamos para a Prática!!!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C1FF0F07-F643-BD0C-9B27-D0168770F3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F4880074-3BDD-6DD1-23D2-484BC1BF2370}"/>
              </a:ext>
            </a:extLst>
          </p:cNvPr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1836" y="1611427"/>
            <a:ext cx="2612682" cy="2498492"/>
          </a:xfrm>
          <a:prstGeom prst="rect">
            <a:avLst/>
          </a:prstGeom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41A653-2176-81BC-F929-FEC2BE327D9B}"/>
              </a:ext>
            </a:extLst>
          </p:cNvPr>
          <p:cNvPicPr/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35641" y="1512753"/>
            <a:ext cx="2462266" cy="269584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513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556D44F5-9E7F-C4DA-C3B2-AD1A8B4FE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5FD593FC-D99F-31BF-668E-CEF024E617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Exemplo Prático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67CD8142-9627-CC60-4224-7BD4C1D2BC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t-BR" spc="-1" dirty="0">
                <a:solidFill>
                  <a:srgbClr val="000000"/>
                </a:solidFill>
              </a:rPr>
              <a:t>Escreva um programa em Java que implemente o Diagrama de Classes apresentado abaixo.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7FC235B3-D5A7-635D-C04A-33605ED49F37}"/>
              </a:ext>
            </a:extLst>
          </p:cNvPr>
          <p:cNvGrpSpPr/>
          <p:nvPr/>
        </p:nvGrpSpPr>
        <p:grpSpPr>
          <a:xfrm>
            <a:off x="351819" y="2264753"/>
            <a:ext cx="3025440" cy="1960200"/>
            <a:chOff x="468360" y="3268800"/>
            <a:chExt cx="3025440" cy="1960200"/>
          </a:xfrm>
          <a:solidFill>
            <a:schemeClr val="bg1"/>
          </a:solidFill>
        </p:grpSpPr>
        <p:sp>
          <p:nvSpPr>
            <p:cNvPr id="3" name="CustomShape 5">
              <a:extLst>
                <a:ext uri="{FF2B5EF4-FFF2-40B4-BE49-F238E27FC236}">
                  <a16:creationId xmlns:a16="http://schemas.microsoft.com/office/drawing/2014/main" id="{3E244F50-CE08-740B-EBA8-0CC9261EE70A}"/>
                </a:ext>
              </a:extLst>
            </p:cNvPr>
            <p:cNvSpPr/>
            <p:nvPr/>
          </p:nvSpPr>
          <p:spPr>
            <a:xfrm>
              <a:off x="468360" y="3268800"/>
              <a:ext cx="3025440" cy="390240"/>
            </a:xfrm>
            <a:prstGeom prst="rect">
              <a:avLst/>
            </a:prstGeom>
            <a:grpFill/>
            <a:ln w="25560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 algn="ctr">
                <a:lnSpc>
                  <a:spcPct val="100000"/>
                </a:lnSpc>
              </a:pPr>
              <a:r>
                <a:rPr lang="pt-BR" sz="2000" b="1" strike="noStrike" spc="-1">
                  <a:solidFill>
                    <a:srgbClr val="000000"/>
                  </a:solidFill>
                  <a:latin typeface="Arial" panose="020B0604020202020204"/>
                </a:rPr>
                <a:t>Departamento</a:t>
              </a:r>
              <a:endParaRPr lang="pt-BR" sz="2000" b="0" strike="noStrike" spc="-1">
                <a:latin typeface="Arial" panose="020B0604020202020204"/>
              </a:endParaRPr>
            </a:p>
          </p:txBody>
        </p:sp>
        <p:sp>
          <p:nvSpPr>
            <p:cNvPr id="4" name="CustomShape 6">
              <a:extLst>
                <a:ext uri="{FF2B5EF4-FFF2-40B4-BE49-F238E27FC236}">
                  <a16:creationId xmlns:a16="http://schemas.microsoft.com/office/drawing/2014/main" id="{97B9D31B-8A4B-6B39-36AB-CCEC7BBDEA0E}"/>
                </a:ext>
              </a:extLst>
            </p:cNvPr>
            <p:cNvSpPr/>
            <p:nvPr/>
          </p:nvSpPr>
          <p:spPr>
            <a:xfrm>
              <a:off x="468360" y="3659040"/>
              <a:ext cx="3025440" cy="468000"/>
            </a:xfrm>
            <a:prstGeom prst="rect">
              <a:avLst/>
            </a:prstGeom>
            <a:grpFill/>
            <a:ln w="25560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>
                <a:lnSpc>
                  <a:spcPct val="100000"/>
                </a:lnSpc>
              </a:pPr>
              <a:r>
                <a:rPr lang="pt-BR" sz="2000" b="1" spc="-1" dirty="0">
                  <a:solidFill>
                    <a:srgbClr val="000000"/>
                  </a:solidFill>
                  <a:latin typeface="Arial" panose="020B0604020202020204"/>
                </a:rPr>
                <a:t>+</a:t>
              </a:r>
              <a:r>
                <a:rPr lang="pt-BR" sz="2000" b="0" strike="noStrike" spc="-1" dirty="0">
                  <a:solidFill>
                    <a:srgbClr val="000000"/>
                  </a:solidFill>
                  <a:latin typeface="Arial" panose="020B0604020202020204"/>
                </a:rPr>
                <a:t> </a:t>
              </a:r>
              <a:r>
                <a:rPr lang="pt-BR" sz="2000" b="0" strike="noStrike" spc="-1" dirty="0" err="1">
                  <a:solidFill>
                    <a:srgbClr val="000000"/>
                  </a:solidFill>
                  <a:latin typeface="Arial" panose="020B0604020202020204"/>
                </a:rPr>
                <a:t>descricao</a:t>
              </a:r>
              <a:r>
                <a:rPr lang="pt-BR" sz="2000" b="0" strike="noStrike" spc="-1" dirty="0">
                  <a:solidFill>
                    <a:srgbClr val="000000"/>
                  </a:solidFill>
                  <a:latin typeface="Arial" panose="020B0604020202020204"/>
                </a:rPr>
                <a:t>: </a:t>
              </a:r>
              <a:r>
                <a:rPr lang="pt-BR" sz="2000" b="0" strike="noStrike" spc="-1" dirty="0" err="1">
                  <a:solidFill>
                    <a:srgbClr val="000000"/>
                  </a:solidFill>
                  <a:latin typeface="Arial" panose="020B0604020202020204"/>
                </a:rPr>
                <a:t>String</a:t>
              </a:r>
              <a:endParaRPr lang="pt-BR" sz="2000" b="0" strike="noStrike" spc="-1" dirty="0">
                <a:latin typeface="Arial" panose="020B0604020202020204"/>
              </a:endParaRPr>
            </a:p>
          </p:txBody>
        </p:sp>
        <p:sp>
          <p:nvSpPr>
            <p:cNvPr id="5" name="CustomShape 7">
              <a:extLst>
                <a:ext uri="{FF2B5EF4-FFF2-40B4-BE49-F238E27FC236}">
                  <a16:creationId xmlns:a16="http://schemas.microsoft.com/office/drawing/2014/main" id="{6D13FC1B-063B-8BCD-558B-28B860C42B14}"/>
                </a:ext>
              </a:extLst>
            </p:cNvPr>
            <p:cNvSpPr/>
            <p:nvPr/>
          </p:nvSpPr>
          <p:spPr>
            <a:xfrm>
              <a:off x="468360" y="4130640"/>
              <a:ext cx="3025440" cy="1098360"/>
            </a:xfrm>
            <a:prstGeom prst="rect">
              <a:avLst/>
            </a:prstGeom>
            <a:grpFill/>
            <a:ln w="25560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>
                <a:lnSpc>
                  <a:spcPct val="100000"/>
                </a:lnSpc>
              </a:pPr>
              <a:r>
                <a:rPr lang="pt-BR" sz="2000" b="1" strike="noStrike" spc="-1" dirty="0">
                  <a:solidFill>
                    <a:srgbClr val="000000"/>
                  </a:solidFill>
                  <a:latin typeface="Arial" panose="020B0604020202020204"/>
                </a:rPr>
                <a:t>+ </a:t>
              </a:r>
              <a:r>
                <a:rPr lang="pt-BR" sz="2000" b="0" strike="noStrike" spc="-1" dirty="0">
                  <a:solidFill>
                    <a:srgbClr val="000000"/>
                  </a:solidFill>
                  <a:latin typeface="Arial" panose="020B0604020202020204"/>
                </a:rPr>
                <a:t>Departamento()</a:t>
              </a:r>
              <a:endParaRPr lang="pt-BR" sz="2000" b="0" strike="noStrike" spc="-1" dirty="0">
                <a:latin typeface="Arial" panose="020B0604020202020204"/>
              </a:endParaRPr>
            </a:p>
          </p:txBody>
        </p:sp>
      </p:grpSp>
      <p:grpSp>
        <p:nvGrpSpPr>
          <p:cNvPr id="6" name="Group 8">
            <a:extLst>
              <a:ext uri="{FF2B5EF4-FFF2-40B4-BE49-F238E27FC236}">
                <a16:creationId xmlns:a16="http://schemas.microsoft.com/office/drawing/2014/main" id="{096CB82F-2D6D-D760-5B82-AA3C4F533CAE}"/>
              </a:ext>
            </a:extLst>
          </p:cNvPr>
          <p:cNvGrpSpPr/>
          <p:nvPr/>
        </p:nvGrpSpPr>
        <p:grpSpPr>
          <a:xfrm>
            <a:off x="5606379" y="2208953"/>
            <a:ext cx="2952360" cy="2155320"/>
            <a:chOff x="5722920" y="3213000"/>
            <a:chExt cx="2952360" cy="2155320"/>
          </a:xfrm>
          <a:solidFill>
            <a:schemeClr val="bg1"/>
          </a:solidFill>
        </p:grpSpPr>
        <p:sp>
          <p:nvSpPr>
            <p:cNvPr id="7" name="CustomShape 9">
              <a:extLst>
                <a:ext uri="{FF2B5EF4-FFF2-40B4-BE49-F238E27FC236}">
                  <a16:creationId xmlns:a16="http://schemas.microsoft.com/office/drawing/2014/main" id="{E23666BA-0B78-23FB-1830-2C6C02F60C53}"/>
                </a:ext>
              </a:extLst>
            </p:cNvPr>
            <p:cNvSpPr/>
            <p:nvPr/>
          </p:nvSpPr>
          <p:spPr>
            <a:xfrm>
              <a:off x="5722920" y="3213000"/>
              <a:ext cx="2952360" cy="390240"/>
            </a:xfrm>
            <a:prstGeom prst="rect">
              <a:avLst/>
            </a:prstGeom>
            <a:grpFill/>
            <a:ln w="25560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 algn="ctr">
                <a:lnSpc>
                  <a:spcPct val="100000"/>
                </a:lnSpc>
              </a:pPr>
              <a:r>
                <a:rPr lang="pt-BR" sz="2000" b="1" strike="noStrike" spc="-1">
                  <a:solidFill>
                    <a:srgbClr val="000000"/>
                  </a:solidFill>
                  <a:latin typeface="Arial" panose="020B0604020202020204"/>
                </a:rPr>
                <a:t>Funcionario</a:t>
              </a:r>
              <a:endParaRPr lang="pt-BR" sz="2000" b="0" strike="noStrike" spc="-1">
                <a:latin typeface="Arial" panose="020B0604020202020204"/>
              </a:endParaRPr>
            </a:p>
          </p:txBody>
        </p:sp>
        <p:sp>
          <p:nvSpPr>
            <p:cNvPr id="8" name="CustomShape 10">
              <a:extLst>
                <a:ext uri="{FF2B5EF4-FFF2-40B4-BE49-F238E27FC236}">
                  <a16:creationId xmlns:a16="http://schemas.microsoft.com/office/drawing/2014/main" id="{6F8DA90F-86E1-87F9-22A9-681D6B881EB4}"/>
                </a:ext>
              </a:extLst>
            </p:cNvPr>
            <p:cNvSpPr/>
            <p:nvPr/>
          </p:nvSpPr>
          <p:spPr>
            <a:xfrm>
              <a:off x="5722920" y="3603600"/>
              <a:ext cx="2952360" cy="758520"/>
            </a:xfrm>
            <a:prstGeom prst="rect">
              <a:avLst/>
            </a:prstGeom>
            <a:grpFill/>
            <a:ln w="25560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>
                <a:lnSpc>
                  <a:spcPct val="100000"/>
                </a:lnSpc>
              </a:pPr>
              <a:r>
                <a:rPr lang="pt-BR" sz="2000" b="1" spc="-1" dirty="0">
                  <a:solidFill>
                    <a:srgbClr val="000000"/>
                  </a:solidFill>
                  <a:latin typeface="Arial" panose="020B0604020202020204"/>
                </a:rPr>
                <a:t>+</a:t>
              </a:r>
              <a:r>
                <a:rPr lang="pt-BR" sz="2000" b="0" strike="noStrike" spc="-1" dirty="0">
                  <a:solidFill>
                    <a:srgbClr val="000000"/>
                  </a:solidFill>
                  <a:latin typeface="Arial" panose="020B0604020202020204"/>
                </a:rPr>
                <a:t> nome: </a:t>
              </a:r>
              <a:r>
                <a:rPr lang="pt-BR" sz="2000" b="0" strike="noStrike" spc="-1" dirty="0" err="1">
                  <a:solidFill>
                    <a:srgbClr val="000000"/>
                  </a:solidFill>
                  <a:latin typeface="Arial" panose="020B0604020202020204"/>
                </a:rPr>
                <a:t>String</a:t>
              </a:r>
              <a:endParaRPr lang="pt-BR" sz="2000" b="0" strike="noStrike" spc="-1" dirty="0">
                <a:latin typeface="Arial" panose="020B0604020202020204"/>
              </a:endParaRPr>
            </a:p>
            <a:p>
              <a:pPr>
                <a:lnSpc>
                  <a:spcPct val="100000"/>
                </a:lnSpc>
              </a:pPr>
              <a:r>
                <a:rPr lang="pt-BR" sz="2000" b="1" spc="-1" dirty="0">
                  <a:solidFill>
                    <a:srgbClr val="000000"/>
                  </a:solidFill>
                  <a:latin typeface="Arial" panose="020B0604020202020204"/>
                </a:rPr>
                <a:t>+ </a:t>
              </a:r>
              <a:r>
                <a:rPr lang="pt-BR" sz="2000" b="0" strike="noStrike" spc="-1" dirty="0">
                  <a:solidFill>
                    <a:srgbClr val="000000"/>
                  </a:solidFill>
                  <a:latin typeface="Arial" panose="020B0604020202020204"/>
                </a:rPr>
                <a:t>salario: Double</a:t>
              </a:r>
              <a:endParaRPr lang="pt-BR" sz="2000" b="0" strike="noStrike" spc="-1" dirty="0">
                <a:latin typeface="Arial" panose="020B0604020202020204"/>
              </a:endParaRPr>
            </a:p>
          </p:txBody>
        </p:sp>
        <p:sp>
          <p:nvSpPr>
            <p:cNvPr id="9" name="CustomShape 11">
              <a:extLst>
                <a:ext uri="{FF2B5EF4-FFF2-40B4-BE49-F238E27FC236}">
                  <a16:creationId xmlns:a16="http://schemas.microsoft.com/office/drawing/2014/main" id="{77218D9E-0F51-8C53-E8B5-04BDD4A761E2}"/>
                </a:ext>
              </a:extLst>
            </p:cNvPr>
            <p:cNvSpPr/>
            <p:nvPr/>
          </p:nvSpPr>
          <p:spPr>
            <a:xfrm>
              <a:off x="5722920" y="4348080"/>
              <a:ext cx="2952360" cy="1020240"/>
            </a:xfrm>
            <a:prstGeom prst="rect">
              <a:avLst/>
            </a:prstGeom>
            <a:grpFill/>
            <a:ln w="25560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>
                <a:lnSpc>
                  <a:spcPct val="100000"/>
                </a:lnSpc>
              </a:pPr>
              <a:r>
                <a:rPr lang="pt-BR" sz="2000" b="1" strike="noStrike" spc="-1" dirty="0">
                  <a:solidFill>
                    <a:srgbClr val="000000"/>
                  </a:solidFill>
                  <a:latin typeface="Arial" panose="020B0604020202020204"/>
                </a:rPr>
                <a:t>+ </a:t>
              </a:r>
              <a:r>
                <a:rPr lang="pt-BR" sz="2000" b="0" strike="noStrike" spc="-1" dirty="0" err="1">
                  <a:solidFill>
                    <a:srgbClr val="000000"/>
                  </a:solidFill>
                  <a:latin typeface="Arial" panose="020B0604020202020204"/>
                </a:rPr>
                <a:t>Funcionario</a:t>
              </a:r>
              <a:r>
                <a:rPr lang="pt-BR" sz="2000" b="0" strike="noStrike" spc="-1" dirty="0">
                  <a:solidFill>
                    <a:srgbClr val="000000"/>
                  </a:solidFill>
                  <a:latin typeface="Arial" panose="020B0604020202020204"/>
                </a:rPr>
                <a:t>()</a:t>
              </a:r>
              <a:endParaRPr lang="pt-BR" sz="2000" b="0" strike="noStrike" spc="-1" dirty="0">
                <a:latin typeface="Arial" panose="020B0604020202020204"/>
              </a:endParaRPr>
            </a:p>
          </p:txBody>
        </p:sp>
      </p:grpSp>
      <p:sp>
        <p:nvSpPr>
          <p:cNvPr id="10" name="Line 12">
            <a:extLst>
              <a:ext uri="{FF2B5EF4-FFF2-40B4-BE49-F238E27FC236}">
                <a16:creationId xmlns:a16="http://schemas.microsoft.com/office/drawing/2014/main" id="{7BD7CA7E-8DF4-A96E-8568-492142BDDF88}"/>
              </a:ext>
            </a:extLst>
          </p:cNvPr>
          <p:cNvSpPr/>
          <p:nvPr/>
        </p:nvSpPr>
        <p:spPr>
          <a:xfrm flipH="1">
            <a:off x="3377259" y="2848673"/>
            <a:ext cx="2229120" cy="360"/>
          </a:xfrm>
          <a:prstGeom prst="line">
            <a:avLst/>
          </a:prstGeom>
          <a:ln w="3492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1" name="CustomShape 13">
            <a:extLst>
              <a:ext uri="{FF2B5EF4-FFF2-40B4-BE49-F238E27FC236}">
                <a16:creationId xmlns:a16="http://schemas.microsoft.com/office/drawing/2014/main" id="{11FC88F4-664E-071E-96C2-0AC4FD143006}"/>
              </a:ext>
            </a:extLst>
          </p:cNvPr>
          <p:cNvSpPr/>
          <p:nvPr/>
        </p:nvSpPr>
        <p:spPr>
          <a:xfrm>
            <a:off x="3375819" y="2878913"/>
            <a:ext cx="574200" cy="33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1600" b="1" strike="noStrike" spc="-1">
                <a:solidFill>
                  <a:srgbClr val="FF0000"/>
                </a:solidFill>
                <a:latin typeface="Arial" panose="020B0604020202020204"/>
              </a:rPr>
              <a:t>0..1</a:t>
            </a:r>
            <a:endParaRPr lang="pt-BR" sz="1600" b="0" strike="noStrike" spc="-1">
              <a:latin typeface="Arial" panose="020B0604020202020204"/>
            </a:endParaRPr>
          </a:p>
        </p:txBody>
      </p:sp>
      <p:sp>
        <p:nvSpPr>
          <p:cNvPr id="12" name="CustomShape 14">
            <a:extLst>
              <a:ext uri="{FF2B5EF4-FFF2-40B4-BE49-F238E27FC236}">
                <a16:creationId xmlns:a16="http://schemas.microsoft.com/office/drawing/2014/main" id="{BC5ACE60-5A64-78CC-EDEA-04735A41C044}"/>
              </a:ext>
            </a:extLst>
          </p:cNvPr>
          <p:cNvSpPr/>
          <p:nvPr/>
        </p:nvSpPr>
        <p:spPr>
          <a:xfrm>
            <a:off x="5079339" y="2869553"/>
            <a:ext cx="528120" cy="33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1600" b="1" strike="noStrike" spc="-1" dirty="0">
                <a:solidFill>
                  <a:srgbClr val="FF0000"/>
                </a:solidFill>
                <a:latin typeface="Arial" panose="020B0604020202020204"/>
              </a:rPr>
              <a:t>0..*</a:t>
            </a:r>
            <a:endParaRPr lang="pt-BR" sz="1600" b="0" strike="noStrike" spc="-1" dirty="0"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003803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E2D4FF0-8376-BAEA-075C-3A0726471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109A8EA1-6860-1FD1-DDA5-FC49A974C2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Exercício 01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C1F6A60A-9967-4155-C32E-89015DDE7C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587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273050" indent="-272415">
              <a:lnSpc>
                <a:spcPct val="100000"/>
              </a:lnSpc>
              <a:spcBef>
                <a:spcPts val="575"/>
              </a:spcBef>
              <a:buClr>
                <a:srgbClr val="2DA2BF"/>
              </a:buClr>
              <a:buSzPct val="85000"/>
              <a:buFont typeface="Wingdings 2" charset="2"/>
              <a:buChar char=""/>
            </a:pPr>
            <a:r>
              <a:rPr lang="pt-BR" spc="-1" dirty="0">
                <a:solidFill>
                  <a:srgbClr val="000000"/>
                </a:solidFill>
              </a:rPr>
              <a:t>Desenvolva uma aplicação em Java, utilizando os conceitos da POO, para cadastro e controle de Clientes e seus Pedidos, onde:</a:t>
            </a:r>
          </a:p>
          <a:p>
            <a:pPr marL="547370" lvl="1" indent="-227965">
              <a:lnSpc>
                <a:spcPct val="100000"/>
              </a:lnSpc>
              <a:spcBef>
                <a:spcPts val="375"/>
              </a:spcBef>
              <a:buClr>
                <a:srgbClr val="DA1F28"/>
              </a:buClr>
              <a:buSzPct val="85000"/>
              <a:buFont typeface="Wingdings 2" charset="2"/>
              <a:buChar char=""/>
            </a:pPr>
            <a:r>
              <a:rPr lang="pt-BR" spc="-1" dirty="0">
                <a:solidFill>
                  <a:srgbClr val="000000"/>
                </a:solidFill>
              </a:rPr>
              <a:t>Um Cliente pode ter, zero, um ou muitos Pedidos;</a:t>
            </a:r>
          </a:p>
          <a:p>
            <a:pPr marL="547370" lvl="1" indent="-227965">
              <a:lnSpc>
                <a:spcPct val="100000"/>
              </a:lnSpc>
              <a:spcBef>
                <a:spcPts val="375"/>
              </a:spcBef>
              <a:buClr>
                <a:srgbClr val="DA1F28"/>
              </a:buClr>
              <a:buSzPct val="85000"/>
              <a:buFont typeface="Wingdings 2" charset="2"/>
              <a:buChar char=""/>
            </a:pPr>
            <a:r>
              <a:rPr lang="pt-BR" spc="-1" dirty="0">
                <a:solidFill>
                  <a:srgbClr val="000000"/>
                </a:solidFill>
              </a:rPr>
              <a:t>Um Pedido é de um único Cliente.</a:t>
            </a:r>
          </a:p>
          <a:p>
            <a:endParaRPr lang="pt-BR" sz="2000" spc="-1" dirty="0">
              <a:solidFill>
                <a:srgbClr val="000000"/>
              </a:solidFill>
            </a:endParaRPr>
          </a:p>
          <a:p>
            <a:pPr marL="76200" indent="0">
              <a:buNone/>
            </a:pPr>
            <a:r>
              <a:rPr lang="" altLang="pt-BR" sz="2000" spc="-1" dirty="0">
                <a:solidFill>
                  <a:srgbClr val="000000"/>
                </a:solidFill>
              </a:rPr>
              <a:t>Cliente deve ter os atributos: nome e telefone</a:t>
            </a:r>
          </a:p>
          <a:p>
            <a:pPr marL="76200" indent="0">
              <a:buNone/>
            </a:pPr>
            <a:r>
              <a:rPr lang="" altLang="pt-BR" sz="2000" spc="-1" dirty="0">
                <a:solidFill>
                  <a:srgbClr val="000000"/>
                </a:solidFill>
              </a:rPr>
              <a:t>Pedido deve ter os atributos: produto, quantidade e preço</a:t>
            </a:r>
            <a:endParaRPr lang="pt-BR" sz="2000" spc="-1" dirty="0">
              <a:solidFill>
                <a:srgbClr val="000000"/>
              </a:solidFill>
            </a:endParaRPr>
          </a:p>
          <a:p>
            <a:endParaRPr lang="pt-BR" sz="2000" spc="-1" dirty="0">
              <a:solidFill>
                <a:srgbClr val="000000"/>
              </a:solidFill>
            </a:endParaRPr>
          </a:p>
          <a:p>
            <a:pPr marL="273050" indent="-272415">
              <a:lnSpc>
                <a:spcPct val="100000"/>
              </a:lnSpc>
              <a:spcBef>
                <a:spcPts val="575"/>
              </a:spcBef>
              <a:buClr>
                <a:srgbClr val="2DA2BF"/>
              </a:buClr>
              <a:buSzPct val="85000"/>
              <a:buFont typeface="Wingdings 2" charset="2"/>
              <a:buChar char=""/>
            </a:pPr>
            <a:r>
              <a:rPr lang="pt-BR" spc="-1" dirty="0">
                <a:solidFill>
                  <a:srgbClr val="000000"/>
                </a:solidFill>
              </a:rPr>
              <a:t>Desenvolva uma classe principal contendo o método “</a:t>
            </a:r>
            <a:r>
              <a:rPr lang="pt-BR" i="1" spc="-1" dirty="0" err="1">
                <a:solidFill>
                  <a:srgbClr val="000000"/>
                </a:solidFill>
              </a:rPr>
              <a:t>main</a:t>
            </a:r>
            <a:r>
              <a:rPr lang="pt-BR" spc="-1" dirty="0">
                <a:solidFill>
                  <a:srgbClr val="000000"/>
                </a:solidFill>
              </a:rPr>
              <a:t>” para testar o programa.</a:t>
            </a:r>
          </a:p>
          <a:p>
            <a:pPr marL="730250" lvl="1" indent="-272415">
              <a:spcBef>
                <a:spcPts val="575"/>
              </a:spcBef>
              <a:buClr>
                <a:srgbClr val="2DA2BF"/>
              </a:buClr>
              <a:buSzPct val="85000"/>
              <a:buFont typeface="Wingdings 2" charset="2"/>
              <a:buChar char=""/>
            </a:pPr>
            <a:r>
              <a:rPr lang="pt-BR" sz="2400" spc="-1" dirty="0">
                <a:solidFill>
                  <a:srgbClr val="000000"/>
                </a:solidFill>
              </a:rPr>
              <a:t>Cliente Donald fez 2 pedidos</a:t>
            </a:r>
          </a:p>
          <a:p>
            <a:pPr marL="730250" lvl="1" indent="-272415">
              <a:spcBef>
                <a:spcPts val="575"/>
              </a:spcBef>
              <a:buClr>
                <a:srgbClr val="2DA2BF"/>
              </a:buClr>
              <a:buSzPct val="85000"/>
              <a:buFont typeface="Wingdings 2" charset="2"/>
              <a:buChar char=""/>
            </a:pPr>
            <a:r>
              <a:rPr lang="pt-BR" sz="2400" spc="-1" dirty="0">
                <a:solidFill>
                  <a:srgbClr val="000000"/>
                </a:solidFill>
              </a:rPr>
              <a:t>Cliente Patinhas fez 3 pedidos</a:t>
            </a:r>
          </a:p>
          <a:p>
            <a:pPr marL="730250" lvl="1" indent="-272415">
              <a:spcBef>
                <a:spcPts val="575"/>
              </a:spcBef>
              <a:buClr>
                <a:srgbClr val="2DA2BF"/>
              </a:buClr>
              <a:buSzPct val="85000"/>
              <a:buFont typeface="Wingdings 2" charset="2"/>
              <a:buChar char=""/>
            </a:pPr>
            <a:endParaRPr lang="pt-BR" sz="2400" spc="-1" dirty="0">
              <a:solidFill>
                <a:srgbClr val="000000"/>
              </a:solidFill>
            </a:endParaRPr>
          </a:p>
          <a:p>
            <a:pPr marL="730250" lvl="1" indent="-272415">
              <a:spcBef>
                <a:spcPts val="575"/>
              </a:spcBef>
              <a:buClr>
                <a:srgbClr val="2DA2BF"/>
              </a:buClr>
              <a:buSzPct val="85000"/>
              <a:buFont typeface="Wingdings 2" charset="2"/>
              <a:buChar char=""/>
            </a:pPr>
            <a:endParaRPr lang="pt-BR" sz="2400" spc="-1" dirty="0">
              <a:solidFill>
                <a:srgbClr val="000000"/>
              </a:solidFill>
            </a:endParaRPr>
          </a:p>
          <a:p>
            <a:pPr marL="273050" indent="-272415">
              <a:lnSpc>
                <a:spcPct val="100000"/>
              </a:lnSpc>
              <a:spcBef>
                <a:spcPts val="575"/>
              </a:spcBef>
              <a:buClr>
                <a:srgbClr val="2DA2BF"/>
              </a:buClr>
              <a:buSzPct val="85000"/>
              <a:buFont typeface="Wingdings 2" charset="2"/>
              <a:buChar char=""/>
            </a:pPr>
            <a:endParaRPr lang="pt-BR" spc="-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82247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4E1E9A5-4CFA-FC95-5A46-0F7882503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99F71018-33F0-33A2-1C80-D9A6C6ACB2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Exercício 02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E885B86A-CE5D-4EC1-5442-08D4FAF10D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6705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273050" indent="-272415">
              <a:lnSpc>
                <a:spcPct val="100000"/>
              </a:lnSpc>
              <a:spcBef>
                <a:spcPts val="575"/>
              </a:spcBef>
              <a:buClr>
                <a:srgbClr val="2DA2BF"/>
              </a:buClr>
              <a:buSzPct val="85000"/>
              <a:buFont typeface="Wingdings 2" charset="2"/>
              <a:buChar char=""/>
            </a:pPr>
            <a:r>
              <a:rPr lang="pt-BR" sz="2600" spc="-1" dirty="0">
                <a:solidFill>
                  <a:srgbClr val="000000"/>
                </a:solidFill>
              </a:rPr>
              <a:t>Desenvolva uma aplicação em Java, utilizando os conceitos da POO, para cadastro e controle de Clientes e seus Endereços, onde:</a:t>
            </a:r>
          </a:p>
          <a:p>
            <a:pPr marL="547370" lvl="1" indent="-227965">
              <a:lnSpc>
                <a:spcPct val="100000"/>
              </a:lnSpc>
              <a:spcBef>
                <a:spcPts val="375"/>
              </a:spcBef>
              <a:buClr>
                <a:srgbClr val="DA1F28"/>
              </a:buClr>
              <a:buSzPct val="85000"/>
              <a:buFont typeface="Wingdings 2" charset="2"/>
              <a:buChar char=""/>
            </a:pPr>
            <a:r>
              <a:rPr lang="pt-BR" sz="2400" spc="-1" dirty="0">
                <a:solidFill>
                  <a:srgbClr val="000000"/>
                </a:solidFill>
              </a:rPr>
              <a:t>Um Cliente possui um ou vários Endereços;</a:t>
            </a:r>
          </a:p>
          <a:p>
            <a:pPr marL="547370" lvl="1" indent="-227965">
              <a:lnSpc>
                <a:spcPct val="100000"/>
              </a:lnSpc>
              <a:spcBef>
                <a:spcPts val="375"/>
              </a:spcBef>
              <a:buClr>
                <a:srgbClr val="DA1F28"/>
              </a:buClr>
              <a:buSzPct val="85000"/>
              <a:buFont typeface="Wingdings 2" charset="2"/>
              <a:buChar char=""/>
            </a:pPr>
            <a:r>
              <a:rPr lang="pt-BR" sz="2400" spc="-1" dirty="0">
                <a:solidFill>
                  <a:srgbClr val="000000"/>
                </a:solidFill>
              </a:rPr>
              <a:t>Um Endereço pode ter, zero, um ou muitos Clientes.</a:t>
            </a: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lang="pt-BR" spc="-1" dirty="0">
              <a:solidFill>
                <a:srgbClr val="000000"/>
              </a:solidFill>
            </a:endParaRPr>
          </a:p>
          <a:p>
            <a:pPr marL="273050" indent="-272415">
              <a:lnSpc>
                <a:spcPct val="100000"/>
              </a:lnSpc>
              <a:spcBef>
                <a:spcPts val="575"/>
              </a:spcBef>
              <a:buClr>
                <a:srgbClr val="2DA2BF"/>
              </a:buClr>
              <a:buSzPct val="85000"/>
              <a:buFont typeface="Wingdings 2" charset="2"/>
              <a:buChar char=""/>
            </a:pPr>
            <a:r>
              <a:rPr lang="pt-BR" sz="2600" spc="-1" dirty="0">
                <a:solidFill>
                  <a:srgbClr val="000000"/>
                </a:solidFill>
              </a:rPr>
              <a:t>Desenvolva uma classe principal contendo o método “</a:t>
            </a:r>
            <a:r>
              <a:rPr lang="pt-BR" sz="2600" i="1" spc="-1" dirty="0" err="1">
                <a:solidFill>
                  <a:srgbClr val="000000"/>
                </a:solidFill>
              </a:rPr>
              <a:t>main</a:t>
            </a:r>
            <a:r>
              <a:rPr lang="pt-BR" sz="2600" spc="-1" dirty="0">
                <a:solidFill>
                  <a:srgbClr val="000000"/>
                </a:solidFill>
              </a:rPr>
              <a:t>” para testar o programa.</a:t>
            </a:r>
          </a:p>
          <a:p>
            <a:pPr marL="730250" lvl="1" indent="-272415">
              <a:spcBef>
                <a:spcPts val="575"/>
              </a:spcBef>
              <a:buClr>
                <a:srgbClr val="2DA2BF"/>
              </a:buClr>
              <a:buSzPct val="85000"/>
              <a:buFont typeface="Wingdings 2" charset="2"/>
              <a:buChar char=""/>
            </a:pPr>
            <a:r>
              <a:rPr lang="pt-BR" sz="2600" spc="-1" dirty="0">
                <a:solidFill>
                  <a:srgbClr val="000000"/>
                </a:solidFill>
              </a:rPr>
              <a:t>Luizinho, Huguinho e Zezinho moram na Rua da Disney, 200.</a:t>
            </a:r>
          </a:p>
          <a:p>
            <a:pPr marL="730250" lvl="1" indent="-272415">
              <a:spcBef>
                <a:spcPts val="575"/>
              </a:spcBef>
              <a:buClr>
                <a:srgbClr val="2DA2BF"/>
              </a:buClr>
              <a:buSzPct val="85000"/>
              <a:buFont typeface="Wingdings 2" charset="2"/>
              <a:buChar char=""/>
            </a:pPr>
            <a:r>
              <a:rPr lang="pt-BR" sz="2600" spc="-1" dirty="0">
                <a:solidFill>
                  <a:srgbClr val="000000"/>
                </a:solidFill>
              </a:rPr>
              <a:t>Crie um método imprimir na classe Endereço.</a:t>
            </a:r>
          </a:p>
        </p:txBody>
      </p:sp>
    </p:spTree>
    <p:extLst>
      <p:ext uri="{BB962C8B-B14F-4D97-AF65-F5344CB8AC3E}">
        <p14:creationId xmlns:p14="http://schemas.microsoft.com/office/powerpoint/2010/main" val="1739292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75A1B2C-8EC4-7013-9F45-78C5B5B24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0474FFB9-7000-644C-42FD-D5470DC55A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Exercício 03</a:t>
            </a:r>
            <a:br>
              <a:rPr lang="pt-BR" dirty="0"/>
            </a:b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D266117F-6326-54DA-D337-87BC0E49CA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7063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273050" indent="-272415">
              <a:lnSpc>
                <a:spcPct val="100000"/>
              </a:lnSpc>
              <a:spcBef>
                <a:spcPts val="575"/>
              </a:spcBef>
              <a:buClr>
                <a:srgbClr val="2DA2BF"/>
              </a:buClr>
              <a:buSzPct val="85000"/>
              <a:buFont typeface="Wingdings 2" charset="2"/>
              <a:buChar char=""/>
            </a:pPr>
            <a:r>
              <a:rPr lang="pt-BR" sz="2600" spc="-1" dirty="0">
                <a:solidFill>
                  <a:srgbClr val="000000"/>
                </a:solidFill>
              </a:rPr>
              <a:t>Crie as classes Java e instancie os objetos para a seguinte situação: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spc="-1" dirty="0" err="1">
                <a:solidFill>
                  <a:srgbClr val="000000"/>
                </a:solidFill>
              </a:rPr>
              <a:t>Pitolomeu</a:t>
            </a:r>
            <a:r>
              <a:rPr lang="pt-BR" sz="1800" spc="-1" dirty="0">
                <a:solidFill>
                  <a:srgbClr val="000000"/>
                </a:solidFill>
              </a:rPr>
              <a:t> é professor no curso de Filosofia. José, Maria, João e Pedro são seus alunos. Cada aluno possui 2 notas, o qual é considerado aprovado caso sua média for maior ou igual a 70 e se tiver menos que 20 faltas.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spc="-1" dirty="0">
                <a:solidFill>
                  <a:srgbClr val="000000"/>
                </a:solidFill>
              </a:rPr>
              <a:t>Nesta faculdade o professor pode dar aula em apenas pra 1 curso. No curso existem vários alunos matriculados, mas eles também não podem frequentar mais que 1 curso diferente.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spc="-1" dirty="0">
                <a:solidFill>
                  <a:srgbClr val="000000"/>
                </a:solidFill>
              </a:rPr>
              <a:t>Instancie todos os objetos com seus devidos valores e exiba quais são os alunos aprovados e quais são os alunos reprovados.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32372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6434869D-C424-D5C4-9A2A-19B59A691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C7FCC321-C03E-77F3-4CD2-2F088C4D1C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91AC5970-C064-5899-D837-5E987F042D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43C1BD3-863F-7AE6-9A4F-9CAF14E15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070" y="141698"/>
            <a:ext cx="6566648" cy="500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8931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D50A0B8-5D0A-6891-BDB0-E8119B343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AA47EFA1-A3CC-1C15-8413-028949FAA9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Exercício 04</a:t>
            </a:r>
            <a:endParaRPr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5B0FEB-C4A1-68DA-DA3A-C8AA47AAB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150" y="1152525"/>
            <a:ext cx="8521700" cy="3416300"/>
          </a:xfrm>
        </p:spPr>
        <p:txBody>
          <a:bodyPr anchor="t">
            <a:normAutofit fontScale="85000" lnSpcReduction="20000"/>
          </a:bodyPr>
          <a:lstStyle/>
          <a:p>
            <a:pPr marL="76200" indent="0">
              <a:buNone/>
            </a:pPr>
            <a:r>
              <a:rPr lang="pt-BR" sz="2400" dirty="0"/>
              <a:t>Cidade: </a:t>
            </a:r>
            <a:r>
              <a:rPr lang="pt-BR" sz="2400" dirty="0" err="1"/>
              <a:t>Patolandia</a:t>
            </a:r>
            <a:r>
              <a:rPr lang="pt-BR" sz="2400" dirty="0"/>
              <a:t>/MG</a:t>
            </a:r>
            <a:br>
              <a:rPr lang="pt-BR" sz="2400" dirty="0"/>
            </a:br>
            <a:r>
              <a:rPr lang="pt-BR" sz="2400" dirty="0"/>
              <a:t>Endereço: Rua Pimenta de  Pádua, 350 – Centro</a:t>
            </a:r>
            <a:br>
              <a:rPr lang="pt-BR" sz="2400" dirty="0"/>
            </a:br>
            <a:r>
              <a:rPr lang="pt-BR" sz="2400" dirty="0"/>
              <a:t>Responsáveis: Donald, Patinhas e Margarida</a:t>
            </a:r>
            <a:br>
              <a:rPr lang="pt-BR" sz="2400" dirty="0"/>
            </a:br>
            <a:r>
              <a:rPr lang="pt-BR" sz="2400" dirty="0"/>
              <a:t>Crianças: Zezinho, Luizinho, Huguinho e Patolino</a:t>
            </a:r>
            <a:br>
              <a:rPr lang="pt-BR" sz="2400" dirty="0"/>
            </a:br>
            <a:br>
              <a:rPr lang="pt-BR" sz="2400" dirty="0"/>
            </a:br>
            <a:r>
              <a:rPr lang="pt-BR" sz="2400" dirty="0"/>
              <a:t>O Donald é responsável pelo Zezinho e Luizinho</a:t>
            </a:r>
            <a:br>
              <a:rPr lang="pt-BR" sz="2400" dirty="0"/>
            </a:br>
            <a:r>
              <a:rPr lang="pt-BR" sz="2400" dirty="0"/>
              <a:t>Patinhas é responsável pelo Zezinho, Huguinho e Patolino</a:t>
            </a:r>
            <a:br>
              <a:rPr lang="pt-BR" sz="2400" dirty="0"/>
            </a:br>
            <a:r>
              <a:rPr lang="pt-BR" sz="2400" dirty="0"/>
              <a:t>Margarida é responsável pelo Zezinho.</a:t>
            </a:r>
            <a:br>
              <a:rPr lang="pt-BR" sz="2400" dirty="0"/>
            </a:br>
            <a:br>
              <a:rPr lang="pt-BR" sz="2400" dirty="0"/>
            </a:br>
            <a:r>
              <a:rPr lang="pt-BR" sz="2400" dirty="0"/>
              <a:t>Mostre os dados de todos os responsáveis, suas respectivas crianças, endereço e cidade.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665024C-0306-5404-4B47-AF70AB42A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65" y="110658"/>
            <a:ext cx="2812330" cy="221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2980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1004</TotalTime>
  <Words>1197</Words>
  <Application>Microsoft Office PowerPoint</Application>
  <PresentationFormat>Apresentação na tela (16:9)</PresentationFormat>
  <Paragraphs>240</Paragraphs>
  <Slides>25</Slides>
  <Notes>25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3" baseType="lpstr">
      <vt:lpstr>Arial</vt:lpstr>
      <vt:lpstr>Courier New</vt:lpstr>
      <vt:lpstr>Google Sans Text</vt:lpstr>
      <vt:lpstr>Impact</vt:lpstr>
      <vt:lpstr>Symbol</vt:lpstr>
      <vt:lpstr>Times New Roman</vt:lpstr>
      <vt:lpstr>Wingdings 2</vt:lpstr>
      <vt:lpstr>Simple Light</vt:lpstr>
      <vt:lpstr>POO – Relacionamento entre Classes – Associação </vt:lpstr>
      <vt:lpstr>Tópicos da Aula </vt:lpstr>
      <vt:lpstr>Relacionamento entre Classes – Associação </vt:lpstr>
      <vt:lpstr>Relacionamento entre Classes – Associação </vt:lpstr>
      <vt:lpstr>Cardinalidade / Multiplicidade entre Classes </vt:lpstr>
      <vt:lpstr>Cardinalidade / Multiplicidade entre Classes </vt:lpstr>
      <vt:lpstr>Conectividades entre Classes </vt:lpstr>
      <vt:lpstr>Conectividades entre Classes </vt:lpstr>
      <vt:lpstr>Tipos de Associação </vt:lpstr>
      <vt:lpstr>Tipos de Associação </vt:lpstr>
      <vt:lpstr>Representação Gráfica de associação entre Classes </vt:lpstr>
      <vt:lpstr>Associação “um para um” em Python </vt:lpstr>
      <vt:lpstr>Associação “um para muitos” em Java </vt:lpstr>
      <vt:lpstr>Associação “um para muitos” em Java </vt:lpstr>
      <vt:lpstr>Associação “muitos para muitos” em Java </vt:lpstr>
      <vt:lpstr>Associação “muitos para muitos” em Java </vt:lpstr>
      <vt:lpstr>Links Interessantes </vt:lpstr>
      <vt:lpstr>Vamos para a Prática!!! </vt:lpstr>
      <vt:lpstr>Exemplo Prático </vt:lpstr>
      <vt:lpstr>Exercício 01 </vt:lpstr>
      <vt:lpstr>Exercício 02 </vt:lpstr>
      <vt:lpstr>Exercício 03 </vt:lpstr>
      <vt:lpstr>Apresentação do PowerPoint</vt:lpstr>
      <vt:lpstr>Exercício 04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Juliano Caetano</cp:lastModifiedBy>
  <cp:revision>7</cp:revision>
  <dcterms:modified xsi:type="dcterms:W3CDTF">2026-04-06T18:10:45Z</dcterms:modified>
</cp:coreProperties>
</file>