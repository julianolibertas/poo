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4" r:id="rId1"/>
  </p:sldMasterIdLst>
  <p:notesMasterIdLst>
    <p:notesMasterId r:id="rId28"/>
  </p:notesMasterIdLst>
  <p:sldIdLst>
    <p:sldId id="256" r:id="rId2"/>
    <p:sldId id="258" r:id="rId3"/>
    <p:sldId id="262" r:id="rId4"/>
    <p:sldId id="263" r:id="rId5"/>
    <p:sldId id="264" r:id="rId6"/>
    <p:sldId id="265" r:id="rId7"/>
    <p:sldId id="266" r:id="rId8"/>
    <p:sldId id="267" r:id="rId9"/>
    <p:sldId id="268" r:id="rId10"/>
    <p:sldId id="269" r:id="rId11"/>
    <p:sldId id="270" r:id="rId12"/>
    <p:sldId id="271" r:id="rId13"/>
    <p:sldId id="272" r:id="rId14"/>
    <p:sldId id="273" r:id="rId15"/>
    <p:sldId id="274" r:id="rId16"/>
    <p:sldId id="293" r:id="rId17"/>
    <p:sldId id="294" r:id="rId18"/>
    <p:sldId id="275" r:id="rId19"/>
    <p:sldId id="276" r:id="rId20"/>
    <p:sldId id="277" r:id="rId21"/>
    <p:sldId id="278" r:id="rId22"/>
    <p:sldId id="279" r:id="rId23"/>
    <p:sldId id="280" r:id="rId24"/>
    <p:sldId id="295" r:id="rId25"/>
    <p:sldId id="281" r:id="rId26"/>
    <p:sldId id="261" r:id="rId27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enhum Estilo, Nenhuma Grad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108" y="61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" name="Google Shape;41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af032c298c_0_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af032c298c_0_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C01197B3-81A3-1F05-CB48-DFD54B635F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af032c298c_0_50:notes">
            <a:extLst>
              <a:ext uri="{FF2B5EF4-FFF2-40B4-BE49-F238E27FC236}">
                <a16:creationId xmlns:a16="http://schemas.microsoft.com/office/drawing/2014/main" id="{AB56A59A-A480-C818-7AB3-DCF2D7787CE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af032c298c_0_50:notes">
            <a:extLst>
              <a:ext uri="{FF2B5EF4-FFF2-40B4-BE49-F238E27FC236}">
                <a16:creationId xmlns:a16="http://schemas.microsoft.com/office/drawing/2014/main" id="{F5D77BC4-8B90-4167-09F3-FF874B03A28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5221448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3430CB48-3563-B4B6-E377-2E06A73E77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af032c298c_0_50:notes">
            <a:extLst>
              <a:ext uri="{FF2B5EF4-FFF2-40B4-BE49-F238E27FC236}">
                <a16:creationId xmlns:a16="http://schemas.microsoft.com/office/drawing/2014/main" id="{6C28DC91-A884-F8CF-1A29-C80958B63C8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af032c298c_0_50:notes">
            <a:extLst>
              <a:ext uri="{FF2B5EF4-FFF2-40B4-BE49-F238E27FC236}">
                <a16:creationId xmlns:a16="http://schemas.microsoft.com/office/drawing/2014/main" id="{C50F718E-5B4D-1E36-EDA9-09A52586D94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8386441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3612A62E-5F24-B005-97FF-6E35AA553D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af032c298c_0_50:notes">
            <a:extLst>
              <a:ext uri="{FF2B5EF4-FFF2-40B4-BE49-F238E27FC236}">
                <a16:creationId xmlns:a16="http://schemas.microsoft.com/office/drawing/2014/main" id="{664C75A4-2718-5C51-01ED-D9512624210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af032c298c_0_50:notes">
            <a:extLst>
              <a:ext uri="{FF2B5EF4-FFF2-40B4-BE49-F238E27FC236}">
                <a16:creationId xmlns:a16="http://schemas.microsoft.com/office/drawing/2014/main" id="{6F55E1F5-708D-38AF-5076-F55CAD90DBC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6344928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001506D4-C325-7CAD-E936-9691C33819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af032c298c_0_50:notes">
            <a:extLst>
              <a:ext uri="{FF2B5EF4-FFF2-40B4-BE49-F238E27FC236}">
                <a16:creationId xmlns:a16="http://schemas.microsoft.com/office/drawing/2014/main" id="{DC3940B7-2372-4667-BA53-CE34700D6C5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af032c298c_0_50:notes">
            <a:extLst>
              <a:ext uri="{FF2B5EF4-FFF2-40B4-BE49-F238E27FC236}">
                <a16:creationId xmlns:a16="http://schemas.microsoft.com/office/drawing/2014/main" id="{4C9E5C70-A407-2DE2-11BA-D3C5B05E572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8407552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76E1317D-C080-F970-4D44-DFB76950D1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af032c298c_0_50:notes">
            <a:extLst>
              <a:ext uri="{FF2B5EF4-FFF2-40B4-BE49-F238E27FC236}">
                <a16:creationId xmlns:a16="http://schemas.microsoft.com/office/drawing/2014/main" id="{DE130D8F-B053-D174-6B05-E2BEC6E6C8F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af032c298c_0_50:notes">
            <a:extLst>
              <a:ext uri="{FF2B5EF4-FFF2-40B4-BE49-F238E27FC236}">
                <a16:creationId xmlns:a16="http://schemas.microsoft.com/office/drawing/2014/main" id="{89B2F3B2-7D81-30EF-7B8E-996093B4EB7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8978422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A07D0A2A-1F34-5244-8CEE-BFD4587D78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af032c298c_0_50:notes">
            <a:extLst>
              <a:ext uri="{FF2B5EF4-FFF2-40B4-BE49-F238E27FC236}">
                <a16:creationId xmlns:a16="http://schemas.microsoft.com/office/drawing/2014/main" id="{D7751428-F7BB-F348-88DB-EBC97C04B3B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af032c298c_0_50:notes">
            <a:extLst>
              <a:ext uri="{FF2B5EF4-FFF2-40B4-BE49-F238E27FC236}">
                <a16:creationId xmlns:a16="http://schemas.microsoft.com/office/drawing/2014/main" id="{6C84A5F8-FC6D-1A57-9AF4-01661C5D43C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7262455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7BDCEBDF-5969-F601-AFEC-80853850A6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af032c298c_0_50:notes">
            <a:extLst>
              <a:ext uri="{FF2B5EF4-FFF2-40B4-BE49-F238E27FC236}">
                <a16:creationId xmlns:a16="http://schemas.microsoft.com/office/drawing/2014/main" id="{908D8EE0-AE67-2C6A-6115-DA8AD28530C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af032c298c_0_50:notes">
            <a:extLst>
              <a:ext uri="{FF2B5EF4-FFF2-40B4-BE49-F238E27FC236}">
                <a16:creationId xmlns:a16="http://schemas.microsoft.com/office/drawing/2014/main" id="{20ED4DAA-60CC-E07E-3626-2093998D43C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4014267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EA814B36-B199-C601-91E2-F7F4021BF4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af032c298c_0_50:notes">
            <a:extLst>
              <a:ext uri="{FF2B5EF4-FFF2-40B4-BE49-F238E27FC236}">
                <a16:creationId xmlns:a16="http://schemas.microsoft.com/office/drawing/2014/main" id="{22928950-67FD-BC43-8A17-7A0702D2361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af032c298c_0_50:notes">
            <a:extLst>
              <a:ext uri="{FF2B5EF4-FFF2-40B4-BE49-F238E27FC236}">
                <a16:creationId xmlns:a16="http://schemas.microsoft.com/office/drawing/2014/main" id="{7F96A021-E8F3-C8D3-99D8-92141C8AEF5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5646765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D388EE02-4098-0143-DA13-0F27AC07BB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af032c298c_0_50:notes">
            <a:extLst>
              <a:ext uri="{FF2B5EF4-FFF2-40B4-BE49-F238E27FC236}">
                <a16:creationId xmlns:a16="http://schemas.microsoft.com/office/drawing/2014/main" id="{58B865CC-E2AE-EDF4-F3DA-FD07FC9ED1B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af032c298c_0_50:notes">
            <a:extLst>
              <a:ext uri="{FF2B5EF4-FFF2-40B4-BE49-F238E27FC236}">
                <a16:creationId xmlns:a16="http://schemas.microsoft.com/office/drawing/2014/main" id="{9CC52943-BB7C-2CDA-6AAE-ECB3E54ECE0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9172403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6BFC7EF9-8B52-0DED-74B0-D47F204F06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af032c298c_0_50:notes">
            <a:extLst>
              <a:ext uri="{FF2B5EF4-FFF2-40B4-BE49-F238E27FC236}">
                <a16:creationId xmlns:a16="http://schemas.microsoft.com/office/drawing/2014/main" id="{D5731E4E-393A-5681-879C-44805A08C87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af032c298c_0_50:notes">
            <a:extLst>
              <a:ext uri="{FF2B5EF4-FFF2-40B4-BE49-F238E27FC236}">
                <a16:creationId xmlns:a16="http://schemas.microsoft.com/office/drawing/2014/main" id="{F66CB989-A529-DA53-ABBD-F491BC153BC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8354722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10DA3F42-6284-6FF5-1A0B-6BF190F1CD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af032c298c_0_50:notes">
            <a:extLst>
              <a:ext uri="{FF2B5EF4-FFF2-40B4-BE49-F238E27FC236}">
                <a16:creationId xmlns:a16="http://schemas.microsoft.com/office/drawing/2014/main" id="{5960F12C-D626-63FB-3AF8-13B01478421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af032c298c_0_50:notes">
            <a:extLst>
              <a:ext uri="{FF2B5EF4-FFF2-40B4-BE49-F238E27FC236}">
                <a16:creationId xmlns:a16="http://schemas.microsoft.com/office/drawing/2014/main" id="{D54AC780-4C49-173D-C0A9-90D533CD90A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0926053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BB7993E1-611E-0085-894E-D2DB0A2949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af032c298c_0_50:notes">
            <a:extLst>
              <a:ext uri="{FF2B5EF4-FFF2-40B4-BE49-F238E27FC236}">
                <a16:creationId xmlns:a16="http://schemas.microsoft.com/office/drawing/2014/main" id="{1A64E410-7C5E-B2C4-EF7E-1A166C08CB1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af032c298c_0_50:notes">
            <a:extLst>
              <a:ext uri="{FF2B5EF4-FFF2-40B4-BE49-F238E27FC236}">
                <a16:creationId xmlns:a16="http://schemas.microsoft.com/office/drawing/2014/main" id="{C4C82293-9696-9EC0-3F47-FB75750037D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8917562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8070311C-0EB3-D4B9-D611-4FA08D381B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af032c298c_0_50:notes">
            <a:extLst>
              <a:ext uri="{FF2B5EF4-FFF2-40B4-BE49-F238E27FC236}">
                <a16:creationId xmlns:a16="http://schemas.microsoft.com/office/drawing/2014/main" id="{CE5D30FE-C18E-A613-D2A4-0C8B505D08E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af032c298c_0_50:notes">
            <a:extLst>
              <a:ext uri="{FF2B5EF4-FFF2-40B4-BE49-F238E27FC236}">
                <a16:creationId xmlns:a16="http://schemas.microsoft.com/office/drawing/2014/main" id="{2C861D73-0057-99AD-97F6-6752FF75147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9054595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A6052508-6D8A-40B1-17C2-D3750F41E8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af032c298c_0_50:notes">
            <a:extLst>
              <a:ext uri="{FF2B5EF4-FFF2-40B4-BE49-F238E27FC236}">
                <a16:creationId xmlns:a16="http://schemas.microsoft.com/office/drawing/2014/main" id="{68B10C3E-37A0-53F2-3050-C8A30AF7D01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af032c298c_0_50:notes">
            <a:extLst>
              <a:ext uri="{FF2B5EF4-FFF2-40B4-BE49-F238E27FC236}">
                <a16:creationId xmlns:a16="http://schemas.microsoft.com/office/drawing/2014/main" id="{7BC36A1D-C2F5-E1C6-E18D-BFDA0444941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0846367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D61043FC-631C-BFB7-6BA3-175F151D3B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af032c298c_0_50:notes">
            <a:extLst>
              <a:ext uri="{FF2B5EF4-FFF2-40B4-BE49-F238E27FC236}">
                <a16:creationId xmlns:a16="http://schemas.microsoft.com/office/drawing/2014/main" id="{E7C2C7C8-D6FD-0B05-8C79-F8E5702C486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af032c298c_0_50:notes">
            <a:extLst>
              <a:ext uri="{FF2B5EF4-FFF2-40B4-BE49-F238E27FC236}">
                <a16:creationId xmlns:a16="http://schemas.microsoft.com/office/drawing/2014/main" id="{9C1022FF-29C3-85EC-85C6-EB3720F97AC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6799611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4C8C3A25-11C2-F550-C513-61BA45FF80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af032c298c_0_50:notes">
            <a:extLst>
              <a:ext uri="{FF2B5EF4-FFF2-40B4-BE49-F238E27FC236}">
                <a16:creationId xmlns:a16="http://schemas.microsoft.com/office/drawing/2014/main" id="{1AAC1FDE-F9E8-61AF-CB45-502F7F06409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af032c298c_0_50:notes">
            <a:extLst>
              <a:ext uri="{FF2B5EF4-FFF2-40B4-BE49-F238E27FC236}">
                <a16:creationId xmlns:a16="http://schemas.microsoft.com/office/drawing/2014/main" id="{2EF79548-7672-483C-3BEB-4B91A17C355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5246451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2AD98394-D820-23A0-2834-AD5FCD3C9A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af032c298c_0_50:notes">
            <a:extLst>
              <a:ext uri="{FF2B5EF4-FFF2-40B4-BE49-F238E27FC236}">
                <a16:creationId xmlns:a16="http://schemas.microsoft.com/office/drawing/2014/main" id="{F9353ED2-EC04-B744-5403-773E6177CDA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af032c298c_0_50:notes">
            <a:extLst>
              <a:ext uri="{FF2B5EF4-FFF2-40B4-BE49-F238E27FC236}">
                <a16:creationId xmlns:a16="http://schemas.microsoft.com/office/drawing/2014/main" id="{A06C9333-8C61-B76A-BF46-7C0F955BCE5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2507589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1F96B3CD-C4A3-B911-526C-094B1CB9F8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af032c298c_0_50:notes">
            <a:extLst>
              <a:ext uri="{FF2B5EF4-FFF2-40B4-BE49-F238E27FC236}">
                <a16:creationId xmlns:a16="http://schemas.microsoft.com/office/drawing/2014/main" id="{9013AE81-34DF-F746-3441-B4D4E23FB0D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af032c298c_0_50:notes">
            <a:extLst>
              <a:ext uri="{FF2B5EF4-FFF2-40B4-BE49-F238E27FC236}">
                <a16:creationId xmlns:a16="http://schemas.microsoft.com/office/drawing/2014/main" id="{C634E8B0-26B1-A9C5-2DAE-998940247E9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5875658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F96AFD17-B032-3236-7B3E-A33152BEBE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af032c298c_0_50:notes">
            <a:extLst>
              <a:ext uri="{FF2B5EF4-FFF2-40B4-BE49-F238E27FC236}">
                <a16:creationId xmlns:a16="http://schemas.microsoft.com/office/drawing/2014/main" id="{5CA9B6F5-061D-702D-3085-EA7911634CE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af032c298c_0_50:notes">
            <a:extLst>
              <a:ext uri="{FF2B5EF4-FFF2-40B4-BE49-F238E27FC236}">
                <a16:creationId xmlns:a16="http://schemas.microsoft.com/office/drawing/2014/main" id="{276BC44C-168F-1758-A237-690A9E28CBF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6874600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04ABFD3F-BBE3-7CCA-F678-62CB05E854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af032c298c_0_50:notes">
            <a:extLst>
              <a:ext uri="{FF2B5EF4-FFF2-40B4-BE49-F238E27FC236}">
                <a16:creationId xmlns:a16="http://schemas.microsoft.com/office/drawing/2014/main" id="{2D21658C-6C63-8339-8B36-EFA0F958F4E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af032c298c_0_50:notes">
            <a:extLst>
              <a:ext uri="{FF2B5EF4-FFF2-40B4-BE49-F238E27FC236}">
                <a16:creationId xmlns:a16="http://schemas.microsoft.com/office/drawing/2014/main" id="{9B2095B2-8DF2-3E53-DD9E-689948DEEF6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6681206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6E618DC4-67D3-D447-0F38-B602BFCF79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af032c298c_0_50:notes">
            <a:extLst>
              <a:ext uri="{FF2B5EF4-FFF2-40B4-BE49-F238E27FC236}">
                <a16:creationId xmlns:a16="http://schemas.microsoft.com/office/drawing/2014/main" id="{EF5D8584-BC89-ABCD-F185-96FA9AD9812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af032c298c_0_50:notes">
            <a:extLst>
              <a:ext uri="{FF2B5EF4-FFF2-40B4-BE49-F238E27FC236}">
                <a16:creationId xmlns:a16="http://schemas.microsoft.com/office/drawing/2014/main" id="{D7808A5B-A292-9191-40DC-773E45317B0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529956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af032c298c_0_1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af032c298c_0_1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 title="Sem título-1.jpg"/>
          <p:cNvPicPr preferRelativeResize="0"/>
          <p:nvPr/>
        </p:nvPicPr>
        <p:blipFill rotWithShape="1">
          <a:blip r:embed="rId2">
            <a:alphaModFix/>
          </a:blip>
          <a:srcRect l="11705" t="17901" r="9894" b="15970"/>
          <a:stretch/>
        </p:blipFill>
        <p:spPr>
          <a:xfrm>
            <a:off x="0" y="0"/>
            <a:ext cx="9143997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1690375" y="1598750"/>
            <a:ext cx="5642700" cy="144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841C39"/>
              </a:buClr>
              <a:buSzPts val="4000"/>
              <a:buFont typeface="Impact"/>
              <a:buNone/>
              <a:defRPr sz="4000">
                <a:solidFill>
                  <a:srgbClr val="841C39"/>
                </a:solidFill>
                <a:latin typeface="Impact"/>
                <a:ea typeface="Impact"/>
                <a:cs typeface="Impact"/>
                <a:sym typeface="Impac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ubTitle" idx="1"/>
          </p:nvPr>
        </p:nvSpPr>
        <p:spPr>
          <a:xfrm>
            <a:off x="1181851" y="2871416"/>
            <a:ext cx="67803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D1045"/>
              </a:buClr>
              <a:buSzPts val="2400"/>
              <a:buNone/>
              <a:defRPr sz="2400">
                <a:solidFill>
                  <a:srgbClr val="DD1045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D1045"/>
              </a:buClr>
              <a:buSzPts val="2400"/>
              <a:buNone/>
              <a:defRPr sz="2400">
                <a:solidFill>
                  <a:srgbClr val="DD1045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D1045"/>
              </a:buClr>
              <a:buSzPts val="2400"/>
              <a:buNone/>
              <a:defRPr sz="2400">
                <a:solidFill>
                  <a:srgbClr val="DD1045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D1045"/>
              </a:buClr>
              <a:buSzPts val="2400"/>
              <a:buNone/>
              <a:defRPr sz="2400">
                <a:solidFill>
                  <a:srgbClr val="DD1045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D1045"/>
              </a:buClr>
              <a:buSzPts val="2400"/>
              <a:buNone/>
              <a:defRPr sz="2400">
                <a:solidFill>
                  <a:srgbClr val="DD1045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D1045"/>
              </a:buClr>
              <a:buSzPts val="2400"/>
              <a:buNone/>
              <a:defRPr sz="2400">
                <a:solidFill>
                  <a:srgbClr val="DD1045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D1045"/>
              </a:buClr>
              <a:buSzPts val="2400"/>
              <a:buNone/>
              <a:defRPr sz="2400">
                <a:solidFill>
                  <a:srgbClr val="DD1045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D1045"/>
              </a:buClr>
              <a:buSzPts val="2400"/>
              <a:buNone/>
              <a:defRPr sz="2400">
                <a:solidFill>
                  <a:srgbClr val="DD1045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D1045"/>
              </a:buClr>
              <a:buSzPts val="2400"/>
              <a:buNone/>
              <a:defRPr sz="2400">
                <a:solidFill>
                  <a:srgbClr val="DD1045"/>
                </a:solidFill>
              </a:defRPr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pic>
        <p:nvPicPr>
          <p:cNvPr id="14" name="Google Shape;14;p2" title="Logo Libertas 185x7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25388" y="4068275"/>
            <a:ext cx="2172676" cy="882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841C39"/>
              </a:buClr>
              <a:buSzPts val="2800"/>
              <a:buNone/>
              <a:defRPr>
                <a:solidFill>
                  <a:srgbClr val="841C39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81000">
              <a:spcBef>
                <a:spcPts val="0"/>
              </a:spcBef>
              <a:spcAft>
                <a:spcPts val="0"/>
              </a:spcAft>
              <a:buClr>
                <a:srgbClr val="3C5258"/>
              </a:buClr>
              <a:buSzPts val="2400"/>
              <a:buChar char="●"/>
              <a:defRPr sz="2400">
                <a:solidFill>
                  <a:srgbClr val="3C5258"/>
                </a:solidFill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C5258"/>
              </a:buClr>
              <a:buSzPts val="2000"/>
              <a:buChar char="○"/>
              <a:defRPr sz="2000">
                <a:solidFill>
                  <a:srgbClr val="3C5258"/>
                </a:solidFill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C5258"/>
              </a:buClr>
              <a:buSzPts val="2000"/>
              <a:buChar char="■"/>
              <a:defRPr sz="2000">
                <a:solidFill>
                  <a:srgbClr val="3C5258"/>
                </a:solidFill>
              </a:defRPr>
            </a:lvl3pPr>
            <a:lvl4pPr marL="1828800" lvl="3" indent="-355600">
              <a:spcBef>
                <a:spcPts val="0"/>
              </a:spcBef>
              <a:spcAft>
                <a:spcPts val="0"/>
              </a:spcAft>
              <a:buClr>
                <a:srgbClr val="3C5258"/>
              </a:buClr>
              <a:buSzPts val="2000"/>
              <a:buChar char="●"/>
              <a:defRPr sz="2000">
                <a:solidFill>
                  <a:srgbClr val="3C5258"/>
                </a:solidFill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C5258"/>
              </a:buClr>
              <a:buSzPts val="2000"/>
              <a:buChar char="○"/>
              <a:defRPr sz="2000">
                <a:solidFill>
                  <a:srgbClr val="3C5258"/>
                </a:solidFill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C5258"/>
              </a:buClr>
              <a:buSzPts val="2000"/>
              <a:buChar char="■"/>
              <a:defRPr sz="2000">
                <a:solidFill>
                  <a:srgbClr val="3C5258"/>
                </a:solidFill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C5258"/>
              </a:buClr>
              <a:buSzPts val="2000"/>
              <a:buChar char="●"/>
              <a:defRPr sz="2000">
                <a:solidFill>
                  <a:srgbClr val="3C5258"/>
                </a:solidFill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C5258"/>
              </a:buClr>
              <a:buSzPts val="2000"/>
              <a:buChar char="○"/>
              <a:defRPr sz="2000">
                <a:solidFill>
                  <a:srgbClr val="3C5258"/>
                </a:solidFill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C5258"/>
              </a:buClr>
              <a:buSzPts val="2000"/>
              <a:buChar char="■"/>
              <a:defRPr sz="2000">
                <a:solidFill>
                  <a:srgbClr val="3C5258"/>
                </a:solidFill>
              </a:defRPr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pic>
        <p:nvPicPr>
          <p:cNvPr id="24" name="Google Shape;24;p4" title="Sem título-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7437998" y="3437502"/>
            <a:ext cx="1311675" cy="210032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25" name="Google Shape;25;p4" title="Logo Libertas 185x75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5607" y="4568524"/>
            <a:ext cx="1410280" cy="572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pic>
        <p:nvPicPr>
          <p:cNvPr id="37" name="Google Shape;37;p7" title="Logo Libertas 185x7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66869" y="4576649"/>
            <a:ext cx="1410280" cy="57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" name="Google Shape;38;p7" title="Sem título-1.png"/>
          <p:cNvPicPr preferRelativeResize="0"/>
          <p:nvPr/>
        </p:nvPicPr>
        <p:blipFill rotWithShape="1">
          <a:blip r:embed="rId4">
            <a:alphaModFix/>
          </a:blip>
          <a:srcRect t="7114" r="22779"/>
          <a:stretch/>
        </p:blipFill>
        <p:spPr>
          <a:xfrm>
            <a:off x="6936925" y="0"/>
            <a:ext cx="2207074" cy="4251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3" r:id="rId3"/>
  </p:sldLayoutIdLst>
  <p:transition spd="med">
    <p:fade thruBlk="1"/>
  </p:transition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>
            <a:spLocks noGrp="1"/>
          </p:cNvSpPr>
          <p:nvPr>
            <p:ph type="ctrTitle"/>
          </p:nvPr>
        </p:nvSpPr>
        <p:spPr>
          <a:xfrm>
            <a:off x="1690375" y="1598750"/>
            <a:ext cx="5642700" cy="144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lvl="0"/>
            <a:r>
              <a:rPr lang="pt-BR" altLang="en-US" dirty="0"/>
              <a:t>POO – Qualificadores de Acesso</a:t>
            </a:r>
            <a:endParaRPr dirty="0"/>
          </a:p>
        </p:txBody>
      </p:sp>
      <p:sp>
        <p:nvSpPr>
          <p:cNvPr id="44" name="Google Shape;44;p8"/>
          <p:cNvSpPr txBox="1">
            <a:spLocks noGrp="1"/>
          </p:cNvSpPr>
          <p:nvPr>
            <p:ph type="subTitle" idx="1"/>
          </p:nvPr>
        </p:nvSpPr>
        <p:spPr>
          <a:xfrm>
            <a:off x="1181851" y="2871416"/>
            <a:ext cx="67803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/>
            <a:r>
              <a:rPr lang="pt-BR" altLang="en-US" dirty="0"/>
              <a:t>Tópicos da Aula</a:t>
            </a:r>
            <a:endParaRPr dirty="0"/>
          </a:p>
        </p:txBody>
      </p:sp>
      <p:sp>
        <p:nvSpPr>
          <p:cNvPr id="55" name="Google Shape;55;p1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eaLnBrk="1" hangingPunct="1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pt-BR" altLang="en-US" dirty="0"/>
              <a:t>Modificadores de Acesso – Visibilidade</a:t>
            </a:r>
          </a:p>
          <a:p>
            <a:pPr lvl="1" eaLnBrk="1" hangingPunct="1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pt-BR" altLang="en-US" sz="2200" dirty="0"/>
              <a:t>Modificador Público (</a:t>
            </a:r>
            <a:r>
              <a:rPr lang="pt-BR" altLang="en-US" sz="2200" i="1" dirty="0" err="1"/>
              <a:t>public</a:t>
            </a:r>
            <a:r>
              <a:rPr lang="pt-BR" altLang="en-US" sz="2200" dirty="0"/>
              <a:t>)</a:t>
            </a:r>
          </a:p>
          <a:p>
            <a:pPr lvl="1" eaLnBrk="1" hangingPunct="1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pt-BR" altLang="en-US" sz="2200" dirty="0"/>
              <a:t>Protegido (</a:t>
            </a:r>
            <a:r>
              <a:rPr lang="pt-BR" altLang="en-US" sz="2200" i="1" dirty="0" err="1"/>
              <a:t>protected</a:t>
            </a:r>
            <a:r>
              <a:rPr lang="pt-BR" altLang="en-US" sz="2200" dirty="0"/>
              <a:t>)</a:t>
            </a:r>
          </a:p>
          <a:p>
            <a:pPr lvl="1" eaLnBrk="1" hangingPunct="1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pt-BR" altLang="en-US" sz="2200" dirty="0"/>
              <a:t>Privado (</a:t>
            </a:r>
            <a:r>
              <a:rPr lang="pt-BR" altLang="en-US" sz="2200" i="1" dirty="0" err="1"/>
              <a:t>private</a:t>
            </a:r>
            <a:r>
              <a:rPr lang="pt-BR" altLang="en-US" sz="2200" dirty="0"/>
              <a:t>)</a:t>
            </a:r>
          </a:p>
          <a:p>
            <a:pPr eaLnBrk="1" hangingPunct="1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pt-BR" altLang="pt-BR" dirty="0"/>
              <a:t>Pacotes – </a:t>
            </a:r>
            <a:r>
              <a:rPr lang="pt-BR" altLang="pt-BR" i="1" dirty="0" err="1"/>
              <a:t>package</a:t>
            </a:r>
            <a:endParaRPr lang="pt-BR" altLang="pt-BR" i="1" dirty="0"/>
          </a:p>
          <a:p>
            <a:pPr eaLnBrk="1" hangingPunct="1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pt-BR" altLang="en-US" dirty="0"/>
              <a:t>Comando </a:t>
            </a:r>
            <a:r>
              <a:rPr lang="pt-BR" altLang="en-US" i="1" dirty="0"/>
              <a:t>‘</a:t>
            </a:r>
            <a:r>
              <a:rPr lang="pt-BR" altLang="en-US" i="1" dirty="0" err="1"/>
              <a:t>import</a:t>
            </a:r>
            <a:r>
              <a:rPr lang="pt-BR" altLang="en-US" i="1" dirty="0"/>
              <a:t>’</a:t>
            </a:r>
          </a:p>
          <a:p>
            <a:pPr eaLnBrk="1" hangingPunct="1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pt-BR" altLang="en-US" dirty="0"/>
              <a:t>Recomendação para estabelecimento de visibilidade para Atributos e Métodos</a:t>
            </a:r>
          </a:p>
          <a:p>
            <a:pPr eaLnBrk="1" hangingPunct="1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pt-BR" altLang="en-US" dirty="0"/>
              <a:t>Exemplos Práticos e Exercícios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C7CDB7EE-01F3-10D4-D5B4-7F6FE652F4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0">
            <a:extLst>
              <a:ext uri="{FF2B5EF4-FFF2-40B4-BE49-F238E27FC236}">
                <a16:creationId xmlns:a16="http://schemas.microsoft.com/office/drawing/2014/main" id="{1BFA431F-12E4-2961-D257-6A1D73C3026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/>
            <a:r>
              <a:rPr lang="pt-BR" altLang="pt-BR" dirty="0"/>
              <a:t>Vamos fazer uma analogia...</a:t>
            </a:r>
            <a:endParaRPr dirty="0"/>
          </a:p>
        </p:txBody>
      </p:sp>
      <p:sp>
        <p:nvSpPr>
          <p:cNvPr id="55" name="Google Shape;55;p10">
            <a:extLst>
              <a:ext uri="{FF2B5EF4-FFF2-40B4-BE49-F238E27FC236}">
                <a16:creationId xmlns:a16="http://schemas.microsoft.com/office/drawing/2014/main" id="{72041931-2164-7717-3191-FCA61C3CC15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2" name="Espaço Reservado para Conteúdo 4">
            <a:extLst>
              <a:ext uri="{FF2B5EF4-FFF2-40B4-BE49-F238E27FC236}">
                <a16:creationId xmlns:a16="http://schemas.microsoft.com/office/drawing/2014/main" id="{3F6DB612-C111-9F64-38FB-5A71F445461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373734" y="1152475"/>
            <a:ext cx="4396531" cy="380926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785088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C93F6F41-29A0-A472-9A12-104FA98787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0">
            <a:extLst>
              <a:ext uri="{FF2B5EF4-FFF2-40B4-BE49-F238E27FC236}">
                <a16:creationId xmlns:a16="http://schemas.microsoft.com/office/drawing/2014/main" id="{A1431E2C-F9C0-7A6E-29E1-1BADFD0FB57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/>
            <a:r>
              <a:rPr lang="pt-BR" altLang="pt-BR" dirty="0"/>
              <a:t>Outra analogia...</a:t>
            </a:r>
            <a:endParaRPr dirty="0"/>
          </a:p>
        </p:txBody>
      </p:sp>
      <p:sp>
        <p:nvSpPr>
          <p:cNvPr id="55" name="Google Shape;55;p10">
            <a:extLst>
              <a:ext uri="{FF2B5EF4-FFF2-40B4-BE49-F238E27FC236}">
                <a16:creationId xmlns:a16="http://schemas.microsoft.com/office/drawing/2014/main" id="{50444549-EEC5-725E-CBEA-18D44A8833C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dirty="0"/>
          </a:p>
        </p:txBody>
      </p:sp>
      <p:pic>
        <p:nvPicPr>
          <p:cNvPr id="2" name="Espaço Reservado para Conteúdo 4">
            <a:extLst>
              <a:ext uri="{FF2B5EF4-FFF2-40B4-BE49-F238E27FC236}">
                <a16:creationId xmlns:a16="http://schemas.microsoft.com/office/drawing/2014/main" id="{F31656C7-F85A-60DD-B3A3-5EA9C8C164DF}"/>
              </a:ext>
            </a:extLst>
          </p:cNvPr>
          <p:cNvPicPr>
            <a:picLocks noGrp="1" noChangeAspect="1"/>
          </p:cNvPicPr>
          <p:nvPr>
            <p:ph sz="quarter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709636" y="1152475"/>
            <a:ext cx="5724728" cy="3515948"/>
          </a:xfrm>
        </p:spPr>
      </p:pic>
      <p:pic>
        <p:nvPicPr>
          <p:cNvPr id="3" name="Espaço Reservado para Conteúdo 4">
            <a:extLst>
              <a:ext uri="{FF2B5EF4-FFF2-40B4-BE49-F238E27FC236}">
                <a16:creationId xmlns:a16="http://schemas.microsoft.com/office/drawing/2014/main" id="{015CE89E-2932-C0F5-82F0-E9D28E09D3B6}"/>
              </a:ext>
            </a:extLst>
          </p:cNvPr>
          <p:cNvPicPr>
            <a:picLocks noGrp="1" noChangeAspect="1"/>
          </p:cNvPicPr>
          <p:nvPr>
            <p:ph sz="quarter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601715" y="1152475"/>
            <a:ext cx="5940569" cy="3648510"/>
          </a:xfrm>
        </p:spPr>
      </p:pic>
    </p:spTree>
    <p:extLst>
      <p:ext uri="{BB962C8B-B14F-4D97-AF65-F5344CB8AC3E}">
        <p14:creationId xmlns:p14="http://schemas.microsoft.com/office/powerpoint/2010/main" val="21200299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4228A478-E2A7-5871-097B-D03874757F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0">
            <a:extLst>
              <a:ext uri="{FF2B5EF4-FFF2-40B4-BE49-F238E27FC236}">
                <a16:creationId xmlns:a16="http://schemas.microsoft.com/office/drawing/2014/main" id="{B8313F85-3AC2-1FA1-E3B3-7E5BA603812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/>
            <a:r>
              <a:rPr lang="pt-BR" altLang="pt-BR" dirty="0"/>
              <a:t>Outra analogia...</a:t>
            </a:r>
            <a:endParaRPr dirty="0"/>
          </a:p>
        </p:txBody>
      </p:sp>
      <p:sp>
        <p:nvSpPr>
          <p:cNvPr id="55" name="Google Shape;55;p10">
            <a:extLst>
              <a:ext uri="{FF2B5EF4-FFF2-40B4-BE49-F238E27FC236}">
                <a16:creationId xmlns:a16="http://schemas.microsoft.com/office/drawing/2014/main" id="{D54D66DC-DF96-16C9-4D45-5D1537B8F2E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2" name="Espaço Reservado para Conteúdo 4">
            <a:extLst>
              <a:ext uri="{FF2B5EF4-FFF2-40B4-BE49-F238E27FC236}">
                <a16:creationId xmlns:a16="http://schemas.microsoft.com/office/drawing/2014/main" id="{69C859ED-CE8C-14E0-4F9B-1DE461CCFD7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486303" y="1123620"/>
            <a:ext cx="6171393" cy="347411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431877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6EFB1DFE-191C-3F44-57C5-0EBA00E490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0">
            <a:extLst>
              <a:ext uri="{FF2B5EF4-FFF2-40B4-BE49-F238E27FC236}">
                <a16:creationId xmlns:a16="http://schemas.microsoft.com/office/drawing/2014/main" id="{C5978171-02E3-EE89-F65F-D4C798B8B9C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/>
            <a:r>
              <a:rPr lang="pt-BR" altLang="pt-BR" dirty="0"/>
              <a:t>Outra analogia...</a:t>
            </a:r>
            <a:endParaRPr dirty="0"/>
          </a:p>
        </p:txBody>
      </p:sp>
      <p:sp>
        <p:nvSpPr>
          <p:cNvPr id="55" name="Google Shape;55;p10">
            <a:extLst>
              <a:ext uri="{FF2B5EF4-FFF2-40B4-BE49-F238E27FC236}">
                <a16:creationId xmlns:a16="http://schemas.microsoft.com/office/drawing/2014/main" id="{AE7273C8-71AA-B9E9-2096-8DE410AB7E2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2" name="Espaço Reservado para Conteúdo 4">
            <a:extLst>
              <a:ext uri="{FF2B5EF4-FFF2-40B4-BE49-F238E27FC236}">
                <a16:creationId xmlns:a16="http://schemas.microsoft.com/office/drawing/2014/main" id="{3C690D43-C827-B3DB-2A6D-365D963F216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930062" y="1152475"/>
            <a:ext cx="5002889" cy="3759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851791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5F297F64-850D-8117-504C-F0C830DD05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0">
            <a:extLst>
              <a:ext uri="{FF2B5EF4-FFF2-40B4-BE49-F238E27FC236}">
                <a16:creationId xmlns:a16="http://schemas.microsoft.com/office/drawing/2014/main" id="{B42BD389-8E6B-4E19-78DE-7B750235C36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/>
            <a:r>
              <a:rPr lang="pt-BR" altLang="pt-BR" dirty="0"/>
              <a:t>Qualificadores de Acesso</a:t>
            </a:r>
            <a:endParaRPr dirty="0"/>
          </a:p>
        </p:txBody>
      </p:sp>
      <p:sp>
        <p:nvSpPr>
          <p:cNvPr id="55" name="Google Shape;55;p10">
            <a:extLst>
              <a:ext uri="{FF2B5EF4-FFF2-40B4-BE49-F238E27FC236}">
                <a16:creationId xmlns:a16="http://schemas.microsoft.com/office/drawing/2014/main" id="{D0F44A50-C9FA-D48F-E38B-EBC08138EB9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pt-BR" altLang="pt-BR" dirty="0"/>
              <a:t>Definem quem ou o que pode ser </a:t>
            </a:r>
            <a:r>
              <a:rPr lang="pt-BR" altLang="pt-BR" b="1" i="1" dirty="0">
                <a:solidFill>
                  <a:srgbClr val="0000CC"/>
                </a:solidFill>
                <a:latin typeface="Comic Sans MS" panose="030F0702030302020204" pitchFamily="66" charset="0"/>
              </a:rPr>
              <a:t>visível</a:t>
            </a:r>
            <a:r>
              <a:rPr lang="pt-BR" altLang="pt-BR" dirty="0">
                <a:solidFill>
                  <a:srgbClr val="0000CC"/>
                </a:solidFill>
              </a:rPr>
              <a:t> </a:t>
            </a:r>
            <a:r>
              <a:rPr lang="pt-BR" altLang="pt-BR" dirty="0"/>
              <a:t>ou </a:t>
            </a:r>
            <a:r>
              <a:rPr lang="pt-BR" altLang="pt-BR" b="1" i="1" dirty="0">
                <a:solidFill>
                  <a:srgbClr val="0000CC"/>
                </a:solidFill>
                <a:latin typeface="Comic Sans MS" panose="030F0702030302020204" pitchFamily="66" charset="0"/>
              </a:rPr>
              <a:t>acessível</a:t>
            </a:r>
            <a:r>
              <a:rPr lang="pt-BR" altLang="pt-BR" dirty="0">
                <a:solidFill>
                  <a:srgbClr val="0000CC"/>
                </a:solidFill>
              </a:rPr>
              <a:t> </a:t>
            </a:r>
            <a:r>
              <a:rPr lang="pt-BR" altLang="pt-BR" dirty="0"/>
              <a:t>nas </a:t>
            </a:r>
            <a:r>
              <a:rPr lang="pt-BR" altLang="pt-BR" b="1" dirty="0">
                <a:solidFill>
                  <a:srgbClr val="006600"/>
                </a:solidFill>
              </a:rPr>
              <a:t>classes</a:t>
            </a:r>
            <a:r>
              <a:rPr lang="pt-BR" altLang="pt-BR" dirty="0"/>
              <a:t>, </a:t>
            </a:r>
            <a:r>
              <a:rPr lang="pt-BR" altLang="pt-BR" b="1" dirty="0">
                <a:solidFill>
                  <a:srgbClr val="006600"/>
                </a:solidFill>
              </a:rPr>
              <a:t>atributos</a:t>
            </a:r>
            <a:r>
              <a:rPr lang="pt-BR" altLang="pt-BR" b="1" dirty="0"/>
              <a:t> </a:t>
            </a:r>
            <a:r>
              <a:rPr lang="pt-BR" altLang="pt-BR" dirty="0"/>
              <a:t>e </a:t>
            </a:r>
            <a:r>
              <a:rPr lang="pt-BR" altLang="pt-BR" b="1" dirty="0">
                <a:solidFill>
                  <a:srgbClr val="006600"/>
                </a:solidFill>
              </a:rPr>
              <a:t>métodos</a:t>
            </a:r>
            <a:r>
              <a:rPr lang="pt-BR" altLang="pt-BR" dirty="0"/>
              <a:t> e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pt-BR" altLang="pt-BR" sz="2200" dirty="0"/>
              <a:t>Consequentemente, dos </a:t>
            </a:r>
            <a:r>
              <a:rPr lang="pt-BR" altLang="pt-BR" sz="2200" b="1" dirty="0">
                <a:solidFill>
                  <a:srgbClr val="006600"/>
                </a:solidFill>
              </a:rPr>
              <a:t>objetos</a:t>
            </a:r>
            <a:r>
              <a:rPr lang="pt-BR" altLang="pt-BR" sz="2200" dirty="0">
                <a:solidFill>
                  <a:srgbClr val="006600"/>
                </a:solidFill>
              </a:rPr>
              <a:t> </a:t>
            </a:r>
            <a:r>
              <a:rPr lang="pt-BR" altLang="pt-BR" sz="2200" dirty="0"/>
              <a:t>dessas classes.</a:t>
            </a:r>
          </a:p>
          <a:p>
            <a:pPr eaLnBrk="1" hangingPunct="1">
              <a:buFont typeface="Arial" panose="020B0604020202020204" pitchFamily="34" charset="0"/>
              <a:buChar char="•"/>
            </a:pPr>
            <a:endParaRPr lang="pt-BR" altLang="en-US" dirty="0"/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pt-BR" altLang="en-US" dirty="0"/>
              <a:t>Controlam os atributos e os métodos de uma classe;</a:t>
            </a: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pt-BR" altLang="en-US" dirty="0"/>
              <a:t>Isto evita a inconsistência nos valores nos objetos.</a:t>
            </a:r>
          </a:p>
          <a:p>
            <a:endParaRPr lang="pt-BR" altLang="pt-BR" dirty="0"/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8009447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AD05238E-E9D8-CC03-90E2-C71AAA6BC6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0">
            <a:extLst>
              <a:ext uri="{FF2B5EF4-FFF2-40B4-BE49-F238E27FC236}">
                <a16:creationId xmlns:a16="http://schemas.microsoft.com/office/drawing/2014/main" id="{D463DBB5-00D3-E008-6DC9-4DABE2ED5D2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/>
            <a:r>
              <a:rPr lang="pt-BR" altLang="pt-BR" dirty="0"/>
              <a:t>Qualificadores de Acesso</a:t>
            </a:r>
            <a:endParaRPr dirty="0"/>
          </a:p>
        </p:txBody>
      </p:sp>
      <p:sp>
        <p:nvSpPr>
          <p:cNvPr id="55" name="Google Shape;55;p10">
            <a:extLst>
              <a:ext uri="{FF2B5EF4-FFF2-40B4-BE49-F238E27FC236}">
                <a16:creationId xmlns:a16="http://schemas.microsoft.com/office/drawing/2014/main" id="{688353B6-6E89-7E77-31FA-0BEF99C2F0E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eaLnBrk="1" hangingPunct="1">
              <a:lnSpc>
                <a:spcPct val="200000"/>
              </a:lnSpc>
              <a:defRPr/>
            </a:pPr>
            <a:r>
              <a:rPr lang="pt-BR" altLang="en-US" dirty="0"/>
              <a:t>Tipos de qualificadores básicos:</a:t>
            </a:r>
          </a:p>
          <a:p>
            <a:pPr lvl="1" eaLnBrk="1" hangingPunct="1">
              <a:lnSpc>
                <a:spcPct val="200000"/>
              </a:lnSpc>
              <a:defRPr/>
            </a:pPr>
            <a:r>
              <a:rPr lang="pt-BR" altLang="en-US" b="1" i="1" dirty="0" err="1">
                <a:solidFill>
                  <a:srgbClr val="006600"/>
                </a:solidFill>
              </a:rPr>
              <a:t>Public</a:t>
            </a:r>
            <a:r>
              <a:rPr lang="pt-BR" altLang="en-US" b="1" i="1" dirty="0">
                <a:solidFill>
                  <a:srgbClr val="006600"/>
                </a:solidFill>
              </a:rPr>
              <a:t> (+)</a:t>
            </a:r>
            <a:r>
              <a:rPr lang="pt-BR" altLang="en-US" i="1" dirty="0">
                <a:solidFill>
                  <a:srgbClr val="006600"/>
                </a:solidFill>
              </a:rPr>
              <a:t>: Público</a:t>
            </a:r>
            <a:endParaRPr lang="pt-BR" altLang="en-US" sz="1800" i="1" dirty="0">
              <a:solidFill>
                <a:srgbClr val="006600"/>
              </a:solidFill>
            </a:endParaRPr>
          </a:p>
          <a:p>
            <a:pPr lvl="1" eaLnBrk="1" hangingPunct="1">
              <a:lnSpc>
                <a:spcPct val="200000"/>
              </a:lnSpc>
              <a:defRPr/>
            </a:pPr>
            <a:r>
              <a:rPr lang="pt-BR" altLang="en-US" b="1" i="1" dirty="0" err="1">
                <a:solidFill>
                  <a:srgbClr val="0000CC"/>
                </a:solidFill>
              </a:rPr>
              <a:t>Protected</a:t>
            </a:r>
            <a:r>
              <a:rPr lang="pt-BR" altLang="en-US" b="1" i="1" dirty="0">
                <a:solidFill>
                  <a:srgbClr val="0000CC"/>
                </a:solidFill>
              </a:rPr>
              <a:t> (#): Protegido</a:t>
            </a:r>
          </a:p>
          <a:p>
            <a:pPr lvl="1" eaLnBrk="1" hangingPunct="1">
              <a:lnSpc>
                <a:spcPct val="200000"/>
              </a:lnSpc>
              <a:defRPr/>
            </a:pPr>
            <a:r>
              <a:rPr lang="pt-BR" altLang="en-US" b="1" i="1" dirty="0">
                <a:solidFill>
                  <a:srgbClr val="FF0000"/>
                </a:solidFill>
              </a:rPr>
              <a:t>Private</a:t>
            </a:r>
            <a:r>
              <a:rPr lang="pt-BR" altLang="en-US" i="1" dirty="0">
                <a:solidFill>
                  <a:srgbClr val="FF0000"/>
                </a:solidFill>
              </a:rPr>
              <a:t> (-): Privado</a:t>
            </a: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5884624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E4B2F90A-B14E-6B3C-5DF3-274FAD750A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0">
            <a:extLst>
              <a:ext uri="{FF2B5EF4-FFF2-40B4-BE49-F238E27FC236}">
                <a16:creationId xmlns:a16="http://schemas.microsoft.com/office/drawing/2014/main" id="{9882D40A-429F-84F2-A579-C74CDEDCB4F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/>
            <a:r>
              <a:rPr lang="pt-BR" altLang="pt-BR" dirty="0"/>
              <a:t>Qualificadores de Acesso</a:t>
            </a:r>
            <a:endParaRPr dirty="0"/>
          </a:p>
        </p:txBody>
      </p:sp>
      <p:sp>
        <p:nvSpPr>
          <p:cNvPr id="55" name="Google Shape;55;p10">
            <a:extLst>
              <a:ext uri="{FF2B5EF4-FFF2-40B4-BE49-F238E27FC236}">
                <a16:creationId xmlns:a16="http://schemas.microsoft.com/office/drawing/2014/main" id="{4297A957-E196-365F-9E6D-922BED29541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eaLnBrk="1" hangingPunct="1">
              <a:buFont typeface="Arial" panose="020B0604020202020204" pitchFamily="34" charset="0"/>
              <a:buChar char="•"/>
            </a:pPr>
            <a:r>
              <a:rPr lang="pt-BR" altLang="en-US" sz="2800" b="1" i="1" u="sng" dirty="0" err="1"/>
              <a:t>Public</a:t>
            </a:r>
            <a:r>
              <a:rPr lang="pt-BR" altLang="en-US" sz="2800" b="1" u="sng" dirty="0"/>
              <a:t> (+)</a:t>
            </a: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pt-BR" altLang="en-US" b="1" dirty="0"/>
              <a:t>Classe Pública:</a:t>
            </a:r>
            <a:r>
              <a:rPr lang="pt-BR" altLang="en-US" dirty="0"/>
              <a:t> Permite que todas as classes do sistema acessem determinados atributos e métodos.</a:t>
            </a:r>
          </a:p>
          <a:p>
            <a:pPr eaLnBrk="1" hangingPunct="1"/>
            <a:endParaRPr lang="pt-BR" altLang="en-US" sz="1200" dirty="0"/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dirty="0"/>
          </a:p>
        </p:txBody>
      </p:sp>
      <p:grpSp>
        <p:nvGrpSpPr>
          <p:cNvPr id="2" name="Grupo 1">
            <a:extLst>
              <a:ext uri="{FF2B5EF4-FFF2-40B4-BE49-F238E27FC236}">
                <a16:creationId xmlns:a16="http://schemas.microsoft.com/office/drawing/2014/main" id="{EA25C744-FDE2-0D64-E458-EDAFC1F843A8}"/>
              </a:ext>
            </a:extLst>
          </p:cNvPr>
          <p:cNvGrpSpPr>
            <a:grpSpLocks/>
          </p:cNvGrpSpPr>
          <p:nvPr/>
        </p:nvGrpSpPr>
        <p:grpSpPr bwMode="auto">
          <a:xfrm>
            <a:off x="1783076" y="2418878"/>
            <a:ext cx="3096222" cy="2587837"/>
            <a:chOff x="683568" y="2780928"/>
            <a:chExt cx="2808287" cy="3455988"/>
          </a:xfrm>
        </p:grpSpPr>
        <p:sp>
          <p:nvSpPr>
            <p:cNvPr id="3" name="Rectangle 5">
              <a:extLst>
                <a:ext uri="{FF2B5EF4-FFF2-40B4-BE49-F238E27FC236}">
                  <a16:creationId xmlns:a16="http://schemas.microsoft.com/office/drawing/2014/main" id="{3A0296F4-8F62-DB7A-4263-CA567C821D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3568" y="2780928"/>
              <a:ext cx="2808287" cy="34559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ADCEDC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EB641B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EB641B"/>
                </a:buClr>
                <a:buChar char="o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EB641B"/>
                </a:buClr>
                <a:buChar char="o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EB641B"/>
                </a:buClr>
                <a:buChar char="o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EB641B"/>
                </a:buClr>
                <a:buChar char="o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EB641B"/>
                </a:buClr>
                <a:buChar char="o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latin typeface="Lucida Sans Unicode" panose="020B0602030504020204" pitchFamily="34" charset="0"/>
              </a:endParaRPr>
            </a:p>
          </p:txBody>
        </p:sp>
        <p:sp>
          <p:nvSpPr>
            <p:cNvPr id="4" name="Text Box 6">
              <a:extLst>
                <a:ext uri="{FF2B5EF4-FFF2-40B4-BE49-F238E27FC236}">
                  <a16:creationId xmlns:a16="http://schemas.microsoft.com/office/drawing/2014/main" id="{ACD86A1E-BE55-BFB9-AD77-6FC7D750139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40918" y="2780928"/>
              <a:ext cx="1060450" cy="3667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ADCEDC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EB641B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EB641B"/>
                </a:buClr>
                <a:buChar char="o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EB641B"/>
                </a:buClr>
                <a:buChar char="o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EB641B"/>
                </a:buClr>
                <a:buChar char="o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EB641B"/>
                </a:buClr>
                <a:buChar char="o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EB641B"/>
                </a:buClr>
                <a:buChar char="o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pt-BR" altLang="en-US" sz="1800">
                  <a:latin typeface="Tahoma" panose="020B0604030504040204" pitchFamily="34" charset="0"/>
                </a:rPr>
                <a:t>Sistema</a:t>
              </a:r>
            </a:p>
          </p:txBody>
        </p:sp>
        <p:sp>
          <p:nvSpPr>
            <p:cNvPr id="5" name="Rectangle 7">
              <a:extLst>
                <a:ext uri="{FF2B5EF4-FFF2-40B4-BE49-F238E27FC236}">
                  <a16:creationId xmlns:a16="http://schemas.microsoft.com/office/drawing/2014/main" id="{739136D1-E2E1-4DBD-B95A-D3DC7794F1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1055" y="3428628"/>
              <a:ext cx="2376488" cy="115252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ADCEDC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EB641B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EB641B"/>
                </a:buClr>
                <a:buChar char="o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EB641B"/>
                </a:buClr>
                <a:buChar char="o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EB641B"/>
                </a:buClr>
                <a:buChar char="o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EB641B"/>
                </a:buClr>
                <a:buChar char="o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EB641B"/>
                </a:buClr>
                <a:buChar char="o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latin typeface="Lucida Sans Unicode" panose="020B0602030504020204" pitchFamily="34" charset="0"/>
              </a:endParaRPr>
            </a:p>
          </p:txBody>
        </p:sp>
        <p:sp>
          <p:nvSpPr>
            <p:cNvPr id="6" name="Rectangle 8">
              <a:extLst>
                <a:ext uri="{FF2B5EF4-FFF2-40B4-BE49-F238E27FC236}">
                  <a16:creationId xmlns:a16="http://schemas.microsoft.com/office/drawing/2014/main" id="{990CDA3E-6559-8E92-8124-3F8545A5D1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1055" y="3068266"/>
              <a:ext cx="1150938" cy="36036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ADCEDC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EB641B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EB641B"/>
                </a:buClr>
                <a:buChar char="o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EB641B"/>
                </a:buClr>
                <a:buChar char="o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EB641B"/>
                </a:buClr>
                <a:buChar char="o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EB641B"/>
                </a:buClr>
                <a:buChar char="o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EB641B"/>
                </a:buClr>
                <a:buChar char="o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latin typeface="Lucida Sans Unicode" panose="020B0602030504020204" pitchFamily="34" charset="0"/>
              </a:endParaRPr>
            </a:p>
          </p:txBody>
        </p:sp>
        <p:sp>
          <p:nvSpPr>
            <p:cNvPr id="7" name="Text Box 9">
              <a:extLst>
                <a:ext uri="{FF2B5EF4-FFF2-40B4-BE49-F238E27FC236}">
                  <a16:creationId xmlns:a16="http://schemas.microsoft.com/office/drawing/2014/main" id="{251CD15C-EB86-D681-F3A7-83E81074FB7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72493" y="3860428"/>
              <a:ext cx="1054100" cy="349250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none"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ADCEDC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EB641B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EB641B"/>
                </a:buClr>
                <a:buChar char="o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EB641B"/>
                </a:buClr>
                <a:buChar char="o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EB641B"/>
                </a:buClr>
                <a:buChar char="o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EB641B"/>
                </a:buClr>
                <a:buChar char="o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EB641B"/>
                </a:buClr>
                <a:buChar char="o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pt-BR" altLang="en-US" sz="1600" dirty="0">
                  <a:latin typeface="Tahoma" panose="020B0604030504040204" pitchFamily="34" charset="0"/>
                </a:rPr>
                <a:t>Classe A</a:t>
              </a:r>
            </a:p>
          </p:txBody>
        </p:sp>
        <p:sp>
          <p:nvSpPr>
            <p:cNvPr id="8" name="Text Box 10">
              <a:extLst>
                <a:ext uri="{FF2B5EF4-FFF2-40B4-BE49-F238E27FC236}">
                  <a16:creationId xmlns:a16="http://schemas.microsoft.com/office/drawing/2014/main" id="{43B3C384-F8E1-4A38-D470-FD15FE21290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61530" y="3860428"/>
              <a:ext cx="1054100" cy="349250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none"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ADCEDC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EB641B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EB641B"/>
                </a:buClr>
                <a:buChar char="o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EB641B"/>
                </a:buClr>
                <a:buChar char="o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EB641B"/>
                </a:buClr>
                <a:buChar char="o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EB641B"/>
                </a:buClr>
                <a:buChar char="o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EB641B"/>
                </a:buClr>
                <a:buChar char="o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pt-BR" altLang="en-US" sz="1600" dirty="0">
                  <a:latin typeface="Tahoma" panose="020B0604030504040204" pitchFamily="34" charset="0"/>
                </a:rPr>
                <a:t>Classe B</a:t>
              </a:r>
            </a:p>
          </p:txBody>
        </p:sp>
        <p:sp>
          <p:nvSpPr>
            <p:cNvPr id="9" name="Text Box 11">
              <a:extLst>
                <a:ext uri="{FF2B5EF4-FFF2-40B4-BE49-F238E27FC236}">
                  <a16:creationId xmlns:a16="http://schemas.microsoft.com/office/drawing/2014/main" id="{2A6F3A0F-15E9-68BB-4473-9275BE72616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01055" y="3068266"/>
              <a:ext cx="1150938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ADCEDC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EB641B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EB641B"/>
                </a:buClr>
                <a:buChar char="o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EB641B"/>
                </a:buClr>
                <a:buChar char="o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EB641B"/>
                </a:buClr>
                <a:buChar char="o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EB641B"/>
                </a:buClr>
                <a:buChar char="o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EB641B"/>
                </a:buClr>
                <a:buChar char="o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pt-BR" altLang="en-US" sz="1600" dirty="0">
                  <a:latin typeface="Tahoma" panose="020B0604030504040204" pitchFamily="34" charset="0"/>
                </a:rPr>
                <a:t>Pacote 1</a:t>
              </a:r>
            </a:p>
          </p:txBody>
        </p:sp>
        <p:sp>
          <p:nvSpPr>
            <p:cNvPr id="10" name="Rectangle 12">
              <a:extLst>
                <a:ext uri="{FF2B5EF4-FFF2-40B4-BE49-F238E27FC236}">
                  <a16:creationId xmlns:a16="http://schemas.microsoft.com/office/drawing/2014/main" id="{AAEFA663-D4D3-88F7-0429-2EDF05CA09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468" y="5012953"/>
              <a:ext cx="2376487" cy="115252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ADCEDC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EB641B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EB641B"/>
                </a:buClr>
                <a:buChar char="o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EB641B"/>
                </a:buClr>
                <a:buChar char="o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EB641B"/>
                </a:buClr>
                <a:buChar char="o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EB641B"/>
                </a:buClr>
                <a:buChar char="o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EB641B"/>
                </a:buClr>
                <a:buChar char="o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latin typeface="Lucida Sans Unicode" panose="020B0602030504020204" pitchFamily="34" charset="0"/>
              </a:endParaRPr>
            </a:p>
          </p:txBody>
        </p:sp>
        <p:sp>
          <p:nvSpPr>
            <p:cNvPr id="11" name="Rectangle 13">
              <a:extLst>
                <a:ext uri="{FF2B5EF4-FFF2-40B4-BE49-F238E27FC236}">
                  <a16:creationId xmlns:a16="http://schemas.microsoft.com/office/drawing/2014/main" id="{1B1AD5D7-FFBA-2FAF-CF1A-5DA99B6E35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468" y="4652591"/>
              <a:ext cx="1150937" cy="36036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ADCEDC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EB641B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EB641B"/>
                </a:buClr>
                <a:buChar char="o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EB641B"/>
                </a:buClr>
                <a:buChar char="o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EB641B"/>
                </a:buClr>
                <a:buChar char="o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EB641B"/>
                </a:buClr>
                <a:buChar char="o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EB641B"/>
                </a:buClr>
                <a:buChar char="o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latin typeface="Lucida Sans Unicode" panose="020B0602030504020204" pitchFamily="34" charset="0"/>
              </a:endParaRPr>
            </a:p>
          </p:txBody>
        </p:sp>
        <p:sp>
          <p:nvSpPr>
            <p:cNvPr id="12" name="Text Box 14">
              <a:extLst>
                <a:ext uri="{FF2B5EF4-FFF2-40B4-BE49-F238E27FC236}">
                  <a16:creationId xmlns:a16="http://schemas.microsoft.com/office/drawing/2014/main" id="{D6FDF067-861F-4790-D291-2ED6F4F072B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70905" y="5444753"/>
              <a:ext cx="1054100" cy="349250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none"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ADCEDC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EB641B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EB641B"/>
                </a:buClr>
                <a:buChar char="o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EB641B"/>
                </a:buClr>
                <a:buChar char="o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EB641B"/>
                </a:buClr>
                <a:buChar char="o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EB641B"/>
                </a:buClr>
                <a:buChar char="o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EB641B"/>
                </a:buClr>
                <a:buChar char="o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pt-BR" altLang="en-US" sz="1600">
                  <a:latin typeface="Tahoma" panose="020B0604030504040204" pitchFamily="34" charset="0"/>
                </a:rPr>
                <a:t>Classe C</a:t>
              </a:r>
            </a:p>
          </p:txBody>
        </p:sp>
        <p:sp>
          <p:nvSpPr>
            <p:cNvPr id="13" name="Text Box 15">
              <a:extLst>
                <a:ext uri="{FF2B5EF4-FFF2-40B4-BE49-F238E27FC236}">
                  <a16:creationId xmlns:a16="http://schemas.microsoft.com/office/drawing/2014/main" id="{1A68981E-1BAB-7883-9EC2-B8CCDAAD9CB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59943" y="5444753"/>
              <a:ext cx="1054100" cy="349250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none"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ADCEDC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EB641B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EB641B"/>
                </a:buClr>
                <a:buChar char="o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EB641B"/>
                </a:buClr>
                <a:buChar char="o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EB641B"/>
                </a:buClr>
                <a:buChar char="o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EB641B"/>
                </a:buClr>
                <a:buChar char="o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EB641B"/>
                </a:buClr>
                <a:buChar char="o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pt-BR" altLang="en-US" sz="1600">
                  <a:latin typeface="Tahoma" panose="020B0604030504040204" pitchFamily="34" charset="0"/>
                </a:rPr>
                <a:t>Classe D</a:t>
              </a:r>
            </a:p>
          </p:txBody>
        </p:sp>
        <p:sp>
          <p:nvSpPr>
            <p:cNvPr id="14" name="Text Box 16">
              <a:extLst>
                <a:ext uri="{FF2B5EF4-FFF2-40B4-BE49-F238E27FC236}">
                  <a16:creationId xmlns:a16="http://schemas.microsoft.com/office/drawing/2014/main" id="{4425C30B-C39B-6794-58C9-E10AFDE4614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99468" y="4652591"/>
              <a:ext cx="1150937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ADCEDC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EB641B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EB641B"/>
                </a:buClr>
                <a:buChar char="o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EB641B"/>
                </a:buClr>
                <a:buChar char="o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EB641B"/>
                </a:buClr>
                <a:buChar char="o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EB641B"/>
                </a:buClr>
                <a:buChar char="o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EB641B"/>
                </a:buClr>
                <a:buChar char="o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pt-BR" altLang="en-US" sz="1600">
                  <a:latin typeface="Tahoma" panose="020B0604030504040204" pitchFamily="34" charset="0"/>
                </a:rPr>
                <a:t>Pacote 2</a:t>
              </a:r>
            </a:p>
          </p:txBody>
        </p:sp>
        <p:sp>
          <p:nvSpPr>
            <p:cNvPr id="15" name="Line 17">
              <a:extLst>
                <a:ext uri="{FF2B5EF4-FFF2-40B4-BE49-F238E27FC236}">
                  <a16:creationId xmlns:a16="http://schemas.microsoft.com/office/drawing/2014/main" id="{14036CFE-B58E-3AAF-DA0C-2093E3479B5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628255" y="4220791"/>
              <a:ext cx="0" cy="12239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6" name="Text Box 18">
              <a:extLst>
                <a:ext uri="{FF2B5EF4-FFF2-40B4-BE49-F238E27FC236}">
                  <a16:creationId xmlns:a16="http://schemas.microsoft.com/office/drawing/2014/main" id="{D91FA0BF-BBEA-76F9-E893-0520D73C2C7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25977" y="4652591"/>
              <a:ext cx="1276350" cy="3048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ADCEDC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EB641B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EB641B"/>
                </a:buClr>
                <a:buChar char="o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EB641B"/>
                </a:buClr>
                <a:buChar char="o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EB641B"/>
                </a:buClr>
                <a:buChar char="o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EB641B"/>
                </a:buClr>
                <a:buChar char="o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EB641B"/>
                </a:buClr>
                <a:buChar char="o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pt-BR" altLang="en-US" sz="1400">
                  <a:latin typeface="Tahoma" panose="020B0604030504040204" pitchFamily="34" charset="0"/>
                </a:rPr>
                <a:t>&lt;&lt;herança&gt;&gt;</a:t>
              </a:r>
            </a:p>
          </p:txBody>
        </p:sp>
      </p:grp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3BDD8D68-04BD-CA55-4890-C9C98C32742D}"/>
              </a:ext>
            </a:extLst>
          </p:cNvPr>
          <p:cNvSpPr txBox="1"/>
          <p:nvPr/>
        </p:nvSpPr>
        <p:spPr>
          <a:xfrm>
            <a:off x="5338045" y="2634036"/>
            <a:ext cx="303550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en-US" b="1" dirty="0">
                <a:latin typeface="Tahoma" panose="020B0604030504040204" pitchFamily="34" charset="0"/>
              </a:rPr>
              <a:t>Atributos e Métodos Públicos: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en-US" dirty="0">
                <a:latin typeface="Tahoma" panose="020B0604030504040204" pitchFamily="34" charset="0"/>
              </a:rPr>
              <a:t>Podem ser acessados por qualquer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en-US" dirty="0">
                <a:latin typeface="Tahoma" panose="020B0604030504040204" pitchFamily="34" charset="0"/>
              </a:rPr>
              <a:t>outra classe do sistema.</a:t>
            </a:r>
          </a:p>
          <a:p>
            <a:endParaRPr lang="pt-BR" dirty="0"/>
          </a:p>
        </p:txBody>
      </p:sp>
      <p:pic>
        <p:nvPicPr>
          <p:cNvPr id="18" name="Espaço Reservado para Conteúdo 4">
            <a:extLst>
              <a:ext uri="{FF2B5EF4-FFF2-40B4-BE49-F238E27FC236}">
                <a16:creationId xmlns:a16="http://schemas.microsoft.com/office/drawing/2014/main" id="{1B3C6883-AE3A-48C8-1322-CCDD0F59CE1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34132" y="3477279"/>
            <a:ext cx="1673511" cy="10274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677880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AC488415-A50F-5112-F5B2-EEAD0D578F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0">
            <a:extLst>
              <a:ext uri="{FF2B5EF4-FFF2-40B4-BE49-F238E27FC236}">
                <a16:creationId xmlns:a16="http://schemas.microsoft.com/office/drawing/2014/main" id="{24C8AC47-47B4-73F9-E4AB-CC54051ABA5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/>
            <a:r>
              <a:rPr lang="pt-BR" altLang="pt-BR" dirty="0"/>
              <a:t>Qualificadores de Acesso</a:t>
            </a:r>
            <a:endParaRPr dirty="0"/>
          </a:p>
        </p:txBody>
      </p:sp>
      <p:sp>
        <p:nvSpPr>
          <p:cNvPr id="55" name="Google Shape;55;p10">
            <a:extLst>
              <a:ext uri="{FF2B5EF4-FFF2-40B4-BE49-F238E27FC236}">
                <a16:creationId xmlns:a16="http://schemas.microsoft.com/office/drawing/2014/main" id="{09DF9405-F388-5D58-0781-F16F0115BFD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eaLnBrk="1" hangingPunct="1">
              <a:buFont typeface="Arial" panose="020B0604020202020204" pitchFamily="34" charset="0"/>
              <a:buChar char="•"/>
            </a:pPr>
            <a:r>
              <a:rPr lang="pt-BR" altLang="pt-BR" sz="2800" b="1" i="1" dirty="0" err="1"/>
              <a:t>Protected</a:t>
            </a:r>
            <a:r>
              <a:rPr lang="pt-BR" altLang="pt-BR" sz="2800" b="1" dirty="0"/>
              <a:t> (#)</a:t>
            </a: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pt-BR" altLang="en-US" b="1" dirty="0"/>
              <a:t>Classe Protegida: </a:t>
            </a:r>
            <a:r>
              <a:rPr lang="pt-BR" altLang="pt-BR" dirty="0"/>
              <a:t>Visível a elementos do mesmo pacote.</a:t>
            </a: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dirty="0"/>
          </a:p>
        </p:txBody>
      </p:sp>
      <p:grpSp>
        <p:nvGrpSpPr>
          <p:cNvPr id="2" name="Grupo 1">
            <a:extLst>
              <a:ext uri="{FF2B5EF4-FFF2-40B4-BE49-F238E27FC236}">
                <a16:creationId xmlns:a16="http://schemas.microsoft.com/office/drawing/2014/main" id="{E1F08C49-2449-232F-C68B-83F8E32C4AEC}"/>
              </a:ext>
            </a:extLst>
          </p:cNvPr>
          <p:cNvGrpSpPr>
            <a:grpSpLocks/>
          </p:cNvGrpSpPr>
          <p:nvPr/>
        </p:nvGrpSpPr>
        <p:grpSpPr bwMode="auto">
          <a:xfrm>
            <a:off x="984016" y="2225207"/>
            <a:ext cx="3430587" cy="2601626"/>
            <a:chOff x="683568" y="2780928"/>
            <a:chExt cx="2808287" cy="3455988"/>
          </a:xfrm>
        </p:grpSpPr>
        <p:sp>
          <p:nvSpPr>
            <p:cNvPr id="3" name="Rectangle 5">
              <a:extLst>
                <a:ext uri="{FF2B5EF4-FFF2-40B4-BE49-F238E27FC236}">
                  <a16:creationId xmlns:a16="http://schemas.microsoft.com/office/drawing/2014/main" id="{B15A0B8A-901B-4249-A6D5-C0C09619EA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3568" y="2780928"/>
              <a:ext cx="2808287" cy="34559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ADCEDC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EB641B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EB641B"/>
                </a:buClr>
                <a:buChar char="o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EB641B"/>
                </a:buClr>
                <a:buChar char="o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EB641B"/>
                </a:buClr>
                <a:buChar char="o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EB641B"/>
                </a:buClr>
                <a:buChar char="o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EB641B"/>
                </a:buClr>
                <a:buChar char="o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pt-BR" altLang="pt-BR" sz="1800">
                <a:latin typeface="Tahoma" panose="020B0604030504040204" pitchFamily="34" charset="0"/>
              </a:endParaRPr>
            </a:p>
          </p:txBody>
        </p:sp>
        <p:sp>
          <p:nvSpPr>
            <p:cNvPr id="4" name="Text Box 6">
              <a:extLst>
                <a:ext uri="{FF2B5EF4-FFF2-40B4-BE49-F238E27FC236}">
                  <a16:creationId xmlns:a16="http://schemas.microsoft.com/office/drawing/2014/main" id="{765DB7B8-6A41-0187-1A5E-6F248791899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40918" y="2780928"/>
              <a:ext cx="1060450" cy="3667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ADCEDC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EB641B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EB641B"/>
                </a:buClr>
                <a:buChar char="o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EB641B"/>
                </a:buClr>
                <a:buChar char="o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EB641B"/>
                </a:buClr>
                <a:buChar char="o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EB641B"/>
                </a:buClr>
                <a:buChar char="o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EB641B"/>
                </a:buClr>
                <a:buChar char="o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pt-BR" altLang="pt-BR" sz="1800">
                  <a:latin typeface="Tahoma" panose="020B0604030504040204" pitchFamily="34" charset="0"/>
                </a:rPr>
                <a:t>Sistema</a:t>
              </a:r>
            </a:p>
          </p:txBody>
        </p:sp>
        <p:sp>
          <p:nvSpPr>
            <p:cNvPr id="5" name="Rectangle 7">
              <a:extLst>
                <a:ext uri="{FF2B5EF4-FFF2-40B4-BE49-F238E27FC236}">
                  <a16:creationId xmlns:a16="http://schemas.microsoft.com/office/drawing/2014/main" id="{6AB1EA91-A2A2-E94B-5021-D3E8C8C8F6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1055" y="3428628"/>
              <a:ext cx="2376488" cy="115252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ADCEDC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EB641B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EB641B"/>
                </a:buClr>
                <a:buChar char="o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EB641B"/>
                </a:buClr>
                <a:buChar char="o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EB641B"/>
                </a:buClr>
                <a:buChar char="o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EB641B"/>
                </a:buClr>
                <a:buChar char="o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EB641B"/>
                </a:buClr>
                <a:buChar char="o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pt-BR" altLang="pt-BR" sz="1800">
                <a:latin typeface="Tahoma" panose="020B0604030504040204" pitchFamily="34" charset="0"/>
              </a:endParaRPr>
            </a:p>
          </p:txBody>
        </p:sp>
        <p:sp>
          <p:nvSpPr>
            <p:cNvPr id="6" name="Rectangle 8">
              <a:extLst>
                <a:ext uri="{FF2B5EF4-FFF2-40B4-BE49-F238E27FC236}">
                  <a16:creationId xmlns:a16="http://schemas.microsoft.com/office/drawing/2014/main" id="{68B1F9AB-2E97-B7C9-50FB-F2F3C2B80C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1055" y="3068266"/>
              <a:ext cx="1150938" cy="36036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ADCEDC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EB641B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EB641B"/>
                </a:buClr>
                <a:buChar char="o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EB641B"/>
                </a:buClr>
                <a:buChar char="o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EB641B"/>
                </a:buClr>
                <a:buChar char="o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EB641B"/>
                </a:buClr>
                <a:buChar char="o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EB641B"/>
                </a:buClr>
                <a:buChar char="o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pt-BR" altLang="pt-BR" sz="1800">
                <a:latin typeface="Tahoma" panose="020B0604030504040204" pitchFamily="34" charset="0"/>
              </a:endParaRPr>
            </a:p>
          </p:txBody>
        </p:sp>
        <p:sp>
          <p:nvSpPr>
            <p:cNvPr id="7" name="Text Box 9">
              <a:extLst>
                <a:ext uri="{FF2B5EF4-FFF2-40B4-BE49-F238E27FC236}">
                  <a16:creationId xmlns:a16="http://schemas.microsoft.com/office/drawing/2014/main" id="{E0B0B065-F228-087C-12B9-9B28B6A7ADB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72493" y="3860428"/>
              <a:ext cx="1054100" cy="349250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ADCEDC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EB641B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EB641B"/>
                </a:buClr>
                <a:buChar char="o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EB641B"/>
                </a:buClr>
                <a:buChar char="o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EB641B"/>
                </a:buClr>
                <a:buChar char="o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EB641B"/>
                </a:buClr>
                <a:buChar char="o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EB641B"/>
                </a:buClr>
                <a:buChar char="o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pt-BR" altLang="pt-BR" sz="1600">
                  <a:latin typeface="Tahoma" panose="020B0604030504040204" pitchFamily="34" charset="0"/>
                </a:rPr>
                <a:t>Classe A</a:t>
              </a:r>
            </a:p>
          </p:txBody>
        </p:sp>
        <p:sp>
          <p:nvSpPr>
            <p:cNvPr id="8" name="Text Box 10">
              <a:extLst>
                <a:ext uri="{FF2B5EF4-FFF2-40B4-BE49-F238E27FC236}">
                  <a16:creationId xmlns:a16="http://schemas.microsoft.com/office/drawing/2014/main" id="{590B157E-F59B-BA2C-48D0-5C4EBC8ADA3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61530" y="3860428"/>
              <a:ext cx="1054100" cy="349250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ADCEDC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EB641B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EB641B"/>
                </a:buClr>
                <a:buChar char="o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EB641B"/>
                </a:buClr>
                <a:buChar char="o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EB641B"/>
                </a:buClr>
                <a:buChar char="o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EB641B"/>
                </a:buClr>
                <a:buChar char="o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EB641B"/>
                </a:buClr>
                <a:buChar char="o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pt-BR" altLang="pt-BR" sz="1600">
                  <a:latin typeface="Tahoma" panose="020B0604030504040204" pitchFamily="34" charset="0"/>
                </a:rPr>
                <a:t>Classe B</a:t>
              </a:r>
            </a:p>
          </p:txBody>
        </p:sp>
        <p:sp>
          <p:nvSpPr>
            <p:cNvPr id="9" name="Text Box 11">
              <a:extLst>
                <a:ext uri="{FF2B5EF4-FFF2-40B4-BE49-F238E27FC236}">
                  <a16:creationId xmlns:a16="http://schemas.microsoft.com/office/drawing/2014/main" id="{B3098B57-72A8-BEE5-A181-FAFB5F83D48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01055" y="3068266"/>
              <a:ext cx="1150938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ADCEDC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EB641B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EB641B"/>
                </a:buClr>
                <a:buChar char="o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EB641B"/>
                </a:buClr>
                <a:buChar char="o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EB641B"/>
                </a:buClr>
                <a:buChar char="o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EB641B"/>
                </a:buClr>
                <a:buChar char="o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EB641B"/>
                </a:buClr>
                <a:buChar char="o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pt-BR" altLang="pt-BR" sz="1600">
                  <a:latin typeface="Tahoma" panose="020B0604030504040204" pitchFamily="34" charset="0"/>
                </a:rPr>
                <a:t>Pacote 1</a:t>
              </a:r>
            </a:p>
          </p:txBody>
        </p:sp>
        <p:sp>
          <p:nvSpPr>
            <p:cNvPr id="10" name="Rectangle 12">
              <a:extLst>
                <a:ext uri="{FF2B5EF4-FFF2-40B4-BE49-F238E27FC236}">
                  <a16:creationId xmlns:a16="http://schemas.microsoft.com/office/drawing/2014/main" id="{861DA0BE-B933-B160-A157-4066A5FC5B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468" y="5012953"/>
              <a:ext cx="2376487" cy="115252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ADCEDC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EB641B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EB641B"/>
                </a:buClr>
                <a:buChar char="o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EB641B"/>
                </a:buClr>
                <a:buChar char="o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EB641B"/>
                </a:buClr>
                <a:buChar char="o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EB641B"/>
                </a:buClr>
                <a:buChar char="o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EB641B"/>
                </a:buClr>
                <a:buChar char="o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pt-BR" altLang="pt-BR" sz="1800">
                <a:latin typeface="Tahoma" panose="020B0604030504040204" pitchFamily="34" charset="0"/>
              </a:endParaRPr>
            </a:p>
          </p:txBody>
        </p:sp>
        <p:sp>
          <p:nvSpPr>
            <p:cNvPr id="11" name="Rectangle 13">
              <a:extLst>
                <a:ext uri="{FF2B5EF4-FFF2-40B4-BE49-F238E27FC236}">
                  <a16:creationId xmlns:a16="http://schemas.microsoft.com/office/drawing/2014/main" id="{9BE74D7F-2A9C-D8C8-728D-AB4778E8C1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468" y="4652591"/>
              <a:ext cx="1150937" cy="36036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ADCEDC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EB641B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EB641B"/>
                </a:buClr>
                <a:buChar char="o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EB641B"/>
                </a:buClr>
                <a:buChar char="o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EB641B"/>
                </a:buClr>
                <a:buChar char="o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EB641B"/>
                </a:buClr>
                <a:buChar char="o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EB641B"/>
                </a:buClr>
                <a:buChar char="o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pt-BR" altLang="pt-BR" sz="1800">
                <a:latin typeface="Tahoma" panose="020B0604030504040204" pitchFamily="34" charset="0"/>
              </a:endParaRPr>
            </a:p>
          </p:txBody>
        </p:sp>
        <p:sp>
          <p:nvSpPr>
            <p:cNvPr id="12" name="Text Box 14">
              <a:extLst>
                <a:ext uri="{FF2B5EF4-FFF2-40B4-BE49-F238E27FC236}">
                  <a16:creationId xmlns:a16="http://schemas.microsoft.com/office/drawing/2014/main" id="{E0F607AB-9A6C-AB06-7179-CE75FF0BC40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70905" y="5444753"/>
              <a:ext cx="1054100" cy="34925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ADCEDC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EB641B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EB641B"/>
                </a:buClr>
                <a:buChar char="o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EB641B"/>
                </a:buClr>
                <a:buChar char="o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EB641B"/>
                </a:buClr>
                <a:buChar char="o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EB641B"/>
                </a:buClr>
                <a:buChar char="o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EB641B"/>
                </a:buClr>
                <a:buChar char="o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pt-BR" altLang="pt-BR" sz="1600">
                  <a:latin typeface="Tahoma" panose="020B0604030504040204" pitchFamily="34" charset="0"/>
                </a:rPr>
                <a:t>Classe C</a:t>
              </a:r>
            </a:p>
          </p:txBody>
        </p:sp>
        <p:sp>
          <p:nvSpPr>
            <p:cNvPr id="13" name="Text Box 15">
              <a:extLst>
                <a:ext uri="{FF2B5EF4-FFF2-40B4-BE49-F238E27FC236}">
                  <a16:creationId xmlns:a16="http://schemas.microsoft.com/office/drawing/2014/main" id="{DFA45330-F895-778E-44C7-10E621E206E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59943" y="5444753"/>
              <a:ext cx="1054100" cy="34925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ADCEDC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EB641B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EB641B"/>
                </a:buClr>
                <a:buChar char="o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EB641B"/>
                </a:buClr>
                <a:buChar char="o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EB641B"/>
                </a:buClr>
                <a:buChar char="o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EB641B"/>
                </a:buClr>
                <a:buChar char="o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EB641B"/>
                </a:buClr>
                <a:buChar char="o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pt-BR" altLang="pt-BR" sz="1600">
                  <a:latin typeface="Tahoma" panose="020B0604030504040204" pitchFamily="34" charset="0"/>
                </a:rPr>
                <a:t>Classe D</a:t>
              </a:r>
            </a:p>
          </p:txBody>
        </p:sp>
        <p:sp>
          <p:nvSpPr>
            <p:cNvPr id="14" name="Text Box 16">
              <a:extLst>
                <a:ext uri="{FF2B5EF4-FFF2-40B4-BE49-F238E27FC236}">
                  <a16:creationId xmlns:a16="http://schemas.microsoft.com/office/drawing/2014/main" id="{4770564E-0455-CBB4-64E1-36AE1CA1503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99468" y="4652591"/>
              <a:ext cx="1150937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ADCEDC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EB641B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EB641B"/>
                </a:buClr>
                <a:buChar char="o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EB641B"/>
                </a:buClr>
                <a:buChar char="o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EB641B"/>
                </a:buClr>
                <a:buChar char="o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EB641B"/>
                </a:buClr>
                <a:buChar char="o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EB641B"/>
                </a:buClr>
                <a:buChar char="o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pt-BR" altLang="pt-BR" sz="1600">
                  <a:latin typeface="Tahoma" panose="020B0604030504040204" pitchFamily="34" charset="0"/>
                </a:rPr>
                <a:t>Pacote 2</a:t>
              </a:r>
            </a:p>
          </p:txBody>
        </p:sp>
        <p:sp>
          <p:nvSpPr>
            <p:cNvPr id="15" name="Line 17">
              <a:extLst>
                <a:ext uri="{FF2B5EF4-FFF2-40B4-BE49-F238E27FC236}">
                  <a16:creationId xmlns:a16="http://schemas.microsoft.com/office/drawing/2014/main" id="{D7235A5F-DF4F-788F-F98C-E008CB1E398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628255" y="4220791"/>
              <a:ext cx="0" cy="12239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6" name="Text Box 18">
              <a:extLst>
                <a:ext uri="{FF2B5EF4-FFF2-40B4-BE49-F238E27FC236}">
                  <a16:creationId xmlns:a16="http://schemas.microsoft.com/office/drawing/2014/main" id="{24321424-F553-F1A1-F171-05105D7E5CF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50404" y="4652591"/>
              <a:ext cx="1178312" cy="4088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ADCEDC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EB641B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EB641B"/>
                </a:buClr>
                <a:buChar char="o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EB641B"/>
                </a:buClr>
                <a:buChar char="o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EB641B"/>
                </a:buClr>
                <a:buChar char="o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EB641B"/>
                </a:buClr>
                <a:buChar char="o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EB641B"/>
                </a:buClr>
                <a:buChar char="o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pt-BR" altLang="pt-BR" sz="1400" dirty="0">
                  <a:latin typeface="Tahoma" panose="020B0604030504040204" pitchFamily="34" charset="0"/>
                </a:rPr>
                <a:t>&lt;&lt;herança&gt;&gt;</a:t>
              </a:r>
            </a:p>
          </p:txBody>
        </p:sp>
      </p:grp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4E33E575-1CD3-2E90-F353-00B23E435092}"/>
              </a:ext>
            </a:extLst>
          </p:cNvPr>
          <p:cNvSpPr txBox="1"/>
          <p:nvPr/>
        </p:nvSpPr>
        <p:spPr>
          <a:xfrm>
            <a:off x="4724888" y="2363235"/>
            <a:ext cx="302051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en-US" b="1">
                <a:latin typeface="Tahoma" panose="020B0604030504040204" pitchFamily="34" charset="0"/>
                <a:cs typeface="Tahoma" panose="020B0604030504040204" pitchFamily="34" charset="0"/>
              </a:rPr>
              <a:t>Atributos Privados: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>
                <a:latin typeface="Tahoma" panose="020B0604030504040204" pitchFamily="34" charset="0"/>
                <a:cs typeface="Tahoma" panose="020B0604030504040204" pitchFamily="34" charset="0"/>
              </a:rPr>
              <a:t>O atributo privado só é acessível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>
                <a:latin typeface="Tahoma" panose="020B0604030504040204" pitchFamily="34" charset="0"/>
                <a:cs typeface="Tahoma" panose="020B0604030504040204" pitchFamily="34" charset="0"/>
              </a:rPr>
              <a:t>pelas operações do objeto.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>
                <a:latin typeface="Tahoma" panose="020B0604030504040204" pitchFamily="34" charset="0"/>
                <a:cs typeface="Tahoma" panose="020B0604030504040204" pitchFamily="34" charset="0"/>
              </a:rPr>
              <a:t>Normalmente este é o estado inicial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>
                <a:latin typeface="Tahoma" panose="020B0604030504040204" pitchFamily="34" charset="0"/>
                <a:cs typeface="Tahoma" panose="020B0604030504040204" pitchFamily="34" charset="0"/>
              </a:rPr>
              <a:t>dos atributos, depois se necessário,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>
                <a:latin typeface="Tahoma" panose="020B0604030504040204" pitchFamily="34" charset="0"/>
                <a:cs typeface="Tahoma" panose="020B0604030504040204" pitchFamily="34" charset="0"/>
              </a:rPr>
              <a:t>pode ser modificado.</a:t>
            </a:r>
            <a:endParaRPr lang="pt-BR" altLang="pt-BR" dirty="0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19" name="Espaço Reservado para Conteúdo 4">
            <a:extLst>
              <a:ext uri="{FF2B5EF4-FFF2-40B4-BE49-F238E27FC236}">
                <a16:creationId xmlns:a16="http://schemas.microsoft.com/office/drawing/2014/main" id="{832D20BD-B598-861C-D510-9E394DE9FC0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12156" y="3748230"/>
            <a:ext cx="1768893" cy="9961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811220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F9D14F2A-0E7A-E544-40BB-A7BB20A32A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0">
            <a:extLst>
              <a:ext uri="{FF2B5EF4-FFF2-40B4-BE49-F238E27FC236}">
                <a16:creationId xmlns:a16="http://schemas.microsoft.com/office/drawing/2014/main" id="{849B3EAE-0AD5-30F6-ACDC-B80329D6F06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/>
            <a:r>
              <a:rPr lang="pt-BR" altLang="pt-BR" dirty="0"/>
              <a:t>Qualificadores de Acesso</a:t>
            </a:r>
            <a:endParaRPr dirty="0"/>
          </a:p>
        </p:txBody>
      </p:sp>
      <p:sp>
        <p:nvSpPr>
          <p:cNvPr id="55" name="Google Shape;55;p10">
            <a:extLst>
              <a:ext uri="{FF2B5EF4-FFF2-40B4-BE49-F238E27FC236}">
                <a16:creationId xmlns:a16="http://schemas.microsoft.com/office/drawing/2014/main" id="{174F462B-35E2-B368-4AFA-CE9CA1E3577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eaLnBrk="1" hangingPunct="1">
              <a:buFont typeface="Arial" panose="020B0604020202020204" pitchFamily="34" charset="0"/>
              <a:buChar char="•"/>
            </a:pPr>
            <a:r>
              <a:rPr lang="pt-BR" altLang="en-US" sz="2800" b="1" i="1" u="sng" dirty="0"/>
              <a:t>Private</a:t>
            </a:r>
            <a:r>
              <a:rPr lang="pt-BR" altLang="en-US" sz="2800" b="1" u="sng" dirty="0"/>
              <a:t> (-)</a:t>
            </a: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pt-BR" altLang="en-US" b="1" dirty="0"/>
              <a:t>Classe Privada:</a:t>
            </a:r>
            <a:r>
              <a:rPr lang="pt-BR" altLang="en-US" dirty="0"/>
              <a:t> Bloqueia o acesso de outras classes à todos seus métodos e atributos.</a:t>
            </a: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dirty="0"/>
          </a:p>
        </p:txBody>
      </p:sp>
      <p:grpSp>
        <p:nvGrpSpPr>
          <p:cNvPr id="2" name="Grupo 1">
            <a:extLst>
              <a:ext uri="{FF2B5EF4-FFF2-40B4-BE49-F238E27FC236}">
                <a16:creationId xmlns:a16="http://schemas.microsoft.com/office/drawing/2014/main" id="{97C8E9FB-D22A-26CF-D0E5-4CEC63D52321}"/>
              </a:ext>
            </a:extLst>
          </p:cNvPr>
          <p:cNvGrpSpPr>
            <a:grpSpLocks/>
          </p:cNvGrpSpPr>
          <p:nvPr/>
        </p:nvGrpSpPr>
        <p:grpSpPr bwMode="auto">
          <a:xfrm>
            <a:off x="1499015" y="2461537"/>
            <a:ext cx="3245371" cy="2552674"/>
            <a:chOff x="683568" y="2780928"/>
            <a:chExt cx="2808287" cy="3455988"/>
          </a:xfrm>
        </p:grpSpPr>
        <p:sp>
          <p:nvSpPr>
            <p:cNvPr id="3" name="Rectangle 5">
              <a:extLst>
                <a:ext uri="{FF2B5EF4-FFF2-40B4-BE49-F238E27FC236}">
                  <a16:creationId xmlns:a16="http://schemas.microsoft.com/office/drawing/2014/main" id="{74E75382-718E-32E4-DB07-145B9E5627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3568" y="2780928"/>
              <a:ext cx="2808287" cy="34559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ADCEDC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EB641B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EB641B"/>
                </a:buClr>
                <a:buChar char="o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EB641B"/>
                </a:buClr>
                <a:buChar char="o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EB641B"/>
                </a:buClr>
                <a:buChar char="o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EB641B"/>
                </a:buClr>
                <a:buChar char="o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EB641B"/>
                </a:buClr>
                <a:buChar char="o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latin typeface="Lucida Sans Unicode" panose="020B0602030504020204" pitchFamily="34" charset="0"/>
              </a:endParaRPr>
            </a:p>
          </p:txBody>
        </p:sp>
        <p:sp>
          <p:nvSpPr>
            <p:cNvPr id="4" name="Text Box 6">
              <a:extLst>
                <a:ext uri="{FF2B5EF4-FFF2-40B4-BE49-F238E27FC236}">
                  <a16:creationId xmlns:a16="http://schemas.microsoft.com/office/drawing/2014/main" id="{E6F9A090-6C3F-068E-AE85-001A537E071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40918" y="2780928"/>
              <a:ext cx="1060450" cy="3667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ADCEDC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EB641B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EB641B"/>
                </a:buClr>
                <a:buChar char="o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EB641B"/>
                </a:buClr>
                <a:buChar char="o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EB641B"/>
                </a:buClr>
                <a:buChar char="o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EB641B"/>
                </a:buClr>
                <a:buChar char="o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EB641B"/>
                </a:buClr>
                <a:buChar char="o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pt-BR" altLang="en-US" sz="1800">
                  <a:latin typeface="Tahoma" panose="020B0604030504040204" pitchFamily="34" charset="0"/>
                </a:rPr>
                <a:t>Sistema</a:t>
              </a:r>
            </a:p>
          </p:txBody>
        </p:sp>
        <p:sp>
          <p:nvSpPr>
            <p:cNvPr id="5" name="Rectangle 7">
              <a:extLst>
                <a:ext uri="{FF2B5EF4-FFF2-40B4-BE49-F238E27FC236}">
                  <a16:creationId xmlns:a16="http://schemas.microsoft.com/office/drawing/2014/main" id="{6C5DB37C-077C-7ED9-7828-9E00C39D82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1055" y="3428628"/>
              <a:ext cx="2376488" cy="115252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ADCEDC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EB641B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EB641B"/>
                </a:buClr>
                <a:buChar char="o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EB641B"/>
                </a:buClr>
                <a:buChar char="o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EB641B"/>
                </a:buClr>
                <a:buChar char="o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EB641B"/>
                </a:buClr>
                <a:buChar char="o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EB641B"/>
                </a:buClr>
                <a:buChar char="o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latin typeface="Lucida Sans Unicode" panose="020B0602030504020204" pitchFamily="34" charset="0"/>
              </a:endParaRPr>
            </a:p>
          </p:txBody>
        </p:sp>
        <p:sp>
          <p:nvSpPr>
            <p:cNvPr id="6" name="Rectangle 8">
              <a:extLst>
                <a:ext uri="{FF2B5EF4-FFF2-40B4-BE49-F238E27FC236}">
                  <a16:creationId xmlns:a16="http://schemas.microsoft.com/office/drawing/2014/main" id="{5E41A6DB-679D-93AE-EC42-19DB12E240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1055" y="3068266"/>
              <a:ext cx="1150938" cy="36036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ADCEDC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EB641B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EB641B"/>
                </a:buClr>
                <a:buChar char="o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EB641B"/>
                </a:buClr>
                <a:buChar char="o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EB641B"/>
                </a:buClr>
                <a:buChar char="o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EB641B"/>
                </a:buClr>
                <a:buChar char="o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EB641B"/>
                </a:buClr>
                <a:buChar char="o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latin typeface="Lucida Sans Unicode" panose="020B0602030504020204" pitchFamily="34" charset="0"/>
              </a:endParaRPr>
            </a:p>
          </p:txBody>
        </p:sp>
        <p:sp>
          <p:nvSpPr>
            <p:cNvPr id="7" name="Text Box 9">
              <a:extLst>
                <a:ext uri="{FF2B5EF4-FFF2-40B4-BE49-F238E27FC236}">
                  <a16:creationId xmlns:a16="http://schemas.microsoft.com/office/drawing/2014/main" id="{7EE6C5BE-DA09-5B76-5AE0-4A0F4AA3AD0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72493" y="3860428"/>
              <a:ext cx="1054100" cy="34925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ADCEDC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EB641B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EB641B"/>
                </a:buClr>
                <a:buChar char="o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EB641B"/>
                </a:buClr>
                <a:buChar char="o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EB641B"/>
                </a:buClr>
                <a:buChar char="o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EB641B"/>
                </a:buClr>
                <a:buChar char="o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EB641B"/>
                </a:buClr>
                <a:buChar char="o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pt-BR" altLang="en-US" sz="1600">
                  <a:latin typeface="Tahoma" panose="020B0604030504040204" pitchFamily="34" charset="0"/>
                </a:rPr>
                <a:t>Classe A</a:t>
              </a:r>
            </a:p>
          </p:txBody>
        </p:sp>
        <p:sp>
          <p:nvSpPr>
            <p:cNvPr id="8" name="Text Box 10">
              <a:extLst>
                <a:ext uri="{FF2B5EF4-FFF2-40B4-BE49-F238E27FC236}">
                  <a16:creationId xmlns:a16="http://schemas.microsoft.com/office/drawing/2014/main" id="{2B21AD2D-242E-5434-FE0F-2E1903F8398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61530" y="3860428"/>
              <a:ext cx="1054100" cy="349250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ADCEDC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EB641B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EB641B"/>
                </a:buClr>
                <a:buChar char="o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EB641B"/>
                </a:buClr>
                <a:buChar char="o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EB641B"/>
                </a:buClr>
                <a:buChar char="o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EB641B"/>
                </a:buClr>
                <a:buChar char="o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EB641B"/>
                </a:buClr>
                <a:buChar char="o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pt-BR" altLang="en-US" sz="1600">
                  <a:latin typeface="Tahoma" panose="020B0604030504040204" pitchFamily="34" charset="0"/>
                </a:rPr>
                <a:t>Classe B</a:t>
              </a:r>
            </a:p>
          </p:txBody>
        </p:sp>
        <p:sp>
          <p:nvSpPr>
            <p:cNvPr id="9" name="Text Box 11">
              <a:extLst>
                <a:ext uri="{FF2B5EF4-FFF2-40B4-BE49-F238E27FC236}">
                  <a16:creationId xmlns:a16="http://schemas.microsoft.com/office/drawing/2014/main" id="{07B11CA9-3453-41F7-25D1-067BB171D7C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01055" y="3068266"/>
              <a:ext cx="1150938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ADCEDC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EB641B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EB641B"/>
                </a:buClr>
                <a:buChar char="o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EB641B"/>
                </a:buClr>
                <a:buChar char="o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EB641B"/>
                </a:buClr>
                <a:buChar char="o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EB641B"/>
                </a:buClr>
                <a:buChar char="o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EB641B"/>
                </a:buClr>
                <a:buChar char="o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pt-BR" altLang="en-US" sz="1600">
                  <a:latin typeface="Tahoma" panose="020B0604030504040204" pitchFamily="34" charset="0"/>
                </a:rPr>
                <a:t>Pacote 1</a:t>
              </a:r>
            </a:p>
          </p:txBody>
        </p:sp>
        <p:sp>
          <p:nvSpPr>
            <p:cNvPr id="10" name="Rectangle 12">
              <a:extLst>
                <a:ext uri="{FF2B5EF4-FFF2-40B4-BE49-F238E27FC236}">
                  <a16:creationId xmlns:a16="http://schemas.microsoft.com/office/drawing/2014/main" id="{B7A1E16C-0CE3-0A60-B0A8-517F9C2B8F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468" y="5012953"/>
              <a:ext cx="2376487" cy="115252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ADCEDC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EB641B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EB641B"/>
                </a:buClr>
                <a:buChar char="o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EB641B"/>
                </a:buClr>
                <a:buChar char="o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EB641B"/>
                </a:buClr>
                <a:buChar char="o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EB641B"/>
                </a:buClr>
                <a:buChar char="o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EB641B"/>
                </a:buClr>
                <a:buChar char="o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latin typeface="Lucida Sans Unicode" panose="020B0602030504020204" pitchFamily="34" charset="0"/>
              </a:endParaRPr>
            </a:p>
          </p:txBody>
        </p:sp>
        <p:sp>
          <p:nvSpPr>
            <p:cNvPr id="11" name="Rectangle 13">
              <a:extLst>
                <a:ext uri="{FF2B5EF4-FFF2-40B4-BE49-F238E27FC236}">
                  <a16:creationId xmlns:a16="http://schemas.microsoft.com/office/drawing/2014/main" id="{E8550300-302B-F770-0BA2-719BF849D5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468" y="4652591"/>
              <a:ext cx="1150937" cy="36036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ADCEDC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EB641B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EB641B"/>
                </a:buClr>
                <a:buChar char="o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EB641B"/>
                </a:buClr>
                <a:buChar char="o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EB641B"/>
                </a:buClr>
                <a:buChar char="o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EB641B"/>
                </a:buClr>
                <a:buChar char="o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EB641B"/>
                </a:buClr>
                <a:buChar char="o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latin typeface="Lucida Sans Unicode" panose="020B0602030504020204" pitchFamily="34" charset="0"/>
              </a:endParaRPr>
            </a:p>
          </p:txBody>
        </p:sp>
        <p:sp>
          <p:nvSpPr>
            <p:cNvPr id="12" name="Text Box 14">
              <a:extLst>
                <a:ext uri="{FF2B5EF4-FFF2-40B4-BE49-F238E27FC236}">
                  <a16:creationId xmlns:a16="http://schemas.microsoft.com/office/drawing/2014/main" id="{F3CB2EC3-D1CC-93FC-1786-7C8B29D5A7C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70905" y="5444753"/>
              <a:ext cx="1054100" cy="34925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ADCEDC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EB641B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EB641B"/>
                </a:buClr>
                <a:buChar char="o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EB641B"/>
                </a:buClr>
                <a:buChar char="o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EB641B"/>
                </a:buClr>
                <a:buChar char="o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EB641B"/>
                </a:buClr>
                <a:buChar char="o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EB641B"/>
                </a:buClr>
                <a:buChar char="o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pt-BR" altLang="en-US" sz="1600">
                  <a:latin typeface="Tahoma" panose="020B0604030504040204" pitchFamily="34" charset="0"/>
                </a:rPr>
                <a:t>Classe C</a:t>
              </a:r>
            </a:p>
          </p:txBody>
        </p:sp>
        <p:sp>
          <p:nvSpPr>
            <p:cNvPr id="13" name="Text Box 15">
              <a:extLst>
                <a:ext uri="{FF2B5EF4-FFF2-40B4-BE49-F238E27FC236}">
                  <a16:creationId xmlns:a16="http://schemas.microsoft.com/office/drawing/2014/main" id="{AF6464D0-578C-7F8B-B0B6-706E365F61B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59943" y="5444753"/>
              <a:ext cx="1054100" cy="34925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ADCEDC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EB641B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EB641B"/>
                </a:buClr>
                <a:buChar char="o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EB641B"/>
                </a:buClr>
                <a:buChar char="o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EB641B"/>
                </a:buClr>
                <a:buChar char="o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EB641B"/>
                </a:buClr>
                <a:buChar char="o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EB641B"/>
                </a:buClr>
                <a:buChar char="o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pt-BR" altLang="en-US" sz="1600">
                  <a:latin typeface="Tahoma" panose="020B0604030504040204" pitchFamily="34" charset="0"/>
                </a:rPr>
                <a:t>Classe D</a:t>
              </a:r>
            </a:p>
          </p:txBody>
        </p:sp>
        <p:sp>
          <p:nvSpPr>
            <p:cNvPr id="14" name="Text Box 16">
              <a:extLst>
                <a:ext uri="{FF2B5EF4-FFF2-40B4-BE49-F238E27FC236}">
                  <a16:creationId xmlns:a16="http://schemas.microsoft.com/office/drawing/2014/main" id="{E32EE791-D6C0-8309-2663-94CA9637E40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99468" y="4652591"/>
              <a:ext cx="1150937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ADCEDC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EB641B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EB641B"/>
                </a:buClr>
                <a:buChar char="o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EB641B"/>
                </a:buClr>
                <a:buChar char="o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EB641B"/>
                </a:buClr>
                <a:buChar char="o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EB641B"/>
                </a:buClr>
                <a:buChar char="o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EB641B"/>
                </a:buClr>
                <a:buChar char="o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pt-BR" altLang="en-US" sz="1600">
                  <a:latin typeface="Tahoma" panose="020B0604030504040204" pitchFamily="34" charset="0"/>
                </a:rPr>
                <a:t>Pacote 2</a:t>
              </a:r>
            </a:p>
          </p:txBody>
        </p:sp>
        <p:sp>
          <p:nvSpPr>
            <p:cNvPr id="15" name="Line 17">
              <a:extLst>
                <a:ext uri="{FF2B5EF4-FFF2-40B4-BE49-F238E27FC236}">
                  <a16:creationId xmlns:a16="http://schemas.microsoft.com/office/drawing/2014/main" id="{E49BC3E6-A386-98F1-1CE2-C04515A6AC0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628255" y="4220791"/>
              <a:ext cx="0" cy="12239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6" name="Text Box 18">
              <a:extLst>
                <a:ext uri="{FF2B5EF4-FFF2-40B4-BE49-F238E27FC236}">
                  <a16:creationId xmlns:a16="http://schemas.microsoft.com/office/drawing/2014/main" id="{2D361824-5B00-39A8-1F4A-6AC138927D7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96455" y="4652591"/>
              <a:ext cx="1276350" cy="3048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ADCEDC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EB641B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EB641B"/>
                </a:buClr>
                <a:buChar char="o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EB641B"/>
                </a:buClr>
                <a:buChar char="o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EB641B"/>
                </a:buClr>
                <a:buChar char="o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EB641B"/>
                </a:buClr>
                <a:buChar char="o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EB641B"/>
                </a:buClr>
                <a:buChar char="o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pt-BR" altLang="en-US" sz="1400">
                  <a:latin typeface="Tahoma" panose="020B0604030504040204" pitchFamily="34" charset="0"/>
                </a:rPr>
                <a:t>&lt;&lt;herança&gt;&gt;</a:t>
              </a:r>
            </a:p>
          </p:txBody>
        </p:sp>
      </p:grp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81729C77-DE8B-134F-29C0-0BC1DF492817}"/>
              </a:ext>
            </a:extLst>
          </p:cNvPr>
          <p:cNvSpPr txBox="1"/>
          <p:nvPr/>
        </p:nvSpPr>
        <p:spPr>
          <a:xfrm>
            <a:off x="5164505" y="2571562"/>
            <a:ext cx="2697836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en-US" b="1" dirty="0">
                <a:latin typeface="Tahoma" panose="020B0604030504040204" pitchFamily="34" charset="0"/>
              </a:rPr>
              <a:t>Atributos e Métodos Privados: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en-US" dirty="0">
                <a:latin typeface="Tahoma" panose="020B0604030504040204" pitchFamily="34" charset="0"/>
              </a:rPr>
              <a:t>Só podem ser acessados dentro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en-US" dirty="0">
                <a:latin typeface="Tahoma" panose="020B0604030504040204" pitchFamily="34" charset="0"/>
              </a:rPr>
              <a:t>da própria classe. </a:t>
            </a:r>
          </a:p>
          <a:p>
            <a:endParaRPr lang="pt-BR" dirty="0"/>
          </a:p>
        </p:txBody>
      </p:sp>
      <p:pic>
        <p:nvPicPr>
          <p:cNvPr id="18" name="Espaço Reservado para Conteúdo 4">
            <a:extLst>
              <a:ext uri="{FF2B5EF4-FFF2-40B4-BE49-F238E27FC236}">
                <a16:creationId xmlns:a16="http://schemas.microsoft.com/office/drawing/2014/main" id="{FF6D1E4E-BD41-ACC1-CDFB-6A7F295A8FD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92024" y="3598199"/>
            <a:ext cx="1449318" cy="10888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667736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2FDE8419-B477-AC9F-2D8C-BD1CF52F66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0">
            <a:extLst>
              <a:ext uri="{FF2B5EF4-FFF2-40B4-BE49-F238E27FC236}">
                <a16:creationId xmlns:a16="http://schemas.microsoft.com/office/drawing/2014/main" id="{D1F39163-68AA-1F19-4DB1-41E3306A0DB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/>
            <a:r>
              <a:rPr lang="pt-BR" altLang="pt-BR" dirty="0"/>
              <a:t>Qualificadores de Acesso</a:t>
            </a:r>
            <a:endParaRPr dirty="0"/>
          </a:p>
        </p:txBody>
      </p:sp>
      <p:sp>
        <p:nvSpPr>
          <p:cNvPr id="55" name="Google Shape;55;p10">
            <a:extLst>
              <a:ext uri="{FF2B5EF4-FFF2-40B4-BE49-F238E27FC236}">
                <a16:creationId xmlns:a16="http://schemas.microsoft.com/office/drawing/2014/main" id="{C1460759-110E-2178-CFCD-ED99BA70B0C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33509A42-051C-57E3-2151-74F30F71A320}"/>
              </a:ext>
            </a:extLst>
          </p:cNvPr>
          <p:cNvGrpSpPr>
            <a:grpSpLocks/>
          </p:cNvGrpSpPr>
          <p:nvPr/>
        </p:nvGrpSpPr>
        <p:grpSpPr bwMode="auto">
          <a:xfrm>
            <a:off x="311699" y="1152475"/>
            <a:ext cx="8520599" cy="3416400"/>
            <a:chOff x="288" y="1344"/>
            <a:chExt cx="5230" cy="2130"/>
          </a:xfrm>
        </p:grpSpPr>
        <p:sp>
          <p:nvSpPr>
            <p:cNvPr id="5" name="Rectangle 10">
              <a:extLst>
                <a:ext uri="{FF2B5EF4-FFF2-40B4-BE49-F238E27FC236}">
                  <a16:creationId xmlns:a16="http://schemas.microsoft.com/office/drawing/2014/main" id="{9BFB4EC2-36D5-CFB5-93C8-E368C60E59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72" y="2939"/>
              <a:ext cx="1046" cy="5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46800" rIns="90000" bIns="46800" anchor="ctr"/>
            <a:lstStyle>
              <a:lvl1pPr defTabSz="449263"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449263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449263">
                <a:spcBef>
                  <a:spcPts val="375"/>
                </a:spcBef>
                <a:buClr>
                  <a:srgbClr val="ADCEDC"/>
                </a:buClr>
                <a:buSzPct val="85000"/>
                <a:buFont typeface="Wingdings 2" panose="05020102010507070707" pitchFamily="18" charset="2"/>
                <a:buChar char="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449263">
                <a:spcBef>
                  <a:spcPts val="375"/>
                </a:spcBef>
                <a:buClr>
                  <a:srgbClr val="EB641B"/>
                </a:buClr>
                <a:buSzPct val="80000"/>
                <a:buFont typeface="Wingdings 2" panose="05020102010507070707" pitchFamily="18" charset="2"/>
                <a:buChar char="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449263">
                <a:spcBef>
                  <a:spcPts val="375"/>
                </a:spcBef>
                <a:buClr>
                  <a:srgbClr val="EB641B"/>
                </a:buClr>
                <a:buChar char="o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449263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EB641B"/>
                </a:buClr>
                <a:buChar char="o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449263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EB641B"/>
                </a:buClr>
                <a:buChar char="o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449263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EB641B"/>
                </a:buClr>
                <a:buChar char="o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449263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EB641B"/>
                </a:buClr>
                <a:buChar char="o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None/>
                <a:defRPr/>
              </a:pPr>
              <a:r>
                <a:rPr lang="en-GB" altLang="en-US" sz="2400">
                  <a:solidFill>
                    <a:srgbClr val="000000"/>
                  </a:solidFill>
                  <a:latin typeface="+mj-lt"/>
                </a:rPr>
                <a:t>Não</a:t>
              </a:r>
            </a:p>
          </p:txBody>
        </p:sp>
        <p:sp>
          <p:nvSpPr>
            <p:cNvPr id="6" name="Rectangle 11">
              <a:extLst>
                <a:ext uri="{FF2B5EF4-FFF2-40B4-BE49-F238E27FC236}">
                  <a16:creationId xmlns:a16="http://schemas.microsoft.com/office/drawing/2014/main" id="{8F9398F0-BC13-A7DB-ED45-8D637925B9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26" y="2939"/>
              <a:ext cx="1046" cy="5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46800" rIns="90000" bIns="46800" anchor="ctr"/>
            <a:lstStyle>
              <a:lvl1pPr defTabSz="449263"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449263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449263">
                <a:spcBef>
                  <a:spcPts val="375"/>
                </a:spcBef>
                <a:buClr>
                  <a:srgbClr val="ADCEDC"/>
                </a:buClr>
                <a:buSzPct val="85000"/>
                <a:buFont typeface="Wingdings 2" panose="05020102010507070707" pitchFamily="18" charset="2"/>
                <a:buChar char="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449263">
                <a:spcBef>
                  <a:spcPts val="375"/>
                </a:spcBef>
                <a:buClr>
                  <a:srgbClr val="EB641B"/>
                </a:buClr>
                <a:buSzPct val="80000"/>
                <a:buFont typeface="Wingdings 2" panose="05020102010507070707" pitchFamily="18" charset="2"/>
                <a:buChar char="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449263">
                <a:spcBef>
                  <a:spcPts val="375"/>
                </a:spcBef>
                <a:buClr>
                  <a:srgbClr val="EB641B"/>
                </a:buClr>
                <a:buChar char="o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449263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EB641B"/>
                </a:buClr>
                <a:buChar char="o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449263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EB641B"/>
                </a:buClr>
                <a:buChar char="o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449263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EB641B"/>
                </a:buClr>
                <a:buChar char="o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449263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EB641B"/>
                </a:buClr>
                <a:buChar char="o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None/>
                <a:defRPr/>
              </a:pPr>
              <a:r>
                <a:rPr lang="en-GB" altLang="en-US" sz="2400" dirty="0" err="1">
                  <a:solidFill>
                    <a:srgbClr val="000000"/>
                  </a:solidFill>
                  <a:latin typeface="+mj-lt"/>
                </a:rPr>
                <a:t>Não</a:t>
              </a:r>
              <a:endParaRPr lang="en-GB" altLang="en-US" sz="2400" dirty="0">
                <a:solidFill>
                  <a:srgbClr val="000000"/>
                </a:solidFill>
                <a:latin typeface="+mj-lt"/>
              </a:endParaRPr>
            </a:p>
          </p:txBody>
        </p:sp>
        <p:sp>
          <p:nvSpPr>
            <p:cNvPr id="7" name="Rectangle 12">
              <a:extLst>
                <a:ext uri="{FF2B5EF4-FFF2-40B4-BE49-F238E27FC236}">
                  <a16:creationId xmlns:a16="http://schemas.microsoft.com/office/drawing/2014/main" id="{213C1A34-D05D-26A1-C363-BB2EB01622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79" y="2939"/>
              <a:ext cx="1047" cy="5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46800" rIns="90000" bIns="46800" anchor="ctr"/>
            <a:lstStyle>
              <a:lvl1pPr defTabSz="449263"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449263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449263">
                <a:spcBef>
                  <a:spcPts val="375"/>
                </a:spcBef>
                <a:buClr>
                  <a:srgbClr val="ADCEDC"/>
                </a:buClr>
                <a:buSzPct val="85000"/>
                <a:buFont typeface="Wingdings 2" panose="05020102010507070707" pitchFamily="18" charset="2"/>
                <a:buChar char="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449263">
                <a:spcBef>
                  <a:spcPts val="375"/>
                </a:spcBef>
                <a:buClr>
                  <a:srgbClr val="EB641B"/>
                </a:buClr>
                <a:buSzPct val="80000"/>
                <a:buFont typeface="Wingdings 2" panose="05020102010507070707" pitchFamily="18" charset="2"/>
                <a:buChar char="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449263">
                <a:spcBef>
                  <a:spcPts val="375"/>
                </a:spcBef>
                <a:buClr>
                  <a:srgbClr val="EB641B"/>
                </a:buClr>
                <a:buChar char="o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449263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EB641B"/>
                </a:buClr>
                <a:buChar char="o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449263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EB641B"/>
                </a:buClr>
                <a:buChar char="o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449263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EB641B"/>
                </a:buClr>
                <a:buChar char="o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449263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EB641B"/>
                </a:buClr>
                <a:buChar char="o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None/>
                <a:defRPr/>
              </a:pPr>
              <a:r>
                <a:rPr lang="en-GB" altLang="en-US" sz="2400" dirty="0" err="1">
                  <a:solidFill>
                    <a:srgbClr val="000000"/>
                  </a:solidFill>
                  <a:latin typeface="+mj-lt"/>
                </a:rPr>
                <a:t>Não</a:t>
              </a:r>
              <a:endParaRPr lang="en-GB" altLang="en-US" sz="2400" dirty="0">
                <a:solidFill>
                  <a:srgbClr val="000000"/>
                </a:solidFill>
                <a:latin typeface="+mj-lt"/>
              </a:endParaRPr>
            </a:p>
          </p:txBody>
        </p:sp>
        <p:sp>
          <p:nvSpPr>
            <p:cNvPr id="8" name="Rectangle 13">
              <a:extLst>
                <a:ext uri="{FF2B5EF4-FFF2-40B4-BE49-F238E27FC236}">
                  <a16:creationId xmlns:a16="http://schemas.microsoft.com/office/drawing/2014/main" id="{2ECC924C-107F-3954-3434-F85D8DC90D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19" y="2939"/>
              <a:ext cx="961" cy="5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46800" rIns="90000" bIns="46800" anchor="ctr"/>
            <a:lstStyle>
              <a:lvl1pPr defTabSz="449263"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449263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449263">
                <a:spcBef>
                  <a:spcPts val="375"/>
                </a:spcBef>
                <a:buClr>
                  <a:srgbClr val="ADCEDC"/>
                </a:buClr>
                <a:buSzPct val="85000"/>
                <a:buFont typeface="Wingdings 2" panose="05020102010507070707" pitchFamily="18" charset="2"/>
                <a:buChar char="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449263">
                <a:spcBef>
                  <a:spcPts val="375"/>
                </a:spcBef>
                <a:buClr>
                  <a:srgbClr val="EB641B"/>
                </a:buClr>
                <a:buSzPct val="80000"/>
                <a:buFont typeface="Wingdings 2" panose="05020102010507070707" pitchFamily="18" charset="2"/>
                <a:buChar char="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449263">
                <a:spcBef>
                  <a:spcPts val="375"/>
                </a:spcBef>
                <a:buClr>
                  <a:srgbClr val="EB641B"/>
                </a:buClr>
                <a:buChar char="o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449263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EB641B"/>
                </a:buClr>
                <a:buChar char="o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449263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EB641B"/>
                </a:buClr>
                <a:buChar char="o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449263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EB641B"/>
                </a:buClr>
                <a:buChar char="o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449263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EB641B"/>
                </a:buClr>
                <a:buChar char="o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None/>
                <a:defRPr/>
              </a:pPr>
              <a:r>
                <a:rPr lang="en-GB" altLang="en-US" sz="2400">
                  <a:solidFill>
                    <a:srgbClr val="000000"/>
                  </a:solidFill>
                  <a:latin typeface="+mj-lt"/>
                </a:rPr>
                <a:t>Sim</a:t>
              </a:r>
            </a:p>
          </p:txBody>
        </p:sp>
        <p:sp>
          <p:nvSpPr>
            <p:cNvPr id="9" name="Rectangle 14">
              <a:extLst>
                <a:ext uri="{FF2B5EF4-FFF2-40B4-BE49-F238E27FC236}">
                  <a16:creationId xmlns:a16="http://schemas.microsoft.com/office/drawing/2014/main" id="{BF3C6868-AFB4-2183-BA7D-0C8A704263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" y="2939"/>
              <a:ext cx="1131" cy="53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46800" rIns="90000" bIns="46800"/>
            <a:lstStyle>
              <a:lvl1pPr defTabSz="449263"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449263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449263">
                <a:spcBef>
                  <a:spcPts val="375"/>
                </a:spcBef>
                <a:buClr>
                  <a:srgbClr val="ADCEDC"/>
                </a:buClr>
                <a:buSzPct val="85000"/>
                <a:buFont typeface="Wingdings 2" panose="05020102010507070707" pitchFamily="18" charset="2"/>
                <a:buChar char="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449263">
                <a:spcBef>
                  <a:spcPts val="375"/>
                </a:spcBef>
                <a:buClr>
                  <a:srgbClr val="EB641B"/>
                </a:buClr>
                <a:buSzPct val="80000"/>
                <a:buFont typeface="Wingdings 2" panose="05020102010507070707" pitchFamily="18" charset="2"/>
                <a:buChar char="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449263">
                <a:spcBef>
                  <a:spcPts val="375"/>
                </a:spcBef>
                <a:buClr>
                  <a:srgbClr val="EB641B"/>
                </a:buClr>
                <a:buChar char="o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449263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EB641B"/>
                </a:buClr>
                <a:buChar char="o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449263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EB641B"/>
                </a:buClr>
                <a:buChar char="o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449263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EB641B"/>
                </a:buClr>
                <a:buChar char="o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449263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EB641B"/>
                </a:buClr>
                <a:buChar char="o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None/>
                <a:defRPr/>
              </a:pPr>
              <a:r>
                <a:rPr lang="en-GB" altLang="en-US" sz="1800" b="1" dirty="0">
                  <a:solidFill>
                    <a:srgbClr val="000000"/>
                  </a:solidFill>
                  <a:latin typeface="+mj-lt"/>
                </a:rPr>
                <a:t>Private</a:t>
              </a:r>
            </a:p>
          </p:txBody>
        </p:sp>
        <p:sp>
          <p:nvSpPr>
            <p:cNvPr id="10" name="Rectangle 15">
              <a:extLst>
                <a:ext uri="{FF2B5EF4-FFF2-40B4-BE49-F238E27FC236}">
                  <a16:creationId xmlns:a16="http://schemas.microsoft.com/office/drawing/2014/main" id="{8562FC20-4684-425D-AC15-4B487C5A72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72" y="2406"/>
              <a:ext cx="1046" cy="533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46800" rIns="90000" bIns="46800" anchor="ctr"/>
            <a:lstStyle>
              <a:lvl1pPr defTabSz="449263"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449263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449263">
                <a:spcBef>
                  <a:spcPts val="375"/>
                </a:spcBef>
                <a:buClr>
                  <a:srgbClr val="ADCEDC"/>
                </a:buClr>
                <a:buSzPct val="85000"/>
                <a:buFont typeface="Wingdings 2" panose="05020102010507070707" pitchFamily="18" charset="2"/>
                <a:buChar char="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449263">
                <a:spcBef>
                  <a:spcPts val="375"/>
                </a:spcBef>
                <a:buClr>
                  <a:srgbClr val="EB641B"/>
                </a:buClr>
                <a:buSzPct val="80000"/>
                <a:buFont typeface="Wingdings 2" panose="05020102010507070707" pitchFamily="18" charset="2"/>
                <a:buChar char="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449263">
                <a:spcBef>
                  <a:spcPts val="375"/>
                </a:spcBef>
                <a:buClr>
                  <a:srgbClr val="EB641B"/>
                </a:buClr>
                <a:buChar char="o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449263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EB641B"/>
                </a:buClr>
                <a:buChar char="o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449263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EB641B"/>
                </a:buClr>
                <a:buChar char="o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449263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EB641B"/>
                </a:buClr>
                <a:buChar char="o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449263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EB641B"/>
                </a:buClr>
                <a:buChar char="o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None/>
                <a:defRPr/>
              </a:pPr>
              <a:r>
                <a:rPr lang="en-GB" altLang="en-US" sz="2400">
                  <a:solidFill>
                    <a:srgbClr val="000000"/>
                  </a:solidFill>
                  <a:latin typeface="+mj-lt"/>
                </a:rPr>
                <a:t>Não</a:t>
              </a:r>
            </a:p>
          </p:txBody>
        </p:sp>
        <p:sp>
          <p:nvSpPr>
            <p:cNvPr id="11" name="Rectangle 16">
              <a:extLst>
                <a:ext uri="{FF2B5EF4-FFF2-40B4-BE49-F238E27FC236}">
                  <a16:creationId xmlns:a16="http://schemas.microsoft.com/office/drawing/2014/main" id="{0B4A3A37-A643-44D2-162C-E496383EF5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26" y="2406"/>
              <a:ext cx="1046" cy="533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46800" rIns="90000" bIns="46800" anchor="ctr"/>
            <a:lstStyle>
              <a:lvl1pPr defTabSz="449263"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449263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449263">
                <a:spcBef>
                  <a:spcPts val="375"/>
                </a:spcBef>
                <a:buClr>
                  <a:srgbClr val="ADCEDC"/>
                </a:buClr>
                <a:buSzPct val="85000"/>
                <a:buFont typeface="Wingdings 2" panose="05020102010507070707" pitchFamily="18" charset="2"/>
                <a:buChar char="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449263">
                <a:spcBef>
                  <a:spcPts val="375"/>
                </a:spcBef>
                <a:buClr>
                  <a:srgbClr val="EB641B"/>
                </a:buClr>
                <a:buSzPct val="80000"/>
                <a:buFont typeface="Wingdings 2" panose="05020102010507070707" pitchFamily="18" charset="2"/>
                <a:buChar char="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449263">
                <a:spcBef>
                  <a:spcPts val="375"/>
                </a:spcBef>
                <a:buClr>
                  <a:srgbClr val="EB641B"/>
                </a:buClr>
                <a:buChar char="o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449263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EB641B"/>
                </a:buClr>
                <a:buChar char="o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449263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EB641B"/>
                </a:buClr>
                <a:buChar char="o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449263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EB641B"/>
                </a:buClr>
                <a:buChar char="o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449263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EB641B"/>
                </a:buClr>
                <a:buChar char="o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None/>
                <a:defRPr/>
              </a:pPr>
              <a:r>
                <a:rPr lang="en-GB" altLang="en-US" sz="2400">
                  <a:solidFill>
                    <a:srgbClr val="000000"/>
                  </a:solidFill>
                  <a:latin typeface="+mj-lt"/>
                </a:rPr>
                <a:t>Sim</a:t>
              </a:r>
            </a:p>
          </p:txBody>
        </p:sp>
        <p:sp>
          <p:nvSpPr>
            <p:cNvPr id="12" name="Rectangle 17">
              <a:extLst>
                <a:ext uri="{FF2B5EF4-FFF2-40B4-BE49-F238E27FC236}">
                  <a16:creationId xmlns:a16="http://schemas.microsoft.com/office/drawing/2014/main" id="{D1BFCCCE-E800-670E-4275-46107BB053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79" y="2406"/>
              <a:ext cx="1047" cy="533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46800" rIns="90000" bIns="46800" anchor="ctr"/>
            <a:lstStyle>
              <a:lvl1pPr defTabSz="449263"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449263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449263">
                <a:spcBef>
                  <a:spcPts val="375"/>
                </a:spcBef>
                <a:buClr>
                  <a:srgbClr val="ADCEDC"/>
                </a:buClr>
                <a:buSzPct val="85000"/>
                <a:buFont typeface="Wingdings 2" panose="05020102010507070707" pitchFamily="18" charset="2"/>
                <a:buChar char="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449263">
                <a:spcBef>
                  <a:spcPts val="375"/>
                </a:spcBef>
                <a:buClr>
                  <a:srgbClr val="EB641B"/>
                </a:buClr>
                <a:buSzPct val="80000"/>
                <a:buFont typeface="Wingdings 2" panose="05020102010507070707" pitchFamily="18" charset="2"/>
                <a:buChar char="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449263">
                <a:spcBef>
                  <a:spcPts val="375"/>
                </a:spcBef>
                <a:buClr>
                  <a:srgbClr val="EB641B"/>
                </a:buClr>
                <a:buChar char="o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449263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EB641B"/>
                </a:buClr>
                <a:buChar char="o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449263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EB641B"/>
                </a:buClr>
                <a:buChar char="o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449263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EB641B"/>
                </a:buClr>
                <a:buChar char="o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449263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EB641B"/>
                </a:buClr>
                <a:buChar char="o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None/>
                <a:defRPr/>
              </a:pPr>
              <a:r>
                <a:rPr lang="en-GB" altLang="en-US" sz="2400">
                  <a:solidFill>
                    <a:srgbClr val="000000"/>
                  </a:solidFill>
                  <a:latin typeface="+mj-lt"/>
                </a:rPr>
                <a:t>Sim</a:t>
              </a:r>
            </a:p>
          </p:txBody>
        </p:sp>
        <p:sp>
          <p:nvSpPr>
            <p:cNvPr id="13" name="Rectangle 18">
              <a:extLst>
                <a:ext uri="{FF2B5EF4-FFF2-40B4-BE49-F238E27FC236}">
                  <a16:creationId xmlns:a16="http://schemas.microsoft.com/office/drawing/2014/main" id="{CD4E0CBF-B6D7-96AA-4D8F-207A9B40C5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19" y="2406"/>
              <a:ext cx="961" cy="533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46800" rIns="90000" bIns="46800" anchor="ctr"/>
            <a:lstStyle>
              <a:lvl1pPr defTabSz="449263"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449263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449263">
                <a:spcBef>
                  <a:spcPts val="375"/>
                </a:spcBef>
                <a:buClr>
                  <a:srgbClr val="ADCEDC"/>
                </a:buClr>
                <a:buSzPct val="85000"/>
                <a:buFont typeface="Wingdings 2" panose="05020102010507070707" pitchFamily="18" charset="2"/>
                <a:buChar char="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449263">
                <a:spcBef>
                  <a:spcPts val="375"/>
                </a:spcBef>
                <a:buClr>
                  <a:srgbClr val="EB641B"/>
                </a:buClr>
                <a:buSzPct val="80000"/>
                <a:buFont typeface="Wingdings 2" panose="05020102010507070707" pitchFamily="18" charset="2"/>
                <a:buChar char="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449263">
                <a:spcBef>
                  <a:spcPts val="375"/>
                </a:spcBef>
                <a:buClr>
                  <a:srgbClr val="EB641B"/>
                </a:buClr>
                <a:buChar char="o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449263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EB641B"/>
                </a:buClr>
                <a:buChar char="o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449263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EB641B"/>
                </a:buClr>
                <a:buChar char="o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449263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EB641B"/>
                </a:buClr>
                <a:buChar char="o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449263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EB641B"/>
                </a:buClr>
                <a:buChar char="o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None/>
                <a:defRPr/>
              </a:pPr>
              <a:r>
                <a:rPr lang="en-GB" altLang="en-US" sz="2400" dirty="0" err="1">
                  <a:solidFill>
                    <a:srgbClr val="000000"/>
                  </a:solidFill>
                  <a:latin typeface="+mj-lt"/>
                </a:rPr>
                <a:t>Sim</a:t>
              </a:r>
              <a:endParaRPr lang="en-GB" altLang="en-US" sz="2400" dirty="0">
                <a:solidFill>
                  <a:srgbClr val="000000"/>
                </a:solidFill>
                <a:latin typeface="+mj-lt"/>
              </a:endParaRPr>
            </a:p>
          </p:txBody>
        </p:sp>
        <p:sp>
          <p:nvSpPr>
            <p:cNvPr id="14" name="Rectangle 19">
              <a:extLst>
                <a:ext uri="{FF2B5EF4-FFF2-40B4-BE49-F238E27FC236}">
                  <a16:creationId xmlns:a16="http://schemas.microsoft.com/office/drawing/2014/main" id="{54564B7C-1826-5EF2-3FD0-1E16FD3F3B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" y="2406"/>
              <a:ext cx="1131" cy="53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46800" rIns="90000" bIns="46800"/>
            <a:lstStyle>
              <a:lvl1pPr defTabSz="449263"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449263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449263">
                <a:spcBef>
                  <a:spcPts val="375"/>
                </a:spcBef>
                <a:buClr>
                  <a:srgbClr val="ADCEDC"/>
                </a:buClr>
                <a:buSzPct val="85000"/>
                <a:buFont typeface="Wingdings 2" panose="05020102010507070707" pitchFamily="18" charset="2"/>
                <a:buChar char="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449263">
                <a:spcBef>
                  <a:spcPts val="375"/>
                </a:spcBef>
                <a:buClr>
                  <a:srgbClr val="EB641B"/>
                </a:buClr>
                <a:buSzPct val="80000"/>
                <a:buFont typeface="Wingdings 2" panose="05020102010507070707" pitchFamily="18" charset="2"/>
                <a:buChar char="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449263">
                <a:spcBef>
                  <a:spcPts val="375"/>
                </a:spcBef>
                <a:buClr>
                  <a:srgbClr val="EB641B"/>
                </a:buClr>
                <a:buChar char="o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449263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EB641B"/>
                </a:buClr>
                <a:buChar char="o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449263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EB641B"/>
                </a:buClr>
                <a:buChar char="o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449263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EB641B"/>
                </a:buClr>
                <a:buChar char="o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449263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EB641B"/>
                </a:buClr>
                <a:buChar char="o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None/>
                <a:defRPr/>
              </a:pPr>
              <a:r>
                <a:rPr lang="en-GB" altLang="en-US" sz="1800" b="1" dirty="0">
                  <a:solidFill>
                    <a:srgbClr val="000000"/>
                  </a:solidFill>
                  <a:latin typeface="+mj-lt"/>
                </a:rPr>
                <a:t>Protected</a:t>
              </a:r>
            </a:p>
          </p:txBody>
        </p:sp>
        <p:sp>
          <p:nvSpPr>
            <p:cNvPr id="15" name="Rectangle 20">
              <a:extLst>
                <a:ext uri="{FF2B5EF4-FFF2-40B4-BE49-F238E27FC236}">
                  <a16:creationId xmlns:a16="http://schemas.microsoft.com/office/drawing/2014/main" id="{33BA3615-A1F0-4743-DE11-04151FC6A8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72" y="1872"/>
              <a:ext cx="1046" cy="5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46800" rIns="90000" bIns="46800" anchor="ctr"/>
            <a:lstStyle>
              <a:lvl1pPr defTabSz="449263"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449263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449263">
                <a:spcBef>
                  <a:spcPts val="375"/>
                </a:spcBef>
                <a:buClr>
                  <a:srgbClr val="ADCEDC"/>
                </a:buClr>
                <a:buSzPct val="85000"/>
                <a:buFont typeface="Wingdings 2" panose="05020102010507070707" pitchFamily="18" charset="2"/>
                <a:buChar char="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449263">
                <a:spcBef>
                  <a:spcPts val="375"/>
                </a:spcBef>
                <a:buClr>
                  <a:srgbClr val="EB641B"/>
                </a:buClr>
                <a:buSzPct val="80000"/>
                <a:buFont typeface="Wingdings 2" panose="05020102010507070707" pitchFamily="18" charset="2"/>
                <a:buChar char="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449263">
                <a:spcBef>
                  <a:spcPts val="375"/>
                </a:spcBef>
                <a:buClr>
                  <a:srgbClr val="EB641B"/>
                </a:buClr>
                <a:buChar char="o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449263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EB641B"/>
                </a:buClr>
                <a:buChar char="o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449263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EB641B"/>
                </a:buClr>
                <a:buChar char="o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449263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EB641B"/>
                </a:buClr>
                <a:buChar char="o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449263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EB641B"/>
                </a:buClr>
                <a:buChar char="o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None/>
                <a:defRPr/>
              </a:pPr>
              <a:r>
                <a:rPr lang="en-GB" altLang="en-US" sz="2400">
                  <a:solidFill>
                    <a:srgbClr val="000000"/>
                  </a:solidFill>
                  <a:latin typeface="+mj-lt"/>
                </a:rPr>
                <a:t>Sim</a:t>
              </a:r>
            </a:p>
          </p:txBody>
        </p:sp>
        <p:sp>
          <p:nvSpPr>
            <p:cNvPr id="16" name="Rectangle 21">
              <a:extLst>
                <a:ext uri="{FF2B5EF4-FFF2-40B4-BE49-F238E27FC236}">
                  <a16:creationId xmlns:a16="http://schemas.microsoft.com/office/drawing/2014/main" id="{993BC762-1C0E-5CC2-367F-2E2109535E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26" y="1872"/>
              <a:ext cx="1046" cy="5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46800" rIns="90000" bIns="46800" anchor="ctr"/>
            <a:lstStyle>
              <a:lvl1pPr defTabSz="449263"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449263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449263">
                <a:spcBef>
                  <a:spcPts val="375"/>
                </a:spcBef>
                <a:buClr>
                  <a:srgbClr val="ADCEDC"/>
                </a:buClr>
                <a:buSzPct val="85000"/>
                <a:buFont typeface="Wingdings 2" panose="05020102010507070707" pitchFamily="18" charset="2"/>
                <a:buChar char="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449263">
                <a:spcBef>
                  <a:spcPts val="375"/>
                </a:spcBef>
                <a:buClr>
                  <a:srgbClr val="EB641B"/>
                </a:buClr>
                <a:buSzPct val="80000"/>
                <a:buFont typeface="Wingdings 2" panose="05020102010507070707" pitchFamily="18" charset="2"/>
                <a:buChar char="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449263">
                <a:spcBef>
                  <a:spcPts val="375"/>
                </a:spcBef>
                <a:buClr>
                  <a:srgbClr val="EB641B"/>
                </a:buClr>
                <a:buChar char="o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449263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EB641B"/>
                </a:buClr>
                <a:buChar char="o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449263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EB641B"/>
                </a:buClr>
                <a:buChar char="o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449263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EB641B"/>
                </a:buClr>
                <a:buChar char="o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449263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EB641B"/>
                </a:buClr>
                <a:buChar char="o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None/>
                <a:defRPr/>
              </a:pPr>
              <a:r>
                <a:rPr lang="en-GB" altLang="en-US" sz="2400">
                  <a:solidFill>
                    <a:srgbClr val="000000"/>
                  </a:solidFill>
                  <a:latin typeface="+mj-lt"/>
                </a:rPr>
                <a:t>Sim</a:t>
              </a:r>
            </a:p>
          </p:txBody>
        </p:sp>
        <p:sp>
          <p:nvSpPr>
            <p:cNvPr id="17" name="Rectangle 22">
              <a:extLst>
                <a:ext uri="{FF2B5EF4-FFF2-40B4-BE49-F238E27FC236}">
                  <a16:creationId xmlns:a16="http://schemas.microsoft.com/office/drawing/2014/main" id="{756A8636-DDDC-22BE-C248-A1A9BF109F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79" y="1872"/>
              <a:ext cx="1047" cy="5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46800" rIns="90000" bIns="46800" anchor="ctr"/>
            <a:lstStyle>
              <a:lvl1pPr defTabSz="449263"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449263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449263">
                <a:spcBef>
                  <a:spcPts val="375"/>
                </a:spcBef>
                <a:buClr>
                  <a:srgbClr val="ADCEDC"/>
                </a:buClr>
                <a:buSzPct val="85000"/>
                <a:buFont typeface="Wingdings 2" panose="05020102010507070707" pitchFamily="18" charset="2"/>
                <a:buChar char="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449263">
                <a:spcBef>
                  <a:spcPts val="375"/>
                </a:spcBef>
                <a:buClr>
                  <a:srgbClr val="EB641B"/>
                </a:buClr>
                <a:buSzPct val="80000"/>
                <a:buFont typeface="Wingdings 2" panose="05020102010507070707" pitchFamily="18" charset="2"/>
                <a:buChar char="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449263">
                <a:spcBef>
                  <a:spcPts val="375"/>
                </a:spcBef>
                <a:buClr>
                  <a:srgbClr val="EB641B"/>
                </a:buClr>
                <a:buChar char="o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449263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EB641B"/>
                </a:buClr>
                <a:buChar char="o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449263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EB641B"/>
                </a:buClr>
                <a:buChar char="o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449263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EB641B"/>
                </a:buClr>
                <a:buChar char="o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449263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EB641B"/>
                </a:buClr>
                <a:buChar char="o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None/>
                <a:defRPr/>
              </a:pPr>
              <a:r>
                <a:rPr lang="en-GB" altLang="en-US" sz="2400">
                  <a:solidFill>
                    <a:srgbClr val="000000"/>
                  </a:solidFill>
                  <a:latin typeface="+mj-lt"/>
                </a:rPr>
                <a:t>Sim</a:t>
              </a:r>
            </a:p>
          </p:txBody>
        </p:sp>
        <p:sp>
          <p:nvSpPr>
            <p:cNvPr id="18" name="Rectangle 23">
              <a:extLst>
                <a:ext uri="{FF2B5EF4-FFF2-40B4-BE49-F238E27FC236}">
                  <a16:creationId xmlns:a16="http://schemas.microsoft.com/office/drawing/2014/main" id="{1EA7DB4A-2E14-ECD3-9C21-77CC44823F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19" y="1872"/>
              <a:ext cx="961" cy="5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46800" rIns="90000" bIns="46800" anchor="ctr"/>
            <a:lstStyle>
              <a:lvl1pPr defTabSz="449263"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449263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449263">
                <a:spcBef>
                  <a:spcPts val="375"/>
                </a:spcBef>
                <a:buClr>
                  <a:srgbClr val="ADCEDC"/>
                </a:buClr>
                <a:buSzPct val="85000"/>
                <a:buFont typeface="Wingdings 2" panose="05020102010507070707" pitchFamily="18" charset="2"/>
                <a:buChar char="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449263">
                <a:spcBef>
                  <a:spcPts val="375"/>
                </a:spcBef>
                <a:buClr>
                  <a:srgbClr val="EB641B"/>
                </a:buClr>
                <a:buSzPct val="80000"/>
                <a:buFont typeface="Wingdings 2" panose="05020102010507070707" pitchFamily="18" charset="2"/>
                <a:buChar char="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449263">
                <a:spcBef>
                  <a:spcPts val="375"/>
                </a:spcBef>
                <a:buClr>
                  <a:srgbClr val="EB641B"/>
                </a:buClr>
                <a:buChar char="o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449263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EB641B"/>
                </a:buClr>
                <a:buChar char="o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449263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EB641B"/>
                </a:buClr>
                <a:buChar char="o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449263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EB641B"/>
                </a:buClr>
                <a:buChar char="o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449263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EB641B"/>
                </a:buClr>
                <a:buChar char="o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None/>
                <a:defRPr/>
              </a:pPr>
              <a:r>
                <a:rPr lang="en-GB" altLang="en-US" sz="2400">
                  <a:solidFill>
                    <a:srgbClr val="000000"/>
                  </a:solidFill>
                  <a:latin typeface="+mj-lt"/>
                </a:rPr>
                <a:t>Sim</a:t>
              </a:r>
            </a:p>
          </p:txBody>
        </p:sp>
        <p:sp>
          <p:nvSpPr>
            <p:cNvPr id="19" name="Rectangle 24">
              <a:extLst>
                <a:ext uri="{FF2B5EF4-FFF2-40B4-BE49-F238E27FC236}">
                  <a16:creationId xmlns:a16="http://schemas.microsoft.com/office/drawing/2014/main" id="{390BEE23-6E6B-70FD-F80B-C6F417318B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" y="1872"/>
              <a:ext cx="1131" cy="53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46800" rIns="90000" bIns="46800"/>
            <a:lstStyle>
              <a:lvl1pPr defTabSz="449263"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449263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449263">
                <a:spcBef>
                  <a:spcPts val="375"/>
                </a:spcBef>
                <a:buClr>
                  <a:srgbClr val="ADCEDC"/>
                </a:buClr>
                <a:buSzPct val="85000"/>
                <a:buFont typeface="Wingdings 2" panose="05020102010507070707" pitchFamily="18" charset="2"/>
                <a:buChar char="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449263">
                <a:spcBef>
                  <a:spcPts val="375"/>
                </a:spcBef>
                <a:buClr>
                  <a:srgbClr val="EB641B"/>
                </a:buClr>
                <a:buSzPct val="80000"/>
                <a:buFont typeface="Wingdings 2" panose="05020102010507070707" pitchFamily="18" charset="2"/>
                <a:buChar char="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449263">
                <a:spcBef>
                  <a:spcPts val="375"/>
                </a:spcBef>
                <a:buClr>
                  <a:srgbClr val="EB641B"/>
                </a:buClr>
                <a:buChar char="o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449263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EB641B"/>
                </a:buClr>
                <a:buChar char="o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449263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EB641B"/>
                </a:buClr>
                <a:buChar char="o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449263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EB641B"/>
                </a:buClr>
                <a:buChar char="o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449263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EB641B"/>
                </a:buClr>
                <a:buChar char="o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None/>
                <a:defRPr/>
              </a:pPr>
              <a:r>
                <a:rPr lang="en-GB" altLang="en-US" sz="1800" b="1" dirty="0">
                  <a:solidFill>
                    <a:srgbClr val="000000"/>
                  </a:solidFill>
                  <a:latin typeface="+mj-lt"/>
                </a:rPr>
                <a:t>Public</a:t>
              </a:r>
            </a:p>
          </p:txBody>
        </p:sp>
        <p:sp>
          <p:nvSpPr>
            <p:cNvPr id="20" name="Rectangle 25">
              <a:extLst>
                <a:ext uri="{FF2B5EF4-FFF2-40B4-BE49-F238E27FC236}">
                  <a16:creationId xmlns:a16="http://schemas.microsoft.com/office/drawing/2014/main" id="{AAE4D287-21C9-39B6-7C2B-2AADDC562A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72" y="1344"/>
              <a:ext cx="1046" cy="528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46800" rIns="90000" bIns="46800" anchor="ctr"/>
            <a:lstStyle>
              <a:lvl1pPr defTabSz="449263"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449263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449263">
                <a:spcBef>
                  <a:spcPts val="375"/>
                </a:spcBef>
                <a:buClr>
                  <a:srgbClr val="ADCEDC"/>
                </a:buClr>
                <a:buSzPct val="85000"/>
                <a:buFont typeface="Wingdings 2" panose="05020102010507070707" pitchFamily="18" charset="2"/>
                <a:buChar char="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449263">
                <a:spcBef>
                  <a:spcPts val="375"/>
                </a:spcBef>
                <a:buClr>
                  <a:srgbClr val="EB641B"/>
                </a:buClr>
                <a:buSzPct val="80000"/>
                <a:buFont typeface="Wingdings 2" panose="05020102010507070707" pitchFamily="18" charset="2"/>
                <a:buChar char="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449263">
                <a:spcBef>
                  <a:spcPts val="375"/>
                </a:spcBef>
                <a:buClr>
                  <a:srgbClr val="EB641B"/>
                </a:buClr>
                <a:buChar char="o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449263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EB641B"/>
                </a:buClr>
                <a:buChar char="o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449263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EB641B"/>
                </a:buClr>
                <a:buChar char="o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449263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EB641B"/>
                </a:buClr>
                <a:buChar char="o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449263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EB641B"/>
                </a:buClr>
                <a:buChar char="o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None/>
                <a:defRPr/>
              </a:pPr>
              <a:r>
                <a:rPr lang="en-GB" altLang="en-US" sz="1800" b="1" dirty="0" err="1">
                  <a:solidFill>
                    <a:srgbClr val="000000"/>
                  </a:solidFill>
                  <a:latin typeface="+mj-lt"/>
                </a:rPr>
                <a:t>Todos</a:t>
              </a:r>
              <a:endParaRPr lang="en-GB" altLang="en-US" sz="1800" b="1" dirty="0">
                <a:solidFill>
                  <a:srgbClr val="000000"/>
                </a:solidFill>
                <a:latin typeface="+mj-lt"/>
              </a:endParaRPr>
            </a:p>
          </p:txBody>
        </p:sp>
        <p:sp>
          <p:nvSpPr>
            <p:cNvPr id="21" name="Rectangle 26">
              <a:extLst>
                <a:ext uri="{FF2B5EF4-FFF2-40B4-BE49-F238E27FC236}">
                  <a16:creationId xmlns:a16="http://schemas.microsoft.com/office/drawing/2014/main" id="{697DBB20-1141-13BC-2A73-747D3CD4C8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26" y="1344"/>
              <a:ext cx="1046" cy="528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46800" rIns="90000" bIns="46800" anchor="ctr"/>
            <a:lstStyle>
              <a:lvl1pPr defTabSz="449263"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449263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449263">
                <a:spcBef>
                  <a:spcPts val="375"/>
                </a:spcBef>
                <a:buClr>
                  <a:srgbClr val="ADCEDC"/>
                </a:buClr>
                <a:buSzPct val="85000"/>
                <a:buFont typeface="Wingdings 2" panose="05020102010507070707" pitchFamily="18" charset="2"/>
                <a:buChar char="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449263">
                <a:spcBef>
                  <a:spcPts val="375"/>
                </a:spcBef>
                <a:buClr>
                  <a:srgbClr val="EB641B"/>
                </a:buClr>
                <a:buSzPct val="80000"/>
                <a:buFont typeface="Wingdings 2" panose="05020102010507070707" pitchFamily="18" charset="2"/>
                <a:buChar char="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449263">
                <a:spcBef>
                  <a:spcPts val="375"/>
                </a:spcBef>
                <a:buClr>
                  <a:srgbClr val="EB641B"/>
                </a:buClr>
                <a:buChar char="o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449263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EB641B"/>
                </a:buClr>
                <a:buChar char="o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449263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EB641B"/>
                </a:buClr>
                <a:buChar char="o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449263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EB641B"/>
                </a:buClr>
                <a:buChar char="o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449263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EB641B"/>
                </a:buClr>
                <a:buChar char="o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None/>
                <a:defRPr/>
              </a:pPr>
              <a:r>
                <a:rPr lang="en-GB" altLang="en-US" sz="1800" b="1" dirty="0" err="1">
                  <a:solidFill>
                    <a:srgbClr val="000000"/>
                  </a:solidFill>
                  <a:latin typeface="+mj-lt"/>
                </a:rPr>
                <a:t>Subclasse</a:t>
              </a:r>
              <a:endParaRPr lang="en-GB" altLang="en-US" sz="1800" b="1" dirty="0">
                <a:solidFill>
                  <a:srgbClr val="000000"/>
                </a:solidFill>
                <a:latin typeface="+mj-lt"/>
              </a:endParaRPr>
            </a:p>
          </p:txBody>
        </p:sp>
        <p:sp>
          <p:nvSpPr>
            <p:cNvPr id="22" name="Rectangle 27">
              <a:extLst>
                <a:ext uri="{FF2B5EF4-FFF2-40B4-BE49-F238E27FC236}">
                  <a16:creationId xmlns:a16="http://schemas.microsoft.com/office/drawing/2014/main" id="{3996F746-BB03-4486-5A3A-F4712C8E88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79" y="1344"/>
              <a:ext cx="1047" cy="528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46800" rIns="90000" bIns="46800" anchor="ctr"/>
            <a:lstStyle>
              <a:lvl1pPr defTabSz="449263"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449263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449263">
                <a:spcBef>
                  <a:spcPts val="375"/>
                </a:spcBef>
                <a:buClr>
                  <a:srgbClr val="ADCEDC"/>
                </a:buClr>
                <a:buSzPct val="85000"/>
                <a:buFont typeface="Wingdings 2" panose="05020102010507070707" pitchFamily="18" charset="2"/>
                <a:buChar char="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449263">
                <a:spcBef>
                  <a:spcPts val="375"/>
                </a:spcBef>
                <a:buClr>
                  <a:srgbClr val="EB641B"/>
                </a:buClr>
                <a:buSzPct val="80000"/>
                <a:buFont typeface="Wingdings 2" panose="05020102010507070707" pitchFamily="18" charset="2"/>
                <a:buChar char="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449263">
                <a:spcBef>
                  <a:spcPts val="375"/>
                </a:spcBef>
                <a:buClr>
                  <a:srgbClr val="EB641B"/>
                </a:buClr>
                <a:buChar char="o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449263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EB641B"/>
                </a:buClr>
                <a:buChar char="o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449263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EB641B"/>
                </a:buClr>
                <a:buChar char="o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449263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EB641B"/>
                </a:buClr>
                <a:buChar char="o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449263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EB641B"/>
                </a:buClr>
                <a:buChar char="o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None/>
                <a:defRPr/>
              </a:pPr>
              <a:r>
                <a:rPr lang="en-GB" altLang="en-US" sz="1800" b="1" dirty="0" err="1">
                  <a:solidFill>
                    <a:srgbClr val="000000"/>
                  </a:solidFill>
                  <a:latin typeface="+mj-lt"/>
                </a:rPr>
                <a:t>Pacote</a:t>
              </a:r>
              <a:r>
                <a:rPr lang="en-GB" altLang="en-US" sz="3200" b="1" dirty="0">
                  <a:solidFill>
                    <a:srgbClr val="000000"/>
                  </a:solidFill>
                  <a:latin typeface="+mj-lt"/>
                </a:rPr>
                <a:t> </a:t>
              </a:r>
            </a:p>
          </p:txBody>
        </p:sp>
        <p:sp>
          <p:nvSpPr>
            <p:cNvPr id="23" name="Rectangle 28">
              <a:extLst>
                <a:ext uri="{FF2B5EF4-FFF2-40B4-BE49-F238E27FC236}">
                  <a16:creationId xmlns:a16="http://schemas.microsoft.com/office/drawing/2014/main" id="{BFA6B5A8-19BA-74E1-036B-4FE1875B17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19" y="1344"/>
              <a:ext cx="961" cy="528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46800" rIns="90000" bIns="46800" anchor="ctr"/>
            <a:lstStyle>
              <a:lvl1pPr defTabSz="449263"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449263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449263">
                <a:spcBef>
                  <a:spcPts val="375"/>
                </a:spcBef>
                <a:buClr>
                  <a:srgbClr val="ADCEDC"/>
                </a:buClr>
                <a:buSzPct val="85000"/>
                <a:buFont typeface="Wingdings 2" panose="05020102010507070707" pitchFamily="18" charset="2"/>
                <a:buChar char="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449263">
                <a:spcBef>
                  <a:spcPts val="375"/>
                </a:spcBef>
                <a:buClr>
                  <a:srgbClr val="EB641B"/>
                </a:buClr>
                <a:buSzPct val="80000"/>
                <a:buFont typeface="Wingdings 2" panose="05020102010507070707" pitchFamily="18" charset="2"/>
                <a:buChar char="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449263">
                <a:spcBef>
                  <a:spcPts val="375"/>
                </a:spcBef>
                <a:buClr>
                  <a:srgbClr val="EB641B"/>
                </a:buClr>
                <a:buChar char="o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449263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EB641B"/>
                </a:buClr>
                <a:buChar char="o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449263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EB641B"/>
                </a:buClr>
                <a:buChar char="o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449263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EB641B"/>
                </a:buClr>
                <a:buChar char="o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449263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EB641B"/>
                </a:buClr>
                <a:buChar char="o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None/>
                <a:defRPr/>
              </a:pPr>
              <a:endParaRPr lang="en-GB" altLang="en-US" sz="1800" b="1" dirty="0">
                <a:solidFill>
                  <a:srgbClr val="000000"/>
                </a:solidFill>
                <a:latin typeface="+mj-lt"/>
              </a:endParaRPr>
            </a:p>
            <a:p>
              <a:pPr algn="ctr" eaLnBrk="1" hangingPunct="1">
                <a:spcBef>
                  <a:spcPct val="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None/>
                <a:defRPr/>
              </a:pPr>
              <a:endParaRPr lang="en-GB" altLang="en-US" sz="1800" b="1" dirty="0">
                <a:solidFill>
                  <a:srgbClr val="000000"/>
                </a:solidFill>
                <a:latin typeface="+mj-lt"/>
              </a:endParaRPr>
            </a:p>
            <a:p>
              <a:pPr algn="ctr" eaLnBrk="1" hangingPunct="1">
                <a:spcBef>
                  <a:spcPct val="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None/>
                <a:defRPr/>
              </a:pPr>
              <a:r>
                <a:rPr lang="en-GB" altLang="en-US" sz="1800" b="1" dirty="0" err="1">
                  <a:solidFill>
                    <a:srgbClr val="000000"/>
                  </a:solidFill>
                  <a:latin typeface="+mj-lt"/>
                </a:rPr>
                <a:t>Classe</a:t>
              </a:r>
              <a:r>
                <a:rPr lang="en-GB" altLang="en-US" sz="1800" b="1" dirty="0">
                  <a:solidFill>
                    <a:srgbClr val="000000"/>
                  </a:solidFill>
                  <a:latin typeface="+mj-lt"/>
                </a:rPr>
                <a:t>/</a:t>
              </a:r>
            </a:p>
            <a:p>
              <a:pPr algn="ctr" eaLnBrk="1" hangingPunct="1">
                <a:spcBef>
                  <a:spcPct val="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None/>
                <a:defRPr/>
              </a:pPr>
              <a:r>
                <a:rPr lang="en-GB" altLang="en-US" sz="1800" b="1" dirty="0" err="1">
                  <a:solidFill>
                    <a:srgbClr val="000000"/>
                  </a:solidFill>
                  <a:latin typeface="+mj-lt"/>
                </a:rPr>
                <a:t>Atributos</a:t>
              </a:r>
              <a:r>
                <a:rPr lang="en-GB" altLang="en-US" sz="1800" b="1" dirty="0">
                  <a:solidFill>
                    <a:srgbClr val="000000"/>
                  </a:solidFill>
                  <a:latin typeface="+mj-lt"/>
                </a:rPr>
                <a:t> </a:t>
              </a:r>
              <a:r>
                <a:rPr lang="en-GB" altLang="en-US" sz="1800" b="1" dirty="0" err="1">
                  <a:solidFill>
                    <a:srgbClr val="000000"/>
                  </a:solidFill>
                  <a:latin typeface="+mj-lt"/>
                </a:rPr>
                <a:t>ou</a:t>
              </a:r>
              <a:r>
                <a:rPr lang="en-GB" altLang="en-US" sz="1800" b="1" dirty="0">
                  <a:solidFill>
                    <a:srgbClr val="000000"/>
                  </a:solidFill>
                  <a:latin typeface="+mj-lt"/>
                </a:rPr>
                <a:t> </a:t>
              </a:r>
              <a:r>
                <a:rPr lang="en-GB" altLang="en-US" sz="1800" b="1" dirty="0" err="1">
                  <a:solidFill>
                    <a:srgbClr val="000000"/>
                  </a:solidFill>
                  <a:latin typeface="+mj-lt"/>
                </a:rPr>
                <a:t>Métodos</a:t>
              </a:r>
              <a:endParaRPr lang="en-GB" altLang="en-US" sz="1800" b="1" dirty="0">
                <a:solidFill>
                  <a:srgbClr val="000000"/>
                </a:solidFill>
                <a:latin typeface="+mj-lt"/>
              </a:endParaRPr>
            </a:p>
            <a:p>
              <a:pPr algn="ctr" eaLnBrk="1" hangingPunct="1">
                <a:spcBef>
                  <a:spcPct val="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None/>
                <a:defRPr/>
              </a:pPr>
              <a:r>
                <a:rPr lang="en-GB" altLang="en-US" sz="3200" dirty="0">
                  <a:solidFill>
                    <a:srgbClr val="000000"/>
                  </a:solidFill>
                  <a:latin typeface="+mj-lt"/>
                </a:rPr>
                <a:t> </a:t>
              </a:r>
            </a:p>
          </p:txBody>
        </p:sp>
        <p:sp>
          <p:nvSpPr>
            <p:cNvPr id="24" name="Rectangle 29">
              <a:extLst>
                <a:ext uri="{FF2B5EF4-FFF2-40B4-BE49-F238E27FC236}">
                  <a16:creationId xmlns:a16="http://schemas.microsoft.com/office/drawing/2014/main" id="{CC46AA89-BA32-D22B-AC17-8136AC8F34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" y="1344"/>
              <a:ext cx="1131" cy="528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46800" rIns="90000" bIns="46800" anchor="ctr"/>
            <a:lstStyle>
              <a:lvl1pPr defTabSz="449263"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449263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449263">
                <a:spcBef>
                  <a:spcPts val="375"/>
                </a:spcBef>
                <a:buClr>
                  <a:srgbClr val="ADCEDC"/>
                </a:buClr>
                <a:buSzPct val="85000"/>
                <a:buFont typeface="Wingdings 2" panose="05020102010507070707" pitchFamily="18" charset="2"/>
                <a:buChar char="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449263">
                <a:spcBef>
                  <a:spcPts val="375"/>
                </a:spcBef>
                <a:buClr>
                  <a:srgbClr val="EB641B"/>
                </a:buClr>
                <a:buSzPct val="80000"/>
                <a:buFont typeface="Wingdings 2" panose="05020102010507070707" pitchFamily="18" charset="2"/>
                <a:buChar char="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449263">
                <a:spcBef>
                  <a:spcPts val="375"/>
                </a:spcBef>
                <a:buClr>
                  <a:srgbClr val="EB641B"/>
                </a:buClr>
                <a:buChar char="o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449263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EB641B"/>
                </a:buClr>
                <a:buChar char="o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449263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EB641B"/>
                </a:buClr>
                <a:buChar char="o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449263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EB641B"/>
                </a:buClr>
                <a:buChar char="o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449263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EB641B"/>
                </a:buClr>
                <a:buChar char="o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None/>
                <a:defRPr/>
              </a:pPr>
              <a:r>
                <a:rPr lang="en-GB" altLang="en-US" sz="1800" b="1" dirty="0" err="1">
                  <a:solidFill>
                    <a:srgbClr val="000000"/>
                  </a:solidFill>
                  <a:latin typeface="+mj-lt"/>
                </a:rPr>
                <a:t>Modificador</a:t>
              </a:r>
              <a:r>
                <a:rPr lang="en-GB" altLang="en-US" sz="1800" b="1" dirty="0">
                  <a:solidFill>
                    <a:srgbClr val="000000"/>
                  </a:solidFill>
                  <a:latin typeface="+mj-lt"/>
                </a:rPr>
                <a:t> </a:t>
              </a:r>
            </a:p>
          </p:txBody>
        </p:sp>
        <p:sp>
          <p:nvSpPr>
            <p:cNvPr id="25" name="Line 30">
              <a:extLst>
                <a:ext uri="{FF2B5EF4-FFF2-40B4-BE49-F238E27FC236}">
                  <a16:creationId xmlns:a16="http://schemas.microsoft.com/office/drawing/2014/main" id="{4C0DD852-3049-3A53-EC69-70EB90E347F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8" y="1344"/>
              <a:ext cx="5229" cy="1"/>
            </a:xfrm>
            <a:prstGeom prst="line">
              <a:avLst/>
            </a:prstGeom>
            <a:noFill/>
            <a:ln w="2844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6" name="Line 31">
              <a:extLst>
                <a:ext uri="{FF2B5EF4-FFF2-40B4-BE49-F238E27FC236}">
                  <a16:creationId xmlns:a16="http://schemas.microsoft.com/office/drawing/2014/main" id="{4ECE56FC-E89F-DA40-1B45-BC195C295FC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8" y="1872"/>
              <a:ext cx="5229" cy="1"/>
            </a:xfrm>
            <a:prstGeom prst="line">
              <a:avLst/>
            </a:prstGeom>
            <a:noFill/>
            <a:ln w="126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7" name="Line 32">
              <a:extLst>
                <a:ext uri="{FF2B5EF4-FFF2-40B4-BE49-F238E27FC236}">
                  <a16:creationId xmlns:a16="http://schemas.microsoft.com/office/drawing/2014/main" id="{84A4A5ED-E701-3FF3-6F6B-8E4E91155B9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8" y="2406"/>
              <a:ext cx="5229" cy="1"/>
            </a:xfrm>
            <a:prstGeom prst="line">
              <a:avLst/>
            </a:prstGeom>
            <a:noFill/>
            <a:ln w="126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8" name="Line 33">
              <a:extLst>
                <a:ext uri="{FF2B5EF4-FFF2-40B4-BE49-F238E27FC236}">
                  <a16:creationId xmlns:a16="http://schemas.microsoft.com/office/drawing/2014/main" id="{D3FC1D66-54F7-9218-0065-6267DFE5CDC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8" y="2939"/>
              <a:ext cx="5229" cy="1"/>
            </a:xfrm>
            <a:prstGeom prst="line">
              <a:avLst/>
            </a:prstGeom>
            <a:noFill/>
            <a:ln w="126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9" name="Line 34">
              <a:extLst>
                <a:ext uri="{FF2B5EF4-FFF2-40B4-BE49-F238E27FC236}">
                  <a16:creationId xmlns:a16="http://schemas.microsoft.com/office/drawing/2014/main" id="{E43EB759-DF2C-9F2B-7D42-F624BA378EE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8" y="3473"/>
              <a:ext cx="5229" cy="1"/>
            </a:xfrm>
            <a:prstGeom prst="line">
              <a:avLst/>
            </a:prstGeom>
            <a:noFill/>
            <a:ln w="25273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0" name="Line 36">
              <a:extLst>
                <a:ext uri="{FF2B5EF4-FFF2-40B4-BE49-F238E27FC236}">
                  <a16:creationId xmlns:a16="http://schemas.microsoft.com/office/drawing/2014/main" id="{4E9AA450-AD52-CFAE-9F92-AFA9394E803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8" y="1344"/>
              <a:ext cx="0" cy="2129"/>
            </a:xfrm>
            <a:prstGeom prst="line">
              <a:avLst/>
            </a:prstGeom>
            <a:noFill/>
            <a:ln w="2844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1" name="Line 37">
              <a:extLst>
                <a:ext uri="{FF2B5EF4-FFF2-40B4-BE49-F238E27FC236}">
                  <a16:creationId xmlns:a16="http://schemas.microsoft.com/office/drawing/2014/main" id="{7F53B95A-4989-5589-7215-72574C1FC9D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19" y="1344"/>
              <a:ext cx="0" cy="2129"/>
            </a:xfrm>
            <a:prstGeom prst="line">
              <a:avLst/>
            </a:prstGeom>
            <a:noFill/>
            <a:ln w="126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2" name="Line 38">
              <a:extLst>
                <a:ext uri="{FF2B5EF4-FFF2-40B4-BE49-F238E27FC236}">
                  <a16:creationId xmlns:a16="http://schemas.microsoft.com/office/drawing/2014/main" id="{8CBF096D-1702-6EA1-EF1A-343BB382FF7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79" y="1344"/>
              <a:ext cx="0" cy="2129"/>
            </a:xfrm>
            <a:prstGeom prst="line">
              <a:avLst/>
            </a:prstGeom>
            <a:noFill/>
            <a:ln w="126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3" name="Line 39">
              <a:extLst>
                <a:ext uri="{FF2B5EF4-FFF2-40B4-BE49-F238E27FC236}">
                  <a16:creationId xmlns:a16="http://schemas.microsoft.com/office/drawing/2014/main" id="{EABC99A0-419D-40DC-3E76-9FC75F20A31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26" y="1344"/>
              <a:ext cx="0" cy="2129"/>
            </a:xfrm>
            <a:prstGeom prst="line">
              <a:avLst/>
            </a:prstGeom>
            <a:noFill/>
            <a:ln w="126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4" name="Line 40">
              <a:extLst>
                <a:ext uri="{FF2B5EF4-FFF2-40B4-BE49-F238E27FC236}">
                  <a16:creationId xmlns:a16="http://schemas.microsoft.com/office/drawing/2014/main" id="{B237440B-1937-E17D-32AA-868891B5459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72" y="1344"/>
              <a:ext cx="0" cy="2129"/>
            </a:xfrm>
            <a:prstGeom prst="line">
              <a:avLst/>
            </a:prstGeom>
            <a:noFill/>
            <a:ln w="126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5" name="Line 41">
              <a:extLst>
                <a:ext uri="{FF2B5EF4-FFF2-40B4-BE49-F238E27FC236}">
                  <a16:creationId xmlns:a16="http://schemas.microsoft.com/office/drawing/2014/main" id="{B9C6145E-3492-0C3A-889A-C6E672C0815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17" y="1344"/>
              <a:ext cx="0" cy="2129"/>
            </a:xfrm>
            <a:prstGeom prst="line">
              <a:avLst/>
            </a:prstGeom>
            <a:noFill/>
            <a:ln w="2844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</p:grpSp>
    </p:spTree>
    <p:extLst>
      <p:ext uri="{BB962C8B-B14F-4D97-AF65-F5344CB8AC3E}">
        <p14:creationId xmlns:p14="http://schemas.microsoft.com/office/powerpoint/2010/main" val="39545475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F7527CBF-8E68-2F8B-14A3-12F7E3D51F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0">
            <a:extLst>
              <a:ext uri="{FF2B5EF4-FFF2-40B4-BE49-F238E27FC236}">
                <a16:creationId xmlns:a16="http://schemas.microsoft.com/office/drawing/2014/main" id="{EA0FB313-1610-686D-B53A-02C9464FE86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/>
            <a:r>
              <a:rPr lang="pt-BR" altLang="en-US" dirty="0"/>
              <a:t>Recomendação para estabelecimento de visibilidade</a:t>
            </a:r>
            <a:endParaRPr dirty="0"/>
          </a:p>
        </p:txBody>
      </p:sp>
      <p:sp>
        <p:nvSpPr>
          <p:cNvPr id="55" name="Google Shape;55;p10">
            <a:extLst>
              <a:ext uri="{FF2B5EF4-FFF2-40B4-BE49-F238E27FC236}">
                <a16:creationId xmlns:a16="http://schemas.microsoft.com/office/drawing/2014/main" id="{990E1B0A-DF43-CBB7-3BFE-BD03E3FA0DD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77500" lnSpcReduction="20000"/>
          </a:bodyPr>
          <a:lstStyle/>
          <a:p>
            <a:pPr eaLnBrk="1" hangingPunct="1"/>
            <a:endParaRPr lang="pt-BR" altLang="en-US" sz="1200" dirty="0"/>
          </a:p>
          <a:p>
            <a:pPr eaLnBrk="1" hangingPunct="1"/>
            <a:r>
              <a:rPr lang="pt-BR" altLang="en-US" sz="2800" dirty="0"/>
              <a:t>Geralmente...</a:t>
            </a:r>
            <a:endParaRPr lang="pt-BR" altLang="en-US" sz="2000" b="1" dirty="0">
              <a:solidFill>
                <a:srgbClr val="0000CC"/>
              </a:solidFill>
            </a:endParaRPr>
          </a:p>
          <a:p>
            <a:pPr lvl="1" eaLnBrk="1" hangingPunct="1"/>
            <a:endParaRPr lang="pt-BR" altLang="en-US" sz="2600" b="1" dirty="0">
              <a:solidFill>
                <a:srgbClr val="0000CC"/>
              </a:solidFill>
            </a:endParaRPr>
          </a:p>
          <a:p>
            <a:pPr lvl="1" eaLnBrk="1" hangingPunct="1"/>
            <a:r>
              <a:rPr lang="pt-BR" altLang="en-US" sz="2600" b="1" dirty="0">
                <a:solidFill>
                  <a:srgbClr val="0000CC"/>
                </a:solidFill>
              </a:rPr>
              <a:t>Atributos </a:t>
            </a:r>
            <a:r>
              <a:rPr lang="pt-BR" altLang="en-US" sz="2600" dirty="0"/>
              <a:t>→ </a:t>
            </a:r>
            <a:r>
              <a:rPr lang="pt-BR" altLang="en-US" sz="2600" b="1" dirty="0">
                <a:solidFill>
                  <a:srgbClr val="FF0000"/>
                </a:solidFill>
              </a:rPr>
              <a:t>privados</a:t>
            </a:r>
          </a:p>
          <a:p>
            <a:pPr lvl="2" eaLnBrk="1" hangingPunct="1"/>
            <a:endParaRPr lang="pt-BR" altLang="en-US" dirty="0"/>
          </a:p>
          <a:p>
            <a:pPr lvl="2" eaLnBrk="1" hangingPunct="1"/>
            <a:r>
              <a:rPr lang="pt-BR" altLang="en-US" sz="2400" dirty="0"/>
              <a:t>Princípio da </a:t>
            </a:r>
            <a:r>
              <a:rPr lang="pt-BR" altLang="en-US" sz="2400" b="1" dirty="0"/>
              <a:t>ocultação</a:t>
            </a:r>
            <a:r>
              <a:rPr lang="pt-BR" altLang="en-US" sz="2400" dirty="0"/>
              <a:t> de informação do paradigma de orientação a objetos (Encapsulamento)</a:t>
            </a:r>
          </a:p>
          <a:p>
            <a:pPr lvl="2" eaLnBrk="1" hangingPunct="1"/>
            <a:endParaRPr lang="pt-BR" altLang="en-US" dirty="0"/>
          </a:p>
          <a:p>
            <a:pPr lvl="2" eaLnBrk="1" hangingPunct="1"/>
            <a:r>
              <a:rPr lang="pt-BR" altLang="en-US" sz="2400" dirty="0"/>
              <a:t>Atributos públicos → </a:t>
            </a:r>
            <a:r>
              <a:rPr lang="pt-BR" altLang="en-US" sz="2400" b="1" dirty="0">
                <a:solidFill>
                  <a:srgbClr val="FF0000"/>
                </a:solidFill>
                <a:latin typeface="Comic Sans MS" panose="030F0702030302020204" pitchFamily="66" charset="0"/>
              </a:rPr>
              <a:t>JAMAIS!!!</a:t>
            </a:r>
            <a:endParaRPr lang="pt-BR" altLang="en-US" sz="2400" dirty="0"/>
          </a:p>
          <a:p>
            <a:pPr lvl="2" eaLnBrk="1" hangingPunct="1"/>
            <a:endParaRPr lang="pt-BR" altLang="en-US" dirty="0"/>
          </a:p>
          <a:p>
            <a:pPr lvl="2" eaLnBrk="1" hangingPunct="1"/>
            <a:r>
              <a:rPr lang="pt-BR" altLang="en-US" sz="2400" dirty="0"/>
              <a:t>Necessidades específicas podem justificar o aumento de restrição de visibilidade.</a:t>
            </a: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5062079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FF6A3AB2-548E-9292-94EC-48C4BFC396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0">
            <a:extLst>
              <a:ext uri="{FF2B5EF4-FFF2-40B4-BE49-F238E27FC236}">
                <a16:creationId xmlns:a16="http://schemas.microsoft.com/office/drawing/2014/main" id="{F2D10792-421A-B199-CF76-5C2D40E79CB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/>
            <a:r>
              <a:rPr lang="pt-BR" altLang="en-US" dirty="0"/>
              <a:t>Recomendação para estabelecimento de visibilidade</a:t>
            </a:r>
            <a:endParaRPr dirty="0"/>
          </a:p>
        </p:txBody>
      </p:sp>
      <p:sp>
        <p:nvSpPr>
          <p:cNvPr id="55" name="Google Shape;55;p10">
            <a:extLst>
              <a:ext uri="{FF2B5EF4-FFF2-40B4-BE49-F238E27FC236}">
                <a16:creationId xmlns:a16="http://schemas.microsoft.com/office/drawing/2014/main" id="{59D6DFB5-2100-EDDB-0419-06F5C4EE2DD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77500" lnSpcReduction="20000"/>
          </a:bodyPr>
          <a:lstStyle/>
          <a:p>
            <a:pPr eaLnBrk="1" hangingPunct="1"/>
            <a:endParaRPr lang="pt-BR" altLang="en-US" sz="1200" dirty="0"/>
          </a:p>
          <a:p>
            <a:pPr eaLnBrk="1" hangingPunct="1"/>
            <a:r>
              <a:rPr lang="pt-BR" altLang="en-US" sz="2800" dirty="0"/>
              <a:t>Geralmente...</a:t>
            </a:r>
            <a:endParaRPr lang="pt-BR" altLang="en-US" sz="2000" b="1" dirty="0">
              <a:solidFill>
                <a:srgbClr val="0000CC"/>
              </a:solidFill>
            </a:endParaRPr>
          </a:p>
          <a:p>
            <a:pPr lvl="1" eaLnBrk="1" hangingPunct="1"/>
            <a:endParaRPr lang="pt-BR" altLang="en-US" sz="2600" b="1" dirty="0">
              <a:solidFill>
                <a:srgbClr val="0000CC"/>
              </a:solidFill>
            </a:endParaRPr>
          </a:p>
          <a:p>
            <a:pPr lvl="1" eaLnBrk="1" hangingPunct="1"/>
            <a:r>
              <a:rPr lang="pt-BR" altLang="en-US" sz="2600" b="1" dirty="0">
                <a:solidFill>
                  <a:srgbClr val="0000CC"/>
                </a:solidFill>
              </a:rPr>
              <a:t>Métodos </a:t>
            </a:r>
            <a:r>
              <a:rPr lang="pt-BR" altLang="en-US" sz="2600" dirty="0"/>
              <a:t>→ </a:t>
            </a:r>
            <a:r>
              <a:rPr lang="pt-BR" altLang="en-US" sz="2600" b="1" dirty="0">
                <a:solidFill>
                  <a:srgbClr val="FF0000"/>
                </a:solidFill>
              </a:rPr>
              <a:t>públicos ou protegidos</a:t>
            </a:r>
          </a:p>
          <a:p>
            <a:pPr lvl="2" eaLnBrk="1" hangingPunct="1"/>
            <a:endParaRPr lang="pt-BR" altLang="en-US" dirty="0"/>
          </a:p>
          <a:p>
            <a:pPr lvl="2" eaLnBrk="1" hangingPunct="1"/>
            <a:r>
              <a:rPr lang="pt-BR" altLang="en-US" sz="2400" dirty="0"/>
              <a:t>O meio externo acessa uma classe através de seus métodos.</a:t>
            </a:r>
          </a:p>
          <a:p>
            <a:pPr lvl="2" eaLnBrk="1" hangingPunct="1"/>
            <a:endParaRPr lang="pt-BR" altLang="en-US" dirty="0"/>
          </a:p>
          <a:p>
            <a:pPr lvl="2" eaLnBrk="1" hangingPunct="1"/>
            <a:r>
              <a:rPr lang="pt-BR" altLang="en-US" sz="2400" dirty="0"/>
              <a:t>Os Atributos de um objeto de uma Classe devem ser acessados através de Métodos.</a:t>
            </a:r>
          </a:p>
          <a:p>
            <a:pPr lvl="2" eaLnBrk="1" hangingPunct="1"/>
            <a:endParaRPr lang="pt-BR" altLang="en-US" dirty="0"/>
          </a:p>
          <a:p>
            <a:pPr lvl="2" eaLnBrk="1" hangingPunct="1"/>
            <a:r>
              <a:rPr lang="pt-BR" altLang="en-US" sz="2400" dirty="0"/>
              <a:t>Necessidades específicas podem justificar o diminuição de restrição de visibilidade.</a:t>
            </a:r>
          </a:p>
          <a:p>
            <a:pPr lvl="1" eaLnBrk="1" hangingPunct="1"/>
            <a:endParaRPr lang="pt-BR" altLang="en-US" dirty="0"/>
          </a:p>
          <a:p>
            <a:pPr lvl="1" eaLnBrk="1" hangingPunct="1"/>
            <a:endParaRPr lang="pt-BR" altLang="en-US" sz="1200" dirty="0"/>
          </a:p>
          <a:p>
            <a:pPr lvl="2" eaLnBrk="1" hangingPunct="1"/>
            <a:endParaRPr lang="pt-BR" altLang="en-US" b="1" dirty="0">
              <a:solidFill>
                <a:srgbClr val="FF0000"/>
              </a:solidFill>
              <a:latin typeface="Comic Sans MS" panose="030F0702030302020204" pitchFamily="66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1520569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03223208-6680-D0EC-564B-F6B5AAE068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0">
            <a:extLst>
              <a:ext uri="{FF2B5EF4-FFF2-40B4-BE49-F238E27FC236}">
                <a16:creationId xmlns:a16="http://schemas.microsoft.com/office/drawing/2014/main" id="{4D1340F1-6FDD-909B-BCCE-9BAEF80B68B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/>
            <a:r>
              <a:rPr lang="pt-BR" altLang="en-US" dirty="0"/>
              <a:t>Modificadores de Acesso – Representação Gráfica</a:t>
            </a:r>
            <a:endParaRPr dirty="0"/>
          </a:p>
        </p:txBody>
      </p:sp>
      <p:sp>
        <p:nvSpPr>
          <p:cNvPr id="55" name="Google Shape;55;p10">
            <a:extLst>
              <a:ext uri="{FF2B5EF4-FFF2-40B4-BE49-F238E27FC236}">
                <a16:creationId xmlns:a16="http://schemas.microsoft.com/office/drawing/2014/main" id="{7D4D9285-FD16-28AA-0648-1767A46BC7E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indent="0">
              <a:spcAft>
                <a:spcPts val="1200"/>
              </a:spcAft>
              <a:buNone/>
            </a:pPr>
            <a:r>
              <a:rPr lang="pt-BR" altLang="en-US" dirty="0"/>
              <a:t>Representação Gráfica dos Modificadores de Acesso nos Atributos e Métodos de uma Classe...</a:t>
            </a: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dirty="0"/>
          </a:p>
        </p:txBody>
      </p:sp>
      <p:grpSp>
        <p:nvGrpSpPr>
          <p:cNvPr id="2" name="Grupo 3">
            <a:extLst>
              <a:ext uri="{FF2B5EF4-FFF2-40B4-BE49-F238E27FC236}">
                <a16:creationId xmlns:a16="http://schemas.microsoft.com/office/drawing/2014/main" id="{06DAFC32-AFE7-D393-6383-8AD6FA766D29}"/>
              </a:ext>
            </a:extLst>
          </p:cNvPr>
          <p:cNvGrpSpPr>
            <a:grpSpLocks/>
          </p:cNvGrpSpPr>
          <p:nvPr/>
        </p:nvGrpSpPr>
        <p:grpSpPr bwMode="auto">
          <a:xfrm>
            <a:off x="2079612" y="2091128"/>
            <a:ext cx="4984776" cy="2889953"/>
            <a:chOff x="3347864" y="2420888"/>
            <a:chExt cx="2232248" cy="2244995"/>
          </a:xfrm>
        </p:grpSpPr>
        <p:sp>
          <p:nvSpPr>
            <p:cNvPr id="3" name="Retângulo 2">
              <a:extLst>
                <a:ext uri="{FF2B5EF4-FFF2-40B4-BE49-F238E27FC236}">
                  <a16:creationId xmlns:a16="http://schemas.microsoft.com/office/drawing/2014/main" id="{03F3221A-61AB-3F19-53FB-DACF337AC84A}"/>
                </a:ext>
              </a:extLst>
            </p:cNvPr>
            <p:cNvSpPr/>
            <p:nvPr/>
          </p:nvSpPr>
          <p:spPr>
            <a:xfrm>
              <a:off x="3347864" y="2420888"/>
              <a:ext cx="2232248" cy="287191"/>
            </a:xfrm>
            <a:prstGeom prst="rect">
              <a:avLst/>
            </a:prstGeom>
            <a:ln/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defTabSz="405960" eaLnBrk="1" hangingPunct="1">
                <a:defRPr/>
              </a:pPr>
              <a:r>
                <a:rPr lang="pt-BR" sz="2000" b="1" dirty="0">
                  <a:solidFill>
                    <a:srgbClr val="000000"/>
                  </a:solidFill>
                </a:rPr>
                <a:t>Pessoa</a:t>
              </a:r>
            </a:p>
          </p:txBody>
        </p:sp>
        <p:sp>
          <p:nvSpPr>
            <p:cNvPr id="4" name="Retângulo 3">
              <a:extLst>
                <a:ext uri="{FF2B5EF4-FFF2-40B4-BE49-F238E27FC236}">
                  <a16:creationId xmlns:a16="http://schemas.microsoft.com/office/drawing/2014/main" id="{67242978-7E45-013E-3505-C06C010BD6A0}"/>
                </a:ext>
              </a:extLst>
            </p:cNvPr>
            <p:cNvSpPr/>
            <p:nvPr/>
          </p:nvSpPr>
          <p:spPr>
            <a:xfrm>
              <a:off x="3347864" y="2708079"/>
              <a:ext cx="2232248" cy="505504"/>
            </a:xfrm>
            <a:prstGeom prst="rect">
              <a:avLst/>
            </a:prstGeom>
            <a:ln/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anchor="ctr"/>
            <a:lstStyle/>
            <a:p>
              <a:pPr defTabSz="405960" eaLnBrk="1" hangingPunct="1">
                <a:defRPr/>
              </a:pPr>
              <a:r>
                <a:rPr lang="pt-BR" sz="2000" b="1" dirty="0">
                  <a:solidFill>
                    <a:srgbClr val="000000"/>
                  </a:solidFill>
                </a:rPr>
                <a:t>+</a:t>
              </a:r>
              <a:r>
                <a:rPr lang="pt-BR" sz="2000" dirty="0">
                  <a:solidFill>
                    <a:srgbClr val="000000"/>
                  </a:solidFill>
                </a:rPr>
                <a:t> nome: </a:t>
              </a:r>
              <a:r>
                <a:rPr lang="pt-BR" sz="2000" dirty="0" err="1">
                  <a:solidFill>
                    <a:srgbClr val="000000"/>
                  </a:solidFill>
                </a:rPr>
                <a:t>String</a:t>
              </a:r>
              <a:endParaRPr lang="pt-BR" sz="2000" dirty="0">
                <a:solidFill>
                  <a:srgbClr val="000000"/>
                </a:solidFill>
              </a:endParaRPr>
            </a:p>
            <a:p>
              <a:pPr defTabSz="405960" eaLnBrk="1" hangingPunct="1">
                <a:defRPr/>
              </a:pPr>
              <a:r>
                <a:rPr lang="pt-BR" sz="2000" b="1" dirty="0">
                  <a:solidFill>
                    <a:srgbClr val="000000"/>
                  </a:solidFill>
                </a:rPr>
                <a:t>-</a:t>
              </a:r>
              <a:r>
                <a:rPr lang="pt-BR" sz="2000" dirty="0">
                  <a:solidFill>
                    <a:srgbClr val="000000"/>
                  </a:solidFill>
                </a:rPr>
                <a:t> idade: </a:t>
              </a:r>
              <a:r>
                <a:rPr lang="pt-BR" sz="2000" dirty="0" err="1">
                  <a:solidFill>
                    <a:srgbClr val="000000"/>
                  </a:solidFill>
                </a:rPr>
                <a:t>int</a:t>
              </a:r>
              <a:endParaRPr lang="pt-BR" sz="2000" dirty="0">
                <a:solidFill>
                  <a:srgbClr val="000000"/>
                </a:solidFill>
              </a:endParaRPr>
            </a:p>
          </p:txBody>
        </p:sp>
        <p:sp>
          <p:nvSpPr>
            <p:cNvPr id="5" name="Retângulo 4">
              <a:extLst>
                <a:ext uri="{FF2B5EF4-FFF2-40B4-BE49-F238E27FC236}">
                  <a16:creationId xmlns:a16="http://schemas.microsoft.com/office/drawing/2014/main" id="{DFE9B7D6-E54A-528D-B047-64CD64E2D793}"/>
                </a:ext>
              </a:extLst>
            </p:cNvPr>
            <p:cNvSpPr/>
            <p:nvPr/>
          </p:nvSpPr>
          <p:spPr>
            <a:xfrm>
              <a:off x="3347864" y="3213583"/>
              <a:ext cx="2232248" cy="1452300"/>
            </a:xfrm>
            <a:prstGeom prst="rect">
              <a:avLst/>
            </a:prstGeom>
            <a:ln/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anchor="ctr"/>
            <a:lstStyle/>
            <a:p>
              <a:pPr defTabSz="405960" eaLnBrk="1" hangingPunct="1">
                <a:defRPr/>
              </a:pPr>
              <a:r>
                <a:rPr lang="pt-BR" sz="2000" b="1" dirty="0">
                  <a:solidFill>
                    <a:srgbClr val="000000"/>
                  </a:solidFill>
                </a:rPr>
                <a:t>+ </a:t>
              </a:r>
              <a:r>
                <a:rPr lang="pt-BR" sz="2000" dirty="0">
                  <a:solidFill>
                    <a:srgbClr val="000000"/>
                  </a:solidFill>
                </a:rPr>
                <a:t>Pessoa()</a:t>
              </a:r>
              <a:endParaRPr lang="pt-BR" sz="2000" b="1" dirty="0">
                <a:solidFill>
                  <a:srgbClr val="000000"/>
                </a:solidFill>
              </a:endParaRPr>
            </a:p>
            <a:p>
              <a:pPr defTabSz="405960" eaLnBrk="1" hangingPunct="1">
                <a:defRPr/>
              </a:pPr>
              <a:r>
                <a:rPr lang="pt-BR" sz="2000" b="1" dirty="0">
                  <a:solidFill>
                    <a:srgbClr val="000000"/>
                  </a:solidFill>
                </a:rPr>
                <a:t>+</a:t>
              </a:r>
              <a:r>
                <a:rPr lang="pt-BR" sz="2000" dirty="0">
                  <a:solidFill>
                    <a:srgbClr val="000000"/>
                  </a:solidFill>
                </a:rPr>
                <a:t> </a:t>
              </a:r>
              <a:r>
                <a:rPr lang="pt-BR" sz="2000" dirty="0" err="1">
                  <a:solidFill>
                    <a:srgbClr val="000000"/>
                  </a:solidFill>
                </a:rPr>
                <a:t>PegaNome</a:t>
              </a:r>
              <a:r>
                <a:rPr lang="pt-BR" sz="2000" dirty="0">
                  <a:solidFill>
                    <a:srgbClr val="000000"/>
                  </a:solidFill>
                </a:rPr>
                <a:t>(): </a:t>
              </a:r>
              <a:r>
                <a:rPr lang="pt-BR" sz="2000" dirty="0" err="1">
                  <a:solidFill>
                    <a:srgbClr val="000000"/>
                  </a:solidFill>
                </a:rPr>
                <a:t>String</a:t>
              </a:r>
              <a:endParaRPr lang="pt-BR" sz="2000" dirty="0">
                <a:solidFill>
                  <a:srgbClr val="000000"/>
                </a:solidFill>
              </a:endParaRPr>
            </a:p>
            <a:p>
              <a:pPr defTabSz="405960" eaLnBrk="1" hangingPunct="1">
                <a:defRPr/>
              </a:pPr>
              <a:r>
                <a:rPr lang="pt-BR" sz="2000" b="1" dirty="0">
                  <a:solidFill>
                    <a:srgbClr val="000000"/>
                  </a:solidFill>
                </a:rPr>
                <a:t>+</a:t>
              </a:r>
              <a:r>
                <a:rPr lang="pt-BR" sz="2000" dirty="0">
                  <a:solidFill>
                    <a:srgbClr val="000000"/>
                  </a:solidFill>
                </a:rPr>
                <a:t> </a:t>
              </a:r>
              <a:r>
                <a:rPr lang="pt-BR" sz="2000" dirty="0" err="1">
                  <a:solidFill>
                    <a:srgbClr val="000000"/>
                  </a:solidFill>
                </a:rPr>
                <a:t>AlteraNome</a:t>
              </a:r>
              <a:r>
                <a:rPr lang="pt-BR" sz="2000" dirty="0">
                  <a:solidFill>
                    <a:srgbClr val="000000"/>
                  </a:solidFill>
                </a:rPr>
                <a:t>(</a:t>
              </a:r>
              <a:r>
                <a:rPr lang="pt-BR" sz="2000" dirty="0" err="1">
                  <a:solidFill>
                    <a:srgbClr val="000000"/>
                  </a:solidFill>
                </a:rPr>
                <a:t>novoNome</a:t>
              </a:r>
              <a:r>
                <a:rPr lang="pt-BR" sz="2000" dirty="0">
                  <a:solidFill>
                    <a:srgbClr val="000000"/>
                  </a:solidFill>
                </a:rPr>
                <a:t>: </a:t>
              </a:r>
              <a:r>
                <a:rPr lang="pt-BR" sz="2000" dirty="0" err="1">
                  <a:solidFill>
                    <a:srgbClr val="000000"/>
                  </a:solidFill>
                </a:rPr>
                <a:t>String</a:t>
              </a:r>
              <a:r>
                <a:rPr lang="pt-BR" sz="2000" dirty="0">
                  <a:solidFill>
                    <a:srgbClr val="000000"/>
                  </a:solidFill>
                </a:rPr>
                <a:t>): </a:t>
              </a:r>
              <a:r>
                <a:rPr lang="pt-BR" sz="2000" dirty="0" err="1">
                  <a:solidFill>
                    <a:srgbClr val="000000"/>
                  </a:solidFill>
                </a:rPr>
                <a:t>void</a:t>
              </a:r>
              <a:endParaRPr lang="pt-BR" sz="2000" dirty="0">
                <a:solidFill>
                  <a:srgbClr val="000000"/>
                </a:solidFill>
              </a:endParaRPr>
            </a:p>
            <a:p>
              <a:pPr defTabSz="405960" eaLnBrk="1" hangingPunct="1">
                <a:defRPr/>
              </a:pPr>
              <a:r>
                <a:rPr lang="pt-BR" sz="2000" b="1" dirty="0">
                  <a:solidFill>
                    <a:srgbClr val="000000"/>
                  </a:solidFill>
                </a:rPr>
                <a:t>+</a:t>
              </a:r>
              <a:r>
                <a:rPr lang="pt-BR" sz="2000" dirty="0">
                  <a:solidFill>
                    <a:srgbClr val="000000"/>
                  </a:solidFill>
                </a:rPr>
                <a:t> </a:t>
              </a:r>
              <a:r>
                <a:rPr lang="pt-BR" sz="2000" dirty="0" err="1">
                  <a:solidFill>
                    <a:srgbClr val="000000"/>
                  </a:solidFill>
                </a:rPr>
                <a:t>PegaIdade</a:t>
              </a:r>
              <a:r>
                <a:rPr lang="pt-BR" sz="2000" dirty="0">
                  <a:solidFill>
                    <a:srgbClr val="000000"/>
                  </a:solidFill>
                </a:rPr>
                <a:t>(): </a:t>
              </a:r>
              <a:r>
                <a:rPr lang="pt-BR" sz="2000" dirty="0" err="1">
                  <a:solidFill>
                    <a:srgbClr val="000000"/>
                  </a:solidFill>
                </a:rPr>
                <a:t>int</a:t>
              </a:r>
              <a:endParaRPr lang="pt-BR" sz="2000" dirty="0">
                <a:solidFill>
                  <a:srgbClr val="000000"/>
                </a:solidFill>
              </a:endParaRPr>
            </a:p>
            <a:p>
              <a:pPr defTabSz="405960" eaLnBrk="1" hangingPunct="1">
                <a:defRPr/>
              </a:pPr>
              <a:r>
                <a:rPr lang="pt-BR" sz="2000" b="1" dirty="0">
                  <a:solidFill>
                    <a:srgbClr val="000000"/>
                  </a:solidFill>
                </a:rPr>
                <a:t>-</a:t>
              </a:r>
              <a:r>
                <a:rPr lang="pt-BR" sz="2000" dirty="0">
                  <a:solidFill>
                    <a:srgbClr val="000000"/>
                  </a:solidFill>
                </a:rPr>
                <a:t> </a:t>
              </a:r>
              <a:r>
                <a:rPr lang="pt-BR" sz="2000" dirty="0" err="1">
                  <a:solidFill>
                    <a:srgbClr val="000000"/>
                  </a:solidFill>
                </a:rPr>
                <a:t>AlteraIdade</a:t>
              </a:r>
              <a:r>
                <a:rPr lang="pt-BR" sz="2000" dirty="0">
                  <a:solidFill>
                    <a:srgbClr val="000000"/>
                  </a:solidFill>
                </a:rPr>
                <a:t>(</a:t>
              </a:r>
              <a:r>
                <a:rPr lang="pt-BR" sz="2000" dirty="0" err="1">
                  <a:solidFill>
                    <a:srgbClr val="000000"/>
                  </a:solidFill>
                </a:rPr>
                <a:t>novaIdade</a:t>
              </a:r>
              <a:r>
                <a:rPr lang="pt-BR" sz="2000" dirty="0">
                  <a:solidFill>
                    <a:srgbClr val="000000"/>
                  </a:solidFill>
                </a:rPr>
                <a:t>: </a:t>
              </a:r>
              <a:r>
                <a:rPr lang="pt-BR" sz="2000" dirty="0" err="1">
                  <a:solidFill>
                    <a:srgbClr val="000000"/>
                  </a:solidFill>
                </a:rPr>
                <a:t>int</a:t>
              </a:r>
              <a:r>
                <a:rPr lang="pt-BR" sz="2000" dirty="0">
                  <a:solidFill>
                    <a:srgbClr val="000000"/>
                  </a:solidFill>
                </a:rPr>
                <a:t>): </a:t>
              </a:r>
              <a:r>
                <a:rPr lang="pt-BR" sz="2000" dirty="0" err="1">
                  <a:solidFill>
                    <a:srgbClr val="000000"/>
                  </a:solidFill>
                </a:rPr>
                <a:t>void</a:t>
              </a:r>
              <a:endParaRPr lang="pt-BR" sz="2000" dirty="0">
                <a:solidFill>
                  <a:srgbClr val="000000"/>
                </a:solidFill>
              </a:endParaRPr>
            </a:p>
            <a:p>
              <a:pPr defTabSz="405960" eaLnBrk="1" hangingPunct="1">
                <a:defRPr/>
              </a:pPr>
              <a:r>
                <a:rPr lang="pt-BR" sz="2000" b="1" dirty="0">
                  <a:solidFill>
                    <a:srgbClr val="000000"/>
                  </a:solidFill>
                </a:rPr>
                <a:t>#</a:t>
              </a:r>
              <a:r>
                <a:rPr lang="pt-BR" sz="2000" dirty="0">
                  <a:solidFill>
                    <a:srgbClr val="000000"/>
                  </a:solidFill>
                </a:rPr>
                <a:t> </a:t>
              </a:r>
              <a:r>
                <a:rPr lang="pt-BR" sz="2000" dirty="0" err="1">
                  <a:solidFill>
                    <a:srgbClr val="000000"/>
                  </a:solidFill>
                </a:rPr>
                <a:t>AumentaIdade</a:t>
              </a:r>
              <a:r>
                <a:rPr lang="pt-BR" sz="2000" dirty="0">
                  <a:solidFill>
                    <a:srgbClr val="000000"/>
                  </a:solidFill>
                </a:rPr>
                <a:t>(aumento </a:t>
              </a:r>
              <a:r>
                <a:rPr lang="pt-BR" sz="2000" dirty="0" err="1">
                  <a:solidFill>
                    <a:srgbClr val="000000"/>
                  </a:solidFill>
                </a:rPr>
                <a:t>int</a:t>
              </a:r>
              <a:r>
                <a:rPr lang="pt-BR" sz="2000" dirty="0">
                  <a:solidFill>
                    <a:srgbClr val="000000"/>
                  </a:solidFill>
                </a:rPr>
                <a:t>): </a:t>
              </a:r>
              <a:r>
                <a:rPr lang="pt-BR" sz="2000" dirty="0" err="1">
                  <a:solidFill>
                    <a:srgbClr val="000000"/>
                  </a:solidFill>
                </a:rPr>
                <a:t>int</a:t>
              </a:r>
              <a:endParaRPr lang="pt-BR" sz="2000" dirty="0">
                <a:solidFill>
                  <a:srgbClr val="000000"/>
                </a:solidFill>
              </a:endParaRPr>
            </a:p>
          </p:txBody>
        </p:sp>
      </p:grpSp>
      <p:sp>
        <p:nvSpPr>
          <p:cNvPr id="6" name="Texto Explicativo 1 9">
            <a:extLst>
              <a:ext uri="{FF2B5EF4-FFF2-40B4-BE49-F238E27FC236}">
                <a16:creationId xmlns:a16="http://schemas.microsoft.com/office/drawing/2014/main" id="{FB6F28EE-3C87-8925-199E-0E6F58091D5D}"/>
              </a:ext>
            </a:extLst>
          </p:cNvPr>
          <p:cNvSpPr>
            <a:spLocks/>
          </p:cNvSpPr>
          <p:nvPr/>
        </p:nvSpPr>
        <p:spPr bwMode="auto">
          <a:xfrm>
            <a:off x="190864" y="2283471"/>
            <a:ext cx="1344613" cy="720725"/>
          </a:xfrm>
          <a:prstGeom prst="borderCallout1">
            <a:avLst>
              <a:gd name="adj1" fmla="val 48639"/>
              <a:gd name="adj2" fmla="val 100343"/>
              <a:gd name="adj3" fmla="val 91909"/>
              <a:gd name="adj4" fmla="val 141059"/>
            </a:avLst>
          </a:prstGeom>
          <a:ln>
            <a:headEnd/>
            <a:tailEnd type="arrow" w="med" len="med"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none" lIns="91430" tIns="45715" rIns="91430" bIns="45715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375"/>
              </a:spcBef>
              <a:buClr>
                <a:srgbClr val="ADCEDC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ts val="375"/>
              </a:spcBef>
              <a:buClr>
                <a:srgbClr val="EB641B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375"/>
              </a:spcBef>
              <a:buClr>
                <a:srgbClr val="EB641B"/>
              </a:buClr>
              <a:buChar char="o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EB641B"/>
              </a:buClr>
              <a:buChar char="o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EB641B"/>
              </a:buClr>
              <a:buChar char="o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EB641B"/>
              </a:buClr>
              <a:buChar char="o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EB641B"/>
              </a:buClr>
              <a:buChar char="o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en-US" sz="1800" b="1" i="1" dirty="0">
                <a:solidFill>
                  <a:srgbClr val="000000"/>
                </a:solidFill>
              </a:rPr>
              <a:t>Atributos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en-US" sz="1800" b="1" i="1" dirty="0">
                <a:solidFill>
                  <a:srgbClr val="000000"/>
                </a:solidFill>
              </a:rPr>
              <a:t>Privados</a:t>
            </a:r>
          </a:p>
        </p:txBody>
      </p:sp>
      <p:sp>
        <p:nvSpPr>
          <p:cNvPr id="7" name="Texto Explicativo 1 14">
            <a:extLst>
              <a:ext uri="{FF2B5EF4-FFF2-40B4-BE49-F238E27FC236}">
                <a16:creationId xmlns:a16="http://schemas.microsoft.com/office/drawing/2014/main" id="{6E3F3A02-60A2-8FFB-99EC-0E63456EF9F7}"/>
              </a:ext>
            </a:extLst>
          </p:cNvPr>
          <p:cNvSpPr>
            <a:spLocks/>
          </p:cNvSpPr>
          <p:nvPr/>
        </p:nvSpPr>
        <p:spPr bwMode="auto">
          <a:xfrm>
            <a:off x="7537242" y="3145881"/>
            <a:ext cx="1520825" cy="1044575"/>
          </a:xfrm>
          <a:prstGeom prst="borderCallout1">
            <a:avLst>
              <a:gd name="adj1" fmla="val 45514"/>
              <a:gd name="adj2" fmla="val -852"/>
              <a:gd name="adj3" fmla="val 90319"/>
              <a:gd name="adj4" fmla="val -54270"/>
            </a:avLst>
          </a:prstGeom>
          <a:ln>
            <a:headEnd/>
            <a:tailEnd type="arrow" w="med" len="med"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none" lIns="91430" tIns="45715" rIns="91430" bIns="45715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375"/>
              </a:spcBef>
              <a:buClr>
                <a:srgbClr val="ADCEDC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ts val="375"/>
              </a:spcBef>
              <a:buClr>
                <a:srgbClr val="EB641B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375"/>
              </a:spcBef>
              <a:buClr>
                <a:srgbClr val="EB641B"/>
              </a:buClr>
              <a:buChar char="o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EB641B"/>
              </a:buClr>
              <a:buChar char="o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EB641B"/>
              </a:buClr>
              <a:buChar char="o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EB641B"/>
              </a:buClr>
              <a:buChar char="o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EB641B"/>
              </a:buClr>
              <a:buChar char="o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en-US" sz="1800" b="1" i="1">
                <a:solidFill>
                  <a:srgbClr val="000000"/>
                </a:solidFill>
              </a:rPr>
              <a:t>Métodos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en-US" sz="1800" b="1" i="1">
                <a:solidFill>
                  <a:srgbClr val="000000"/>
                </a:solidFill>
              </a:rPr>
              <a:t>Públicos e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en-US" sz="1800" b="1" i="1">
                <a:solidFill>
                  <a:srgbClr val="000000"/>
                </a:solidFill>
              </a:rPr>
              <a:t>Protegidos</a:t>
            </a:r>
          </a:p>
        </p:txBody>
      </p:sp>
    </p:spTree>
    <p:extLst>
      <p:ext uri="{BB962C8B-B14F-4D97-AF65-F5344CB8AC3E}">
        <p14:creationId xmlns:p14="http://schemas.microsoft.com/office/powerpoint/2010/main" val="24383211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714764F-C4E7-8D1F-F327-697289B66A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altLang="en-US" dirty="0"/>
              <a:t>Implementação dos Modificadores de Acesso em uma Classe Java</a:t>
            </a:r>
            <a:endParaRPr lang="pt-BR" dirty="0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16400EB-079A-70E2-D5E1-FEEB7C20BF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04C35451-E352-E1FC-FB12-BCD7CEC6B81B}"/>
              </a:ext>
            </a:extLst>
          </p:cNvPr>
          <p:cNvSpPr/>
          <p:nvPr/>
        </p:nvSpPr>
        <p:spPr>
          <a:xfrm>
            <a:off x="1176727" y="1406629"/>
            <a:ext cx="6790545" cy="2908091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defRPr/>
            </a:pPr>
            <a:r>
              <a:rPr lang="en-GB" b="1" i="1" dirty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public</a:t>
            </a:r>
            <a:r>
              <a:rPr lang="en-GB" b="1" dirty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pt-BR" b="1" dirty="0" err="1">
                <a:solidFill>
                  <a:srgbClr val="0505FF"/>
                </a:solidFill>
                <a:latin typeface="Courier New" pitchFamily="49" charset="0"/>
                <a:cs typeface="Courier New" pitchFamily="49" charset="0"/>
              </a:rPr>
              <a:t>class</a:t>
            </a:r>
            <a:r>
              <a:rPr lang="pt-BR" b="1" dirty="0">
                <a:solidFill>
                  <a:srgbClr val="0505FF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GB" b="1" i="1" dirty="0">
                <a:latin typeface="Courier New" pitchFamily="49" charset="0"/>
                <a:cs typeface="Courier New" pitchFamily="49" charset="0"/>
              </a:rPr>
              <a:t>Pessoa</a:t>
            </a:r>
            <a:r>
              <a:rPr lang="en-GB" b="1" dirty="0">
                <a:latin typeface="Courier New" pitchFamily="49" charset="0"/>
                <a:cs typeface="Courier New" pitchFamily="49" charset="0"/>
              </a:rPr>
              <a:t>(){</a:t>
            </a:r>
          </a:p>
          <a:p>
            <a:pPr>
              <a:defRPr/>
            </a:pPr>
            <a:r>
              <a:rPr lang="en-GB" b="1" i="1" dirty="0">
                <a:latin typeface="Courier New" pitchFamily="49" charset="0"/>
                <a:cs typeface="Courier New" pitchFamily="49" charset="0"/>
              </a:rPr>
              <a:t>   </a:t>
            </a:r>
            <a:r>
              <a:rPr lang="en-GB" b="1" i="1" dirty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private</a:t>
            </a:r>
            <a:r>
              <a:rPr lang="pt-BR" b="1" dirty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GB" b="1" dirty="0">
                <a:latin typeface="Courier New" pitchFamily="49" charset="0"/>
                <a:cs typeface="Courier New" pitchFamily="49" charset="0"/>
              </a:rPr>
              <a:t>String </a:t>
            </a:r>
            <a:r>
              <a:rPr lang="en-GB" b="1" i="1" dirty="0" err="1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nome</a:t>
            </a:r>
            <a:r>
              <a:rPr lang="en-GB" b="1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defRPr/>
            </a:pPr>
            <a:r>
              <a:rPr lang="en-GB" b="1" i="1" dirty="0">
                <a:latin typeface="Courier New" pitchFamily="49" charset="0"/>
                <a:cs typeface="Courier New" pitchFamily="49" charset="0"/>
              </a:rPr>
              <a:t>   </a:t>
            </a:r>
            <a:r>
              <a:rPr lang="en-GB" b="1" i="1" dirty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private</a:t>
            </a:r>
            <a:r>
              <a:rPr lang="pt-BR" b="1" dirty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pt-BR" b="1" dirty="0" err="1">
                <a:solidFill>
                  <a:srgbClr val="0505FF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pt-BR" b="1" dirty="0">
                <a:solidFill>
                  <a:srgbClr val="0505FF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GB" b="1" i="1" dirty="0" err="1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idade</a:t>
            </a:r>
            <a:r>
              <a:rPr lang="en-GB" b="1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defRPr/>
            </a:pPr>
            <a:r>
              <a:rPr lang="pt-BR" b="1" i="1" dirty="0">
                <a:solidFill>
                  <a:srgbClr val="0505FF"/>
                </a:solidFill>
                <a:latin typeface="Courier New" pitchFamily="49" charset="0"/>
                <a:cs typeface="Courier New" pitchFamily="49" charset="0"/>
              </a:rPr>
              <a:t>   </a:t>
            </a:r>
            <a:r>
              <a:rPr lang="en-GB" b="1" i="1" dirty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public</a:t>
            </a:r>
            <a:r>
              <a:rPr lang="en-GB" b="1" dirty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GB" b="1" i="1" dirty="0">
                <a:latin typeface="Courier New" pitchFamily="49" charset="0"/>
                <a:cs typeface="Courier New" pitchFamily="49" charset="0"/>
              </a:rPr>
              <a:t>Pessoa</a:t>
            </a:r>
            <a:r>
              <a:rPr lang="en-GB" b="1" dirty="0">
                <a:latin typeface="Courier New" pitchFamily="49" charset="0"/>
                <a:cs typeface="Courier New" pitchFamily="49" charset="0"/>
              </a:rPr>
              <a:t>(){  </a:t>
            </a:r>
          </a:p>
          <a:p>
            <a:pPr>
              <a:defRPr/>
            </a:pPr>
            <a:r>
              <a:rPr lang="en-GB" b="1" dirty="0">
                <a:latin typeface="Courier New" pitchFamily="49" charset="0"/>
                <a:cs typeface="Courier New" pitchFamily="49" charset="0"/>
              </a:rPr>
              <a:t>   }</a:t>
            </a:r>
          </a:p>
          <a:p>
            <a:pPr>
              <a:defRPr/>
            </a:pPr>
            <a:r>
              <a:rPr lang="en-GB" b="1" i="1" dirty="0">
                <a:latin typeface="Courier New" pitchFamily="49" charset="0"/>
                <a:cs typeface="Courier New" pitchFamily="49" charset="0"/>
              </a:rPr>
              <a:t>   </a:t>
            </a:r>
            <a:r>
              <a:rPr lang="en-GB" b="1" i="1" dirty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public</a:t>
            </a:r>
            <a:r>
              <a:rPr lang="en-GB" b="1" dirty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GB" b="1" dirty="0">
                <a:latin typeface="Courier New" pitchFamily="49" charset="0"/>
                <a:cs typeface="Courier New" pitchFamily="49" charset="0"/>
              </a:rPr>
              <a:t>String </a:t>
            </a:r>
            <a:r>
              <a:rPr lang="en-GB" b="1" dirty="0" err="1">
                <a:latin typeface="Courier New" pitchFamily="49" charset="0"/>
                <a:cs typeface="Courier New" pitchFamily="49" charset="0"/>
              </a:rPr>
              <a:t>PegaN</a:t>
            </a:r>
            <a:r>
              <a:rPr lang="en-GB" b="1" i="1" dirty="0" err="1">
                <a:latin typeface="Courier New" pitchFamily="49" charset="0"/>
                <a:cs typeface="Courier New" pitchFamily="49" charset="0"/>
              </a:rPr>
              <a:t>ome</a:t>
            </a:r>
            <a:r>
              <a:rPr lang="en-GB" b="1" dirty="0">
                <a:latin typeface="Courier New" pitchFamily="49" charset="0"/>
                <a:cs typeface="Courier New" pitchFamily="49" charset="0"/>
              </a:rPr>
              <a:t>(){  </a:t>
            </a:r>
          </a:p>
          <a:p>
            <a:pPr>
              <a:defRPr/>
            </a:pPr>
            <a:r>
              <a:rPr lang="pt-BR" b="1" dirty="0">
                <a:solidFill>
                  <a:srgbClr val="0505FF"/>
                </a:solidFill>
                <a:latin typeface="Courier New" pitchFamily="49" charset="0"/>
                <a:cs typeface="Courier New" pitchFamily="49" charset="0"/>
              </a:rPr>
              <a:t>      </a:t>
            </a:r>
            <a:r>
              <a:rPr lang="pt-BR" b="1" dirty="0" err="1">
                <a:solidFill>
                  <a:srgbClr val="0505FF"/>
                </a:solidFill>
                <a:latin typeface="Courier New" pitchFamily="49" charset="0"/>
                <a:cs typeface="Courier New" pitchFamily="49" charset="0"/>
              </a:rPr>
              <a:t>return</a:t>
            </a:r>
            <a:r>
              <a:rPr lang="pt-BR" b="1" dirty="0">
                <a:solidFill>
                  <a:srgbClr val="0505FF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GB" b="1" dirty="0" err="1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nome</a:t>
            </a:r>
            <a:r>
              <a:rPr lang="en-GB" b="1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defRPr/>
            </a:pPr>
            <a:r>
              <a:rPr lang="en-GB" b="1" dirty="0">
                <a:latin typeface="Courier New" pitchFamily="49" charset="0"/>
                <a:cs typeface="Courier New" pitchFamily="49" charset="0"/>
              </a:rPr>
              <a:t>   }</a:t>
            </a:r>
          </a:p>
          <a:p>
            <a:pPr>
              <a:defRPr/>
            </a:pPr>
            <a:r>
              <a:rPr lang="en-GB" b="1" i="1" dirty="0">
                <a:latin typeface="Courier New" pitchFamily="49" charset="0"/>
                <a:cs typeface="Courier New" pitchFamily="49" charset="0"/>
              </a:rPr>
              <a:t>   </a:t>
            </a:r>
            <a:r>
              <a:rPr lang="en-GB" b="1" i="1" dirty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protected</a:t>
            </a:r>
            <a:r>
              <a:rPr lang="en-GB" b="1" i="1" dirty="0">
                <a:solidFill>
                  <a:srgbClr val="0000CC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pt-BR" b="1" dirty="0" err="1">
                <a:solidFill>
                  <a:srgbClr val="0505FF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pt-BR" b="1" dirty="0">
                <a:solidFill>
                  <a:srgbClr val="0505FF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GB" b="1" i="1" dirty="0" err="1">
                <a:latin typeface="Courier New" pitchFamily="49" charset="0"/>
                <a:cs typeface="Courier New" pitchFamily="49" charset="0"/>
              </a:rPr>
              <a:t>AumentaIdade</a:t>
            </a:r>
            <a:r>
              <a:rPr lang="en-GB" b="1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pt-BR" b="1" dirty="0" err="1">
                <a:solidFill>
                  <a:srgbClr val="0505FF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pt-BR" b="1" dirty="0">
                <a:solidFill>
                  <a:srgbClr val="0505FF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pt-BR" b="1" dirty="0">
                <a:latin typeface="Courier New" pitchFamily="49" charset="0"/>
                <a:cs typeface="Courier New" pitchFamily="49" charset="0"/>
              </a:rPr>
              <a:t>aumento</a:t>
            </a:r>
            <a:r>
              <a:rPr lang="en-GB" b="1" dirty="0">
                <a:latin typeface="Courier New" pitchFamily="49" charset="0"/>
                <a:cs typeface="Courier New" pitchFamily="49" charset="0"/>
              </a:rPr>
              <a:t>){  </a:t>
            </a:r>
          </a:p>
          <a:p>
            <a:pPr>
              <a:defRPr/>
            </a:pPr>
            <a:r>
              <a:rPr lang="pt-BR" b="1" dirty="0">
                <a:solidFill>
                  <a:srgbClr val="0505FF"/>
                </a:solidFill>
                <a:latin typeface="Courier New" pitchFamily="49" charset="0"/>
                <a:cs typeface="Courier New" pitchFamily="49" charset="0"/>
              </a:rPr>
              <a:t>      </a:t>
            </a:r>
            <a:r>
              <a:rPr lang="pt-BR" b="1" dirty="0" err="1">
                <a:solidFill>
                  <a:srgbClr val="0505FF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pt-BR" b="1" dirty="0">
                <a:solidFill>
                  <a:srgbClr val="0505FF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GB" b="1" dirty="0" err="1">
                <a:latin typeface="Courier New" pitchFamily="49" charset="0"/>
                <a:cs typeface="Courier New" pitchFamily="49" charset="0"/>
              </a:rPr>
              <a:t>novaIdade</a:t>
            </a:r>
            <a:r>
              <a:rPr lang="en-GB" b="1" dirty="0">
                <a:latin typeface="Courier New" pitchFamily="49" charset="0"/>
                <a:cs typeface="Courier New" pitchFamily="49" charset="0"/>
              </a:rPr>
              <a:t> = </a:t>
            </a:r>
            <a:r>
              <a:rPr lang="en-GB" b="1" dirty="0" err="1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idade</a:t>
            </a:r>
            <a:r>
              <a:rPr lang="pt-BR" b="1" dirty="0">
                <a:latin typeface="Courier New" pitchFamily="49" charset="0"/>
                <a:cs typeface="Courier New" pitchFamily="49" charset="0"/>
              </a:rPr>
              <a:t> + aumento;</a:t>
            </a:r>
            <a:endParaRPr lang="pt-BR" b="1" dirty="0">
              <a:solidFill>
                <a:srgbClr val="0505FF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defRPr/>
            </a:pPr>
            <a:r>
              <a:rPr lang="pt-BR" b="1" dirty="0">
                <a:solidFill>
                  <a:srgbClr val="0505FF"/>
                </a:solidFill>
                <a:latin typeface="Courier New" pitchFamily="49" charset="0"/>
                <a:cs typeface="Courier New" pitchFamily="49" charset="0"/>
              </a:rPr>
              <a:t>      </a:t>
            </a:r>
            <a:r>
              <a:rPr lang="pt-BR" b="1" dirty="0" err="1">
                <a:solidFill>
                  <a:srgbClr val="0505FF"/>
                </a:solidFill>
                <a:latin typeface="Courier New" pitchFamily="49" charset="0"/>
                <a:cs typeface="Courier New" pitchFamily="49" charset="0"/>
              </a:rPr>
              <a:t>return</a:t>
            </a:r>
            <a:r>
              <a:rPr lang="en-GB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GB" b="1" dirty="0" err="1">
                <a:latin typeface="Courier New" pitchFamily="49" charset="0"/>
                <a:cs typeface="Courier New" pitchFamily="49" charset="0"/>
              </a:rPr>
              <a:t>novaIdade</a:t>
            </a:r>
            <a:r>
              <a:rPr lang="en-GB" b="1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defRPr/>
            </a:pPr>
            <a:r>
              <a:rPr lang="en-GB" b="1" dirty="0">
                <a:latin typeface="Courier New" pitchFamily="49" charset="0"/>
                <a:cs typeface="Courier New" pitchFamily="49" charset="0"/>
              </a:rPr>
              <a:t>   }</a:t>
            </a:r>
          </a:p>
          <a:p>
            <a:pPr>
              <a:defRPr/>
            </a:pPr>
            <a:r>
              <a:rPr lang="en-GB" b="1" dirty="0">
                <a:latin typeface="Courier New" pitchFamily="49" charset="0"/>
                <a:cs typeface="Courier New" pitchFamily="49" charset="0"/>
              </a:rPr>
              <a:t>}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02259385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77DF0C-C359-AB87-7E4F-6DF6D1A826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3206D1C-4559-D2A5-804A-F16E1DBD44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altLang="en-US" dirty="0"/>
              <a:t>Implementação dos Modificadores de Acesso em uma Classe Java</a:t>
            </a:r>
            <a:endParaRPr lang="pt-BR" dirty="0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6B756B5-1FCD-BC59-124B-290AABB1A0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0244C8EB-0530-8539-84C0-5FBEDE88EA8D}"/>
              </a:ext>
            </a:extLst>
          </p:cNvPr>
          <p:cNvSpPr/>
          <p:nvPr/>
        </p:nvSpPr>
        <p:spPr>
          <a:xfrm>
            <a:off x="1176727" y="1406629"/>
            <a:ext cx="6790545" cy="2908091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defRPr/>
            </a:pPr>
            <a:r>
              <a:rPr lang="en-GB" b="1" i="1" dirty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public</a:t>
            </a:r>
            <a:r>
              <a:rPr lang="en-GB" b="1" dirty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pt-BR" b="1" dirty="0" err="1">
                <a:solidFill>
                  <a:srgbClr val="0505FF"/>
                </a:solidFill>
                <a:latin typeface="Courier New" pitchFamily="49" charset="0"/>
                <a:cs typeface="Courier New" pitchFamily="49" charset="0"/>
              </a:rPr>
              <a:t>class</a:t>
            </a:r>
            <a:r>
              <a:rPr lang="pt-BR" b="1" dirty="0">
                <a:solidFill>
                  <a:srgbClr val="0505FF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GB" b="1" i="1" dirty="0">
                <a:latin typeface="Courier New" pitchFamily="49" charset="0"/>
                <a:cs typeface="Courier New" pitchFamily="49" charset="0"/>
              </a:rPr>
              <a:t>Pessoa</a:t>
            </a:r>
            <a:r>
              <a:rPr lang="en-GB" b="1" dirty="0">
                <a:latin typeface="Courier New" pitchFamily="49" charset="0"/>
                <a:cs typeface="Courier New" pitchFamily="49" charset="0"/>
              </a:rPr>
              <a:t>(){</a:t>
            </a:r>
          </a:p>
          <a:p>
            <a:pPr>
              <a:defRPr/>
            </a:pPr>
            <a:r>
              <a:rPr lang="en-GB" b="1" i="1" dirty="0">
                <a:latin typeface="Courier New" pitchFamily="49" charset="0"/>
                <a:cs typeface="Courier New" pitchFamily="49" charset="0"/>
              </a:rPr>
              <a:t>   </a:t>
            </a:r>
            <a:r>
              <a:rPr lang="en-GB" b="1" i="1" dirty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private</a:t>
            </a:r>
            <a:r>
              <a:rPr lang="pt-BR" b="1" dirty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GB" b="1" dirty="0">
                <a:latin typeface="Courier New" pitchFamily="49" charset="0"/>
                <a:cs typeface="Courier New" pitchFamily="49" charset="0"/>
              </a:rPr>
              <a:t>String </a:t>
            </a:r>
            <a:r>
              <a:rPr lang="en-GB" b="1" i="1" dirty="0" err="1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nome</a:t>
            </a:r>
            <a:r>
              <a:rPr lang="en-GB" b="1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defRPr/>
            </a:pPr>
            <a:r>
              <a:rPr lang="en-GB" b="1" i="1" dirty="0">
                <a:latin typeface="Courier New" pitchFamily="49" charset="0"/>
                <a:cs typeface="Courier New" pitchFamily="49" charset="0"/>
              </a:rPr>
              <a:t>   </a:t>
            </a:r>
            <a:r>
              <a:rPr lang="en-GB" b="1" i="1" dirty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private</a:t>
            </a:r>
            <a:r>
              <a:rPr lang="pt-BR" b="1" dirty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pt-BR" b="1" dirty="0" err="1">
                <a:solidFill>
                  <a:srgbClr val="0505FF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pt-BR" b="1" dirty="0">
                <a:solidFill>
                  <a:srgbClr val="0505FF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GB" b="1" i="1" dirty="0" err="1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idade</a:t>
            </a:r>
            <a:r>
              <a:rPr lang="en-GB" b="1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defRPr/>
            </a:pPr>
            <a:r>
              <a:rPr lang="pt-BR" b="1" i="1" dirty="0">
                <a:solidFill>
                  <a:srgbClr val="0505FF"/>
                </a:solidFill>
                <a:latin typeface="Courier New" pitchFamily="49" charset="0"/>
                <a:cs typeface="Courier New" pitchFamily="49" charset="0"/>
              </a:rPr>
              <a:t>   </a:t>
            </a:r>
            <a:r>
              <a:rPr lang="en-GB" b="1" i="1" dirty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public</a:t>
            </a:r>
            <a:r>
              <a:rPr lang="en-GB" b="1" dirty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GB" b="1" i="1" dirty="0">
                <a:latin typeface="Courier New" pitchFamily="49" charset="0"/>
                <a:cs typeface="Courier New" pitchFamily="49" charset="0"/>
              </a:rPr>
              <a:t>Pessoa</a:t>
            </a:r>
            <a:r>
              <a:rPr lang="en-GB" b="1" dirty="0">
                <a:latin typeface="Courier New" pitchFamily="49" charset="0"/>
                <a:cs typeface="Courier New" pitchFamily="49" charset="0"/>
              </a:rPr>
              <a:t>(){  </a:t>
            </a:r>
          </a:p>
          <a:p>
            <a:pPr>
              <a:defRPr/>
            </a:pPr>
            <a:r>
              <a:rPr lang="en-GB" b="1" dirty="0">
                <a:latin typeface="Courier New" pitchFamily="49" charset="0"/>
                <a:cs typeface="Courier New" pitchFamily="49" charset="0"/>
              </a:rPr>
              <a:t>   }</a:t>
            </a:r>
          </a:p>
          <a:p>
            <a:pPr>
              <a:defRPr/>
            </a:pPr>
            <a:r>
              <a:rPr lang="en-GB" b="1" i="1" dirty="0">
                <a:latin typeface="Courier New" pitchFamily="49" charset="0"/>
                <a:cs typeface="Courier New" pitchFamily="49" charset="0"/>
              </a:rPr>
              <a:t>   </a:t>
            </a:r>
            <a:r>
              <a:rPr lang="en-GB" b="1" i="1" dirty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public</a:t>
            </a:r>
            <a:r>
              <a:rPr lang="en-GB" b="1" dirty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GB" b="1" dirty="0">
                <a:latin typeface="Courier New" pitchFamily="49" charset="0"/>
                <a:cs typeface="Courier New" pitchFamily="49" charset="0"/>
              </a:rPr>
              <a:t>String </a:t>
            </a:r>
            <a:r>
              <a:rPr lang="en-GB" b="1" dirty="0" err="1">
                <a:latin typeface="Courier New" pitchFamily="49" charset="0"/>
                <a:cs typeface="Courier New" pitchFamily="49" charset="0"/>
              </a:rPr>
              <a:t>PegaN</a:t>
            </a:r>
            <a:r>
              <a:rPr lang="en-GB" b="1" i="1" dirty="0" err="1">
                <a:latin typeface="Courier New" pitchFamily="49" charset="0"/>
                <a:cs typeface="Courier New" pitchFamily="49" charset="0"/>
              </a:rPr>
              <a:t>ome</a:t>
            </a:r>
            <a:r>
              <a:rPr lang="en-GB" b="1" dirty="0">
                <a:latin typeface="Courier New" pitchFamily="49" charset="0"/>
                <a:cs typeface="Courier New" pitchFamily="49" charset="0"/>
              </a:rPr>
              <a:t>(){  </a:t>
            </a:r>
          </a:p>
          <a:p>
            <a:pPr>
              <a:defRPr/>
            </a:pPr>
            <a:r>
              <a:rPr lang="pt-BR" b="1" dirty="0">
                <a:solidFill>
                  <a:srgbClr val="0505FF"/>
                </a:solidFill>
                <a:latin typeface="Courier New" pitchFamily="49" charset="0"/>
                <a:cs typeface="Courier New" pitchFamily="49" charset="0"/>
              </a:rPr>
              <a:t>      </a:t>
            </a:r>
            <a:r>
              <a:rPr lang="pt-BR" b="1" dirty="0" err="1">
                <a:solidFill>
                  <a:srgbClr val="0505FF"/>
                </a:solidFill>
                <a:latin typeface="Courier New" pitchFamily="49" charset="0"/>
                <a:cs typeface="Courier New" pitchFamily="49" charset="0"/>
              </a:rPr>
              <a:t>return</a:t>
            </a:r>
            <a:r>
              <a:rPr lang="pt-BR" b="1" dirty="0">
                <a:solidFill>
                  <a:srgbClr val="0505FF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GB" b="1" dirty="0" err="1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nome</a:t>
            </a:r>
            <a:r>
              <a:rPr lang="en-GB" b="1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defRPr/>
            </a:pPr>
            <a:r>
              <a:rPr lang="en-GB" b="1" dirty="0">
                <a:latin typeface="Courier New" pitchFamily="49" charset="0"/>
                <a:cs typeface="Courier New" pitchFamily="49" charset="0"/>
              </a:rPr>
              <a:t>   }</a:t>
            </a:r>
          </a:p>
          <a:p>
            <a:pPr>
              <a:defRPr/>
            </a:pPr>
            <a:r>
              <a:rPr lang="en-GB" b="1" i="1" dirty="0">
                <a:latin typeface="Courier New" pitchFamily="49" charset="0"/>
                <a:cs typeface="Courier New" pitchFamily="49" charset="0"/>
              </a:rPr>
              <a:t>   </a:t>
            </a:r>
            <a:r>
              <a:rPr lang="en-GB" b="1" i="1" dirty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protected</a:t>
            </a:r>
            <a:r>
              <a:rPr lang="en-GB" b="1" i="1" dirty="0">
                <a:solidFill>
                  <a:srgbClr val="0000CC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pt-BR" b="1" dirty="0" err="1">
                <a:solidFill>
                  <a:srgbClr val="0505FF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pt-BR" b="1" dirty="0">
                <a:solidFill>
                  <a:srgbClr val="0505FF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GB" b="1" i="1" dirty="0" err="1">
                <a:latin typeface="Courier New" pitchFamily="49" charset="0"/>
                <a:cs typeface="Courier New" pitchFamily="49" charset="0"/>
              </a:rPr>
              <a:t>AumentaIdade</a:t>
            </a:r>
            <a:r>
              <a:rPr lang="en-GB" b="1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pt-BR" b="1" dirty="0" err="1">
                <a:solidFill>
                  <a:srgbClr val="0505FF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pt-BR" b="1" dirty="0">
                <a:solidFill>
                  <a:srgbClr val="0505FF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pt-BR" b="1" dirty="0">
                <a:latin typeface="Courier New" pitchFamily="49" charset="0"/>
                <a:cs typeface="Courier New" pitchFamily="49" charset="0"/>
              </a:rPr>
              <a:t>aumento</a:t>
            </a:r>
            <a:r>
              <a:rPr lang="en-GB" b="1" dirty="0">
                <a:latin typeface="Courier New" pitchFamily="49" charset="0"/>
                <a:cs typeface="Courier New" pitchFamily="49" charset="0"/>
              </a:rPr>
              <a:t>){  </a:t>
            </a:r>
          </a:p>
          <a:p>
            <a:pPr>
              <a:defRPr/>
            </a:pPr>
            <a:r>
              <a:rPr lang="pt-BR" b="1" dirty="0">
                <a:solidFill>
                  <a:srgbClr val="0505FF"/>
                </a:solidFill>
                <a:latin typeface="Courier New" pitchFamily="49" charset="0"/>
                <a:cs typeface="Courier New" pitchFamily="49" charset="0"/>
              </a:rPr>
              <a:t>      </a:t>
            </a:r>
            <a:r>
              <a:rPr lang="pt-BR" b="1" dirty="0" err="1">
                <a:solidFill>
                  <a:srgbClr val="0505FF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pt-BR" b="1" dirty="0">
                <a:solidFill>
                  <a:srgbClr val="0505FF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GB" b="1" dirty="0" err="1">
                <a:latin typeface="Courier New" pitchFamily="49" charset="0"/>
                <a:cs typeface="Courier New" pitchFamily="49" charset="0"/>
              </a:rPr>
              <a:t>novaIdade</a:t>
            </a:r>
            <a:r>
              <a:rPr lang="en-GB" b="1" dirty="0">
                <a:latin typeface="Courier New" pitchFamily="49" charset="0"/>
                <a:cs typeface="Courier New" pitchFamily="49" charset="0"/>
              </a:rPr>
              <a:t> = </a:t>
            </a:r>
            <a:r>
              <a:rPr lang="en-GB" b="1" dirty="0" err="1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idade</a:t>
            </a:r>
            <a:r>
              <a:rPr lang="pt-BR" b="1" dirty="0">
                <a:latin typeface="Courier New" pitchFamily="49" charset="0"/>
                <a:cs typeface="Courier New" pitchFamily="49" charset="0"/>
              </a:rPr>
              <a:t> + aumento;</a:t>
            </a:r>
            <a:endParaRPr lang="pt-BR" b="1" dirty="0">
              <a:solidFill>
                <a:srgbClr val="0505FF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defRPr/>
            </a:pPr>
            <a:r>
              <a:rPr lang="pt-BR" b="1" dirty="0">
                <a:solidFill>
                  <a:srgbClr val="0505FF"/>
                </a:solidFill>
                <a:latin typeface="Courier New" pitchFamily="49" charset="0"/>
                <a:cs typeface="Courier New" pitchFamily="49" charset="0"/>
              </a:rPr>
              <a:t>      </a:t>
            </a:r>
            <a:r>
              <a:rPr lang="pt-BR" b="1" dirty="0" err="1">
                <a:solidFill>
                  <a:srgbClr val="0505FF"/>
                </a:solidFill>
                <a:latin typeface="Courier New" pitchFamily="49" charset="0"/>
                <a:cs typeface="Courier New" pitchFamily="49" charset="0"/>
              </a:rPr>
              <a:t>return</a:t>
            </a:r>
            <a:r>
              <a:rPr lang="en-GB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GB" b="1" dirty="0" err="1">
                <a:latin typeface="Courier New" pitchFamily="49" charset="0"/>
                <a:cs typeface="Courier New" pitchFamily="49" charset="0"/>
              </a:rPr>
              <a:t>novaIdade</a:t>
            </a:r>
            <a:r>
              <a:rPr lang="en-GB" b="1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defRPr/>
            </a:pPr>
            <a:r>
              <a:rPr lang="en-GB" b="1" dirty="0">
                <a:latin typeface="Courier New" pitchFamily="49" charset="0"/>
                <a:cs typeface="Courier New" pitchFamily="49" charset="0"/>
              </a:rPr>
              <a:t>   }</a:t>
            </a:r>
          </a:p>
          <a:p>
            <a:pPr>
              <a:defRPr/>
            </a:pPr>
            <a:r>
              <a:rPr lang="en-GB" b="1" dirty="0">
                <a:latin typeface="Courier New" pitchFamily="49" charset="0"/>
                <a:cs typeface="Courier New" pitchFamily="49" charset="0"/>
              </a:rPr>
              <a:t>}</a:t>
            </a:r>
            <a:endParaRPr lang="pt-BR" dirty="0"/>
          </a:p>
        </p:txBody>
      </p:sp>
      <p:sp>
        <p:nvSpPr>
          <p:cNvPr id="9" name="Texto explicativo retangular com cantos arredondados 8">
            <a:extLst>
              <a:ext uri="{FF2B5EF4-FFF2-40B4-BE49-F238E27FC236}">
                <a16:creationId xmlns:a16="http://schemas.microsoft.com/office/drawing/2014/main" id="{9361C52B-B902-7359-9781-28154C9A03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83378" y="2008041"/>
            <a:ext cx="2008838" cy="398173"/>
          </a:xfrm>
          <a:prstGeom prst="wedgeRoundRectCallout">
            <a:avLst>
              <a:gd name="adj1" fmla="val -153854"/>
              <a:gd name="adj2" fmla="val -64005"/>
              <a:gd name="adj3" fmla="val 16667"/>
            </a:avLst>
          </a:prstGeom>
          <a:ln>
            <a:headEnd/>
            <a:tailEnd type="arrow" w="med" len="med"/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none" anchor="ctr"/>
          <a:lstStyle/>
          <a:p>
            <a:pPr algn="ctr" eaLnBrk="1" hangingPunct="1">
              <a:defRPr/>
            </a:pPr>
            <a:r>
              <a:rPr lang="pt-BR" sz="1600" b="1" dirty="0">
                <a:solidFill>
                  <a:schemeClr val="bg1"/>
                </a:solidFill>
                <a:latin typeface="+mj-lt"/>
              </a:rPr>
              <a:t>Atributos Privados</a:t>
            </a:r>
          </a:p>
        </p:txBody>
      </p:sp>
      <p:sp>
        <p:nvSpPr>
          <p:cNvPr id="10" name="Texto explicativo retangular com cantos arredondados 9">
            <a:extLst>
              <a:ext uri="{FF2B5EF4-FFF2-40B4-BE49-F238E27FC236}">
                <a16:creationId xmlns:a16="http://schemas.microsoft.com/office/drawing/2014/main" id="{32DFD08C-8343-F0CD-0904-5137584061EC}"/>
              </a:ext>
            </a:extLst>
          </p:cNvPr>
          <p:cNvSpPr/>
          <p:nvPr/>
        </p:nvSpPr>
        <p:spPr bwMode="auto">
          <a:xfrm>
            <a:off x="5846956" y="2542014"/>
            <a:ext cx="1945260" cy="398172"/>
          </a:xfrm>
          <a:prstGeom prst="wedgeRoundRectCallout">
            <a:avLst>
              <a:gd name="adj1" fmla="val -126477"/>
              <a:gd name="adj2" fmla="val -13490"/>
              <a:gd name="adj3" fmla="val 16667"/>
            </a:avLst>
          </a:prstGeom>
          <a:ln>
            <a:headEnd type="none" w="med" len="med"/>
            <a:tailEnd type="arrow" w="med" len="med"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none" anchor="ctr"/>
          <a:lstStyle/>
          <a:p>
            <a:pPr algn="ctr" eaLnBrk="1" hangingPunct="1">
              <a:defRPr/>
            </a:pPr>
            <a:r>
              <a:rPr lang="pt-BR" sz="1600" b="1" dirty="0">
                <a:latin typeface="+mj-lt"/>
              </a:rPr>
              <a:t>Métodos Públicos</a:t>
            </a:r>
          </a:p>
        </p:txBody>
      </p:sp>
      <p:sp>
        <p:nvSpPr>
          <p:cNvPr id="11" name="Texto explicativo retangular com cantos arredondados 10">
            <a:extLst>
              <a:ext uri="{FF2B5EF4-FFF2-40B4-BE49-F238E27FC236}">
                <a16:creationId xmlns:a16="http://schemas.microsoft.com/office/drawing/2014/main" id="{3DEF4425-03D7-677C-7CB5-6495DD1DCF0F}"/>
              </a:ext>
            </a:extLst>
          </p:cNvPr>
          <p:cNvSpPr/>
          <p:nvPr/>
        </p:nvSpPr>
        <p:spPr bwMode="auto">
          <a:xfrm>
            <a:off x="5783378" y="1497492"/>
            <a:ext cx="2008838" cy="398171"/>
          </a:xfrm>
          <a:prstGeom prst="wedgeRoundRectCallout">
            <a:avLst>
              <a:gd name="adj1" fmla="val -150193"/>
              <a:gd name="adj2" fmla="val -32774"/>
              <a:gd name="adj3" fmla="val 16667"/>
            </a:avLst>
          </a:prstGeom>
          <a:ln>
            <a:headEnd type="none" w="med" len="med"/>
            <a:tailEnd type="arrow" w="med" len="med"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none" anchor="ctr"/>
          <a:lstStyle/>
          <a:p>
            <a:pPr algn="ctr" eaLnBrk="1" hangingPunct="1">
              <a:defRPr/>
            </a:pPr>
            <a:r>
              <a:rPr lang="pt-BR" sz="1600" b="1" dirty="0">
                <a:latin typeface="+mj-lt"/>
              </a:rPr>
              <a:t>Classe Pública</a:t>
            </a:r>
          </a:p>
        </p:txBody>
      </p:sp>
      <p:sp>
        <p:nvSpPr>
          <p:cNvPr id="12" name="Texto explicativo retangular com cantos arredondados 11">
            <a:extLst>
              <a:ext uri="{FF2B5EF4-FFF2-40B4-BE49-F238E27FC236}">
                <a16:creationId xmlns:a16="http://schemas.microsoft.com/office/drawing/2014/main" id="{1E76B987-C763-F3F6-0529-ABC828E74098}"/>
              </a:ext>
            </a:extLst>
          </p:cNvPr>
          <p:cNvSpPr/>
          <p:nvPr/>
        </p:nvSpPr>
        <p:spPr bwMode="auto">
          <a:xfrm>
            <a:off x="5846957" y="3592852"/>
            <a:ext cx="1945260" cy="398173"/>
          </a:xfrm>
          <a:prstGeom prst="wedgeRoundRectCallout">
            <a:avLst>
              <a:gd name="adj1" fmla="val -48049"/>
              <a:gd name="adj2" fmla="val -114281"/>
              <a:gd name="adj3" fmla="val 16667"/>
            </a:avLst>
          </a:prstGeom>
          <a:ln>
            <a:headEnd type="none" w="med" len="med"/>
            <a:tailEnd type="arrow" w="med" len="med"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none" anchor="ctr"/>
          <a:lstStyle/>
          <a:p>
            <a:pPr algn="ctr" eaLnBrk="1" hangingPunct="1">
              <a:defRPr/>
            </a:pPr>
            <a:r>
              <a:rPr lang="pt-BR" sz="1600" b="1" dirty="0">
                <a:latin typeface="+mj-lt"/>
              </a:rPr>
              <a:t>Método Protegido</a:t>
            </a:r>
          </a:p>
        </p:txBody>
      </p:sp>
    </p:spTree>
    <p:extLst>
      <p:ext uri="{BB962C8B-B14F-4D97-AF65-F5344CB8AC3E}">
        <p14:creationId xmlns:p14="http://schemas.microsoft.com/office/powerpoint/2010/main" val="19523118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5C75E627-236E-DD51-7597-F5F661DE9E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0">
            <a:extLst>
              <a:ext uri="{FF2B5EF4-FFF2-40B4-BE49-F238E27FC236}">
                <a16:creationId xmlns:a16="http://schemas.microsoft.com/office/drawing/2014/main" id="{EA48685A-BDBE-C305-D034-4F95F1C03B8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/>
            <a:r>
              <a:rPr lang="pt-BR" altLang="pt-BR" dirty="0"/>
              <a:t>Pacotes – </a:t>
            </a:r>
            <a:r>
              <a:rPr lang="pt-BR" altLang="pt-BR" i="1" dirty="0" err="1"/>
              <a:t>package</a:t>
            </a:r>
            <a:endParaRPr dirty="0"/>
          </a:p>
        </p:txBody>
      </p:sp>
      <p:sp>
        <p:nvSpPr>
          <p:cNvPr id="55" name="Google Shape;55;p10">
            <a:extLst>
              <a:ext uri="{FF2B5EF4-FFF2-40B4-BE49-F238E27FC236}">
                <a16:creationId xmlns:a16="http://schemas.microsoft.com/office/drawing/2014/main" id="{ADD0F1DD-A591-AD8B-FDCE-D8E71F331FA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pt-BR" altLang="pt-BR" dirty="0"/>
              <a:t>Consiste num diretório onde se organiza as classes.</a:t>
            </a:r>
          </a:p>
          <a:p>
            <a:pPr>
              <a:buFont typeface="Arial" panose="020B0604020202020204" pitchFamily="34" charset="0"/>
              <a:buChar char="•"/>
            </a:pPr>
            <a:endParaRPr lang="pt-BR" altLang="pt-BR" sz="1200" dirty="0"/>
          </a:p>
          <a:p>
            <a:pPr>
              <a:buFont typeface="Arial" panose="020B0604020202020204" pitchFamily="34" charset="0"/>
              <a:buChar char="•"/>
            </a:pPr>
            <a:r>
              <a:rPr lang="pt-BR" altLang="pt-BR" dirty="0"/>
              <a:t>Está diretamente relacionado aos qualificadores de visibilidade de acesso as classes.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pt-BR" altLang="pt-BR" dirty="0"/>
              <a:t>Pode definir a visibilidade (acessibilidade) de uma classe e seus elementos (atributos e métodos)</a:t>
            </a:r>
          </a:p>
          <a:p>
            <a:pPr>
              <a:buFont typeface="Arial" panose="020B0604020202020204" pitchFamily="34" charset="0"/>
              <a:buChar char="•"/>
            </a:pPr>
            <a:endParaRPr lang="pt-BR" altLang="pt-BR" sz="1200" dirty="0"/>
          </a:p>
          <a:p>
            <a:pPr>
              <a:buFont typeface="Arial" panose="020B0604020202020204" pitchFamily="34" charset="0"/>
              <a:buChar char="•"/>
            </a:pPr>
            <a:r>
              <a:rPr lang="pt-BR" altLang="pt-BR" dirty="0"/>
              <a:t>Geralmente coloca-se em um mesmo pacote as classes com o mesmo propósito.</a:t>
            </a:r>
          </a:p>
          <a:p>
            <a:pPr>
              <a:buFont typeface="Arial" panose="020B0604020202020204" pitchFamily="34" charset="0"/>
              <a:buChar char="•"/>
            </a:pPr>
            <a:endParaRPr lang="pt-BR" altLang="pt-BR" sz="1200" dirty="0"/>
          </a:p>
          <a:p>
            <a:pPr>
              <a:buFont typeface="Arial" panose="020B0604020202020204" pitchFamily="34" charset="0"/>
              <a:buChar char="•"/>
            </a:pPr>
            <a:r>
              <a:rPr lang="pt-BR" altLang="pt-BR" dirty="0"/>
              <a:t>Os pacotes podem ser incorporados a uma classe Java por meio do comando </a:t>
            </a:r>
            <a:r>
              <a:rPr lang="pt-BR" altLang="pt-BR" b="1" i="1" dirty="0">
                <a:solidFill>
                  <a:schemeClr val="accent2"/>
                </a:solidFill>
                <a:latin typeface="Comic Sans MS" panose="030F0702030302020204" pitchFamily="66" charset="0"/>
              </a:rPr>
              <a:t>import</a:t>
            </a:r>
            <a:r>
              <a:rPr lang="pt-BR" altLang="pt-B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82039118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5F43AD29-9EBC-2DE1-9284-EE6C274745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0">
            <a:extLst>
              <a:ext uri="{FF2B5EF4-FFF2-40B4-BE49-F238E27FC236}">
                <a16:creationId xmlns:a16="http://schemas.microsoft.com/office/drawing/2014/main" id="{BE83B67C-597D-E5C1-750C-8B9C60523B1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/>
            <a:r>
              <a:rPr lang="pt-BR" altLang="pt-BR" dirty="0"/>
              <a:t>Comando </a:t>
            </a:r>
            <a:r>
              <a:rPr lang="pt-BR" altLang="pt-BR" i="1" dirty="0" err="1"/>
              <a:t>Import</a:t>
            </a:r>
            <a:endParaRPr dirty="0"/>
          </a:p>
        </p:txBody>
      </p:sp>
      <p:sp>
        <p:nvSpPr>
          <p:cNvPr id="55" name="Google Shape;55;p10">
            <a:extLst>
              <a:ext uri="{FF2B5EF4-FFF2-40B4-BE49-F238E27FC236}">
                <a16:creationId xmlns:a16="http://schemas.microsoft.com/office/drawing/2014/main" id="{05999DF2-B8A6-6B98-A604-C1897F31CDC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pt-BR" altLang="pt-BR" dirty="0"/>
              <a:t>É responsável por garantir a reutilização e a modularização dos programas em Java</a:t>
            </a:r>
          </a:p>
          <a:p>
            <a:pPr>
              <a:buFont typeface="Arial" panose="020B0604020202020204" pitchFamily="34" charset="0"/>
              <a:buChar char="•"/>
            </a:pPr>
            <a:endParaRPr lang="pt-BR" altLang="pt-BR" dirty="0"/>
          </a:p>
          <a:p>
            <a:pPr>
              <a:buFont typeface="Arial" panose="020B0604020202020204" pitchFamily="34" charset="0"/>
              <a:buChar char="•"/>
            </a:pPr>
            <a:r>
              <a:rPr lang="pt-BR" altLang="pt-BR" dirty="0"/>
              <a:t>Semelhante ao comando ‘</a:t>
            </a:r>
            <a:r>
              <a:rPr lang="pt-BR" altLang="pt-BR" i="1" dirty="0"/>
              <a:t>include</a:t>
            </a:r>
            <a:r>
              <a:rPr lang="pt-BR" altLang="pt-BR" dirty="0"/>
              <a:t>’ do C ou C++</a:t>
            </a:r>
          </a:p>
          <a:p>
            <a:pPr>
              <a:buFont typeface="Arial" panose="020B0604020202020204" pitchFamily="34" charset="0"/>
              <a:buChar char="•"/>
            </a:pPr>
            <a:endParaRPr lang="pt-BR" altLang="pt-BR" dirty="0"/>
          </a:p>
          <a:p>
            <a:pPr>
              <a:buFont typeface="Arial" panose="020B0604020202020204" pitchFamily="34" charset="0"/>
              <a:buChar char="•"/>
            </a:pPr>
            <a:r>
              <a:rPr lang="pt-BR" altLang="pt-BR" dirty="0"/>
              <a:t>O comando </a:t>
            </a:r>
            <a:r>
              <a:rPr lang="pt-BR" altLang="pt-BR" dirty="0" err="1"/>
              <a:t>import</a:t>
            </a:r>
            <a:r>
              <a:rPr lang="pt-BR" altLang="pt-BR" dirty="0"/>
              <a:t>, juntamente com os conceitos de visibilidade e pacotes tornam a aplicação mais segura e organizada.</a:t>
            </a: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05214708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CA9895C4-3059-FF69-01FD-936B96B422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0">
            <a:extLst>
              <a:ext uri="{FF2B5EF4-FFF2-40B4-BE49-F238E27FC236}">
                <a16:creationId xmlns:a16="http://schemas.microsoft.com/office/drawing/2014/main" id="{CF300340-B9A8-7816-09B4-645D5E073FC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/>
            <a:r>
              <a:rPr lang="pt-BR" altLang="en-US" dirty="0"/>
              <a:t>Exercício</a:t>
            </a:r>
            <a:endParaRPr dirty="0"/>
          </a:p>
        </p:txBody>
      </p:sp>
      <p:sp>
        <p:nvSpPr>
          <p:cNvPr id="55" name="Google Shape;55;p10">
            <a:extLst>
              <a:ext uri="{FF2B5EF4-FFF2-40B4-BE49-F238E27FC236}">
                <a16:creationId xmlns:a16="http://schemas.microsoft.com/office/drawing/2014/main" id="{6A3FE951-76CC-14AB-49FE-356B58E9B30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eaLnBrk="1" hangingPunct="1">
              <a:buFont typeface="Arial" panose="020B0604020202020204" pitchFamily="34" charset="0"/>
              <a:buChar char="•"/>
            </a:pPr>
            <a:r>
              <a:rPr lang="pt-BR" altLang="en-US" sz="2800" dirty="0">
                <a:latin typeface="Calibri" panose="020F0502020204030204" pitchFamily="34" charset="0"/>
              </a:rPr>
              <a:t>Altere os Modificadores de Acesso/Visibilidade de TODAS as classes dos exercícios desenvolvidos até o momento...</a:t>
            </a: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pt-BR" altLang="en-US" dirty="0">
                <a:latin typeface="Calibri" panose="020F0502020204030204" pitchFamily="34" charset="0"/>
              </a:rPr>
              <a:t>Alterar a visibilidade das Classes para “Publica” (</a:t>
            </a:r>
            <a:r>
              <a:rPr lang="pt-BR" altLang="en-US" i="1" dirty="0" err="1">
                <a:latin typeface="Calibri" panose="020F0502020204030204" pitchFamily="34" charset="0"/>
              </a:rPr>
              <a:t>Public</a:t>
            </a:r>
            <a:r>
              <a:rPr lang="pt-BR" altLang="en-US" dirty="0">
                <a:latin typeface="Calibri" panose="020F0502020204030204" pitchFamily="34" charset="0"/>
              </a:rPr>
              <a:t>)</a:t>
            </a: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pt-BR" altLang="en-US" dirty="0">
                <a:latin typeface="Calibri" panose="020F0502020204030204" pitchFamily="34" charset="0"/>
              </a:rPr>
              <a:t>Alterar a visibilidade dos Atributos das classes para “Privado” (</a:t>
            </a:r>
            <a:r>
              <a:rPr lang="pt-BR" altLang="en-US" i="1" dirty="0" err="1">
                <a:latin typeface="Calibri" panose="020F0502020204030204" pitchFamily="34" charset="0"/>
              </a:rPr>
              <a:t>private</a:t>
            </a:r>
            <a:r>
              <a:rPr lang="pt-BR" altLang="en-US" dirty="0">
                <a:latin typeface="Calibri" panose="020F0502020204030204" pitchFamily="34" charset="0"/>
              </a:rPr>
              <a:t>)</a:t>
            </a: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pt-BR" altLang="en-US" dirty="0">
                <a:latin typeface="Calibri" panose="020F0502020204030204" pitchFamily="34" charset="0"/>
              </a:rPr>
              <a:t>Alterar a visibilidade dos Métodos das classes para “Publico” (</a:t>
            </a:r>
            <a:r>
              <a:rPr lang="pt-BR" altLang="en-US" i="1" dirty="0" err="1">
                <a:latin typeface="Calibri" panose="020F0502020204030204" pitchFamily="34" charset="0"/>
              </a:rPr>
              <a:t>public</a:t>
            </a:r>
            <a:r>
              <a:rPr lang="pt-BR" altLang="en-US" dirty="0">
                <a:latin typeface="Calibri" panose="020F0502020204030204" pitchFamily="34" charset="0"/>
              </a:rPr>
              <a:t>) ou “Protegido” (</a:t>
            </a:r>
            <a:r>
              <a:rPr lang="pt-BR" altLang="en-US" i="1" dirty="0" err="1">
                <a:latin typeface="Calibri" panose="020F0502020204030204" pitchFamily="34" charset="0"/>
              </a:rPr>
              <a:t>protected</a:t>
            </a:r>
            <a:r>
              <a:rPr lang="pt-BR" altLang="en-US" i="1" dirty="0">
                <a:latin typeface="Calibri" panose="020F0502020204030204" pitchFamily="34" charset="0"/>
              </a:rPr>
              <a:t> </a:t>
            </a:r>
            <a:r>
              <a:rPr lang="pt-BR" altLang="en-US" dirty="0">
                <a:latin typeface="Calibri" panose="020F0502020204030204" pitchFamily="34" charset="0"/>
              </a:rPr>
              <a:t>)</a:t>
            </a: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7320049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CBB94350-9C4B-9482-F21B-E4F17C4018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0">
            <a:extLst>
              <a:ext uri="{FF2B5EF4-FFF2-40B4-BE49-F238E27FC236}">
                <a16:creationId xmlns:a16="http://schemas.microsoft.com/office/drawing/2014/main" id="{81180138-C400-4B74-74F2-320983E4A01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/>
            <a:r>
              <a:rPr lang="pt-BR" dirty="0"/>
              <a:t>Exercício</a:t>
            </a:r>
            <a:endParaRPr dirty="0"/>
          </a:p>
        </p:txBody>
      </p:sp>
      <p:graphicFrame>
        <p:nvGraphicFramePr>
          <p:cNvPr id="2" name="Tabela 6">
            <a:extLst>
              <a:ext uri="{FF2B5EF4-FFF2-40B4-BE49-F238E27FC236}">
                <a16:creationId xmlns:a16="http://schemas.microsoft.com/office/drawing/2014/main" id="{051910E8-690D-A86C-6D91-1251E0F048E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14455126"/>
              </p:ext>
            </p:extLst>
          </p:nvPr>
        </p:nvGraphicFramePr>
        <p:xfrm>
          <a:off x="311700" y="1152475"/>
          <a:ext cx="3293746" cy="34869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293746">
                  <a:extLst>
                    <a:ext uri="{9D8B030D-6E8A-4147-A177-3AD203B41FA5}">
                      <a16:colId xmlns:a16="http://schemas.microsoft.com/office/drawing/2014/main" val="2397670380"/>
                    </a:ext>
                  </a:extLst>
                </a:gridCol>
              </a:tblGrid>
              <a:tr h="498934">
                <a:tc>
                  <a:txBody>
                    <a:bodyPr/>
                    <a:lstStyle/>
                    <a:p>
                      <a:r>
                        <a:rPr lang="pt-BR" sz="1400" dirty="0"/>
                        <a:t>Aluno</a:t>
                      </a:r>
                    </a:p>
                  </a:txBody>
                  <a:tcPr marL="97269" marR="97269" marT="48636" marB="48636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0502115"/>
                  </a:ext>
                </a:extLst>
              </a:tr>
              <a:tr h="1494023">
                <a:tc>
                  <a:txBody>
                    <a:bodyPr/>
                    <a:lstStyle/>
                    <a:p>
                      <a:r>
                        <a:rPr lang="pt-BR" sz="1400" dirty="0"/>
                        <a:t>-   nome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pt-BR" sz="1400" dirty="0"/>
                        <a:t>telefone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pt-BR" sz="1400" dirty="0"/>
                        <a:t>nota1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pt-BR" sz="1400" dirty="0"/>
                        <a:t>nota2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pt-BR" sz="1400" dirty="0"/>
                        <a:t>media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pt-BR" sz="1400" dirty="0"/>
                        <a:t>faltas</a:t>
                      </a:r>
                    </a:p>
                  </a:txBody>
                  <a:tcPr marL="97269" marR="97269" marT="48636" marB="48636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2385741"/>
                  </a:ext>
                </a:extLst>
              </a:tr>
              <a:tr h="1494023">
                <a:tc>
                  <a:txBody>
                    <a:bodyPr/>
                    <a:lstStyle/>
                    <a:p>
                      <a:r>
                        <a:rPr lang="pt-BR" sz="1400" dirty="0"/>
                        <a:t>+ Aluno(nome, telefone)</a:t>
                      </a:r>
                    </a:p>
                    <a:p>
                      <a:r>
                        <a:rPr lang="pt-BR" sz="1400" dirty="0"/>
                        <a:t>+ lancarNota1(nota1)</a:t>
                      </a:r>
                    </a:p>
                    <a:p>
                      <a:r>
                        <a:rPr lang="pt-BR" sz="1400" dirty="0"/>
                        <a:t>+ lancarNota2(nota2)</a:t>
                      </a:r>
                    </a:p>
                    <a:p>
                      <a:r>
                        <a:rPr lang="pt-BR" sz="1400" dirty="0"/>
                        <a:t># </a:t>
                      </a:r>
                      <a:r>
                        <a:rPr lang="pt-BR" sz="1400" dirty="0" err="1"/>
                        <a:t>adicionarFalta</a:t>
                      </a:r>
                      <a:r>
                        <a:rPr lang="pt-BR" sz="1400" dirty="0"/>
                        <a:t>()</a:t>
                      </a:r>
                    </a:p>
                    <a:p>
                      <a:r>
                        <a:rPr lang="pt-BR" sz="1400" dirty="0"/>
                        <a:t>+ </a:t>
                      </a:r>
                      <a:r>
                        <a:rPr lang="pt-BR" sz="1400" dirty="0" err="1"/>
                        <a:t>calcularMedia</a:t>
                      </a:r>
                      <a:r>
                        <a:rPr lang="pt-BR" sz="1400" dirty="0"/>
                        <a:t>()</a:t>
                      </a:r>
                    </a:p>
                    <a:p>
                      <a:r>
                        <a:rPr lang="pt-BR" sz="1400" dirty="0"/>
                        <a:t>+ imprimir()</a:t>
                      </a:r>
                    </a:p>
                  </a:txBody>
                  <a:tcPr marL="97269" marR="97269" marT="48636" marB="48636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1312549"/>
                  </a:ext>
                </a:extLst>
              </a:tr>
            </a:tbl>
          </a:graphicData>
        </a:graphic>
      </p:graphicFrame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82F4B0A-D835-BC62-2586-C93E30F4C4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26053" y="582207"/>
            <a:ext cx="3081375" cy="871036"/>
          </a:xfrm>
          <a:prstGeom prst="wedgeRectCallout">
            <a:avLst>
              <a:gd name="adj1" fmla="val -106451"/>
              <a:gd name="adj2" fmla="val 97569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>
            <a:normAutofit fontScale="62500" lnSpcReduction="20000"/>
          </a:bodyPr>
          <a:lstStyle/>
          <a:p>
            <a:pPr marL="76200" indent="0" algn="ctr">
              <a:buNone/>
            </a:pPr>
            <a:r>
              <a:rPr lang="pt-BR" dirty="0"/>
              <a:t>- </a:t>
            </a:r>
            <a:r>
              <a:rPr lang="pt-BR" dirty="0" err="1"/>
              <a:t>private</a:t>
            </a:r>
            <a:endParaRPr lang="pt-BR" dirty="0"/>
          </a:p>
          <a:p>
            <a:pPr marL="76200" indent="0" algn="ctr">
              <a:buNone/>
            </a:pPr>
            <a:r>
              <a:rPr lang="pt-BR" dirty="0"/>
              <a:t>+ </a:t>
            </a:r>
            <a:r>
              <a:rPr lang="pt-BR" dirty="0" err="1"/>
              <a:t>public</a:t>
            </a:r>
            <a:endParaRPr lang="pt-BR" dirty="0"/>
          </a:p>
          <a:p>
            <a:pPr marL="76200" indent="0" algn="ctr">
              <a:buNone/>
            </a:pPr>
            <a:r>
              <a:rPr lang="pt-BR" dirty="0"/>
              <a:t># </a:t>
            </a:r>
            <a:r>
              <a:rPr lang="pt-BR" dirty="0" err="1"/>
              <a:t>protected</a:t>
            </a:r>
            <a:endParaRPr lang="pt-BR" dirty="0"/>
          </a:p>
        </p:txBody>
      </p:sp>
      <p:sp>
        <p:nvSpPr>
          <p:cNvPr id="4" name="Balão de Fala: Retângulo 3">
            <a:extLst>
              <a:ext uri="{FF2B5EF4-FFF2-40B4-BE49-F238E27FC236}">
                <a16:creationId xmlns:a16="http://schemas.microsoft.com/office/drawing/2014/main" id="{67AA0CD1-1411-D3DC-01A7-0EE196A19B10}"/>
              </a:ext>
            </a:extLst>
          </p:cNvPr>
          <p:cNvSpPr/>
          <p:nvPr/>
        </p:nvSpPr>
        <p:spPr>
          <a:xfrm>
            <a:off x="5125740" y="1623601"/>
            <a:ext cx="3081376" cy="2762490"/>
          </a:xfrm>
          <a:prstGeom prst="wedgeRectCallout">
            <a:avLst>
              <a:gd name="adj1" fmla="val -107687"/>
              <a:gd name="adj2" fmla="val -8023"/>
            </a:avLst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O método </a:t>
            </a:r>
            <a:r>
              <a:rPr lang="pt-BR" dirty="0" err="1"/>
              <a:t>adicionarFalta</a:t>
            </a:r>
            <a:r>
              <a:rPr lang="pt-BR" dirty="0"/>
              <a:t> deverá somar +1 na variável falta. </a:t>
            </a:r>
          </a:p>
          <a:p>
            <a:pPr algn="ctr"/>
            <a:r>
              <a:rPr lang="pt-BR" dirty="0"/>
              <a:t>A média deverá ser calculada somando a nota1+nota2 e dividindo-se por 2. Caso o aluno não tenha nenhuma falta, adicione 1 ponto na média. Caso o aluno tenha menos que 5 faltas adicione 0,5 ponto na média. Sua média não deve ser maior que 10.</a:t>
            </a:r>
          </a:p>
          <a:p>
            <a:pPr algn="ctr"/>
            <a:r>
              <a:rPr lang="pt-BR" dirty="0"/>
              <a:t>O método imprimir deverá mostrar todos os seus valores do objeto</a:t>
            </a:r>
          </a:p>
        </p:txBody>
      </p:sp>
    </p:spTree>
    <p:extLst>
      <p:ext uri="{BB962C8B-B14F-4D97-AF65-F5344CB8AC3E}">
        <p14:creationId xmlns:p14="http://schemas.microsoft.com/office/powerpoint/2010/main" val="420748594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89F0061C-1294-39C1-BC2B-C4F5BFF4CC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0">
            <a:extLst>
              <a:ext uri="{FF2B5EF4-FFF2-40B4-BE49-F238E27FC236}">
                <a16:creationId xmlns:a16="http://schemas.microsoft.com/office/drawing/2014/main" id="{E43D6B15-13AB-AFE2-F39C-BE14657444F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Identificador ‘</a:t>
            </a:r>
            <a:r>
              <a:rPr lang="pt-BR" dirty="0" err="1"/>
              <a:t>this</a:t>
            </a:r>
            <a:r>
              <a:rPr lang="pt-BR" dirty="0"/>
              <a:t>’</a:t>
            </a:r>
            <a:endParaRPr dirty="0"/>
          </a:p>
        </p:txBody>
      </p:sp>
      <p:sp>
        <p:nvSpPr>
          <p:cNvPr id="55" name="Google Shape;55;p10">
            <a:extLst>
              <a:ext uri="{FF2B5EF4-FFF2-40B4-BE49-F238E27FC236}">
                <a16:creationId xmlns:a16="http://schemas.microsoft.com/office/drawing/2014/main" id="{838C7A5A-FD79-7220-F3AE-6995766DF45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pt-BR" dirty="0"/>
              <a:t>Essa palavra-chave identifica o objeto atual no código-fonte. </a:t>
            </a: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pt-BR" dirty="0"/>
              <a:t>É normalmente </a:t>
            </a:r>
            <a:r>
              <a:rPr lang="pt-BR" b="1" dirty="0"/>
              <a:t>utilizada</a:t>
            </a:r>
            <a:r>
              <a:rPr lang="pt-BR" dirty="0"/>
              <a:t> quando o </a:t>
            </a:r>
            <a:r>
              <a:rPr lang="pt-BR" b="1" dirty="0"/>
              <a:t>nome de um atributo </a:t>
            </a:r>
            <a:r>
              <a:rPr lang="pt-BR" dirty="0"/>
              <a:t>(ou variável de instância (global) é igual ao </a:t>
            </a:r>
            <a:r>
              <a:rPr lang="pt-BR" b="1" dirty="0"/>
              <a:t>nome de um parâmetro do método</a:t>
            </a:r>
            <a:r>
              <a:rPr lang="pt-BR" dirty="0"/>
              <a:t>;</a:t>
            </a: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pt-BR" dirty="0"/>
              <a:t>Quando você utiliza esse prefixo, você diz para o Java: “acesse o atributo pertencente a esse objeto, cujo nome é o seguinte...”.</a:t>
            </a: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92495280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E3D28C7E-8FFD-94DD-7B1F-639CABFED8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0">
            <a:extLst>
              <a:ext uri="{FF2B5EF4-FFF2-40B4-BE49-F238E27FC236}">
                <a16:creationId xmlns:a16="http://schemas.microsoft.com/office/drawing/2014/main" id="{C7586150-9828-57A6-AF1C-FF23917528A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Identificador ‘</a:t>
            </a:r>
            <a:r>
              <a:rPr lang="pt-BR" dirty="0" err="1"/>
              <a:t>this</a:t>
            </a:r>
            <a:r>
              <a:rPr lang="pt-BR" dirty="0"/>
              <a:t>’ em Java</a:t>
            </a:r>
            <a:endParaRPr dirty="0"/>
          </a:p>
        </p:txBody>
      </p:sp>
      <p:sp>
        <p:nvSpPr>
          <p:cNvPr id="2" name="Espaço Reservado para Texto 1">
            <a:extLst>
              <a:ext uri="{FF2B5EF4-FFF2-40B4-BE49-F238E27FC236}">
                <a16:creationId xmlns:a16="http://schemas.microsoft.com/office/drawing/2014/main" id="{77ADD52E-CFD3-3BF4-4F25-DD7095C1DE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150" y="1152525"/>
            <a:ext cx="8521700" cy="3545950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>
            <a:noAutofit/>
          </a:bodyPr>
          <a:lstStyle/>
          <a:p>
            <a:pPr marL="0" indent="0">
              <a:buNone/>
              <a:defRPr/>
            </a:pPr>
            <a:r>
              <a:rPr lang="en-GB" sz="1400" b="1" dirty="0">
                <a:latin typeface="Courier New" pitchFamily="49" charset="0"/>
                <a:cs typeface="Courier New" pitchFamily="49" charset="0"/>
              </a:rPr>
              <a:t>public </a:t>
            </a:r>
            <a:r>
              <a:rPr lang="pt-BR" sz="1400" b="1" dirty="0" err="1">
                <a:solidFill>
                  <a:srgbClr val="0505FF"/>
                </a:solidFill>
                <a:latin typeface="Courier New" pitchFamily="49" charset="0"/>
                <a:cs typeface="Courier New" pitchFamily="49" charset="0"/>
              </a:rPr>
              <a:t>class</a:t>
            </a:r>
            <a:r>
              <a:rPr lang="pt-BR" sz="1400" b="1" dirty="0">
                <a:solidFill>
                  <a:srgbClr val="0505FF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GB" sz="1400" b="1" i="1" dirty="0">
                <a:latin typeface="Courier New" pitchFamily="49" charset="0"/>
                <a:cs typeface="Courier New" pitchFamily="49" charset="0"/>
              </a:rPr>
              <a:t>Conta</a:t>
            </a:r>
            <a:r>
              <a:rPr lang="en-GB" sz="1400" b="1" dirty="0">
                <a:latin typeface="Courier New" pitchFamily="49" charset="0"/>
                <a:cs typeface="Courier New" pitchFamily="49" charset="0"/>
              </a:rPr>
              <a:t>(){</a:t>
            </a:r>
          </a:p>
          <a:p>
            <a:pPr marL="0" indent="0">
              <a:buNone/>
              <a:defRPr/>
            </a:pPr>
            <a:r>
              <a:rPr lang="en-GB" sz="1400" b="1" dirty="0">
                <a:latin typeface="Courier New" pitchFamily="49" charset="0"/>
                <a:cs typeface="Courier New" pitchFamily="49" charset="0"/>
              </a:rPr>
              <a:t>   </a:t>
            </a:r>
            <a:r>
              <a:rPr lang="pt-BR" sz="1400" b="1" dirty="0" err="1">
                <a:solidFill>
                  <a:srgbClr val="0505FF"/>
                </a:solidFill>
                <a:latin typeface="Courier New" pitchFamily="49" charset="0"/>
                <a:cs typeface="Courier New" pitchFamily="49" charset="0"/>
              </a:rPr>
              <a:t>private</a:t>
            </a:r>
            <a:r>
              <a:rPr lang="en-GB" sz="1400" b="1" dirty="0">
                <a:latin typeface="Courier New" pitchFamily="49" charset="0"/>
                <a:cs typeface="Courier New" pitchFamily="49" charset="0"/>
              </a:rPr>
              <a:t> String </a:t>
            </a:r>
            <a:r>
              <a:rPr lang="en-GB" sz="1400" b="1" i="1" dirty="0" err="1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dono</a:t>
            </a:r>
            <a:r>
              <a:rPr lang="en-GB" sz="1400" b="1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 marL="0" indent="0">
              <a:buNone/>
              <a:defRPr/>
            </a:pPr>
            <a:r>
              <a:rPr lang="pt-BR" sz="1400" b="1" dirty="0">
                <a:solidFill>
                  <a:srgbClr val="0505FF"/>
                </a:solidFill>
                <a:latin typeface="Courier New" pitchFamily="49" charset="0"/>
                <a:cs typeface="Courier New" pitchFamily="49" charset="0"/>
              </a:rPr>
              <a:t>   </a:t>
            </a:r>
            <a:r>
              <a:rPr lang="pt-BR" sz="1400" b="1" dirty="0" err="1">
                <a:solidFill>
                  <a:srgbClr val="0505FF"/>
                </a:solidFill>
                <a:latin typeface="Courier New" pitchFamily="49" charset="0"/>
                <a:cs typeface="Courier New" pitchFamily="49" charset="0"/>
              </a:rPr>
              <a:t>private</a:t>
            </a:r>
            <a:r>
              <a:rPr lang="pt-BR" sz="1400" b="1" dirty="0">
                <a:solidFill>
                  <a:srgbClr val="0505FF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pt-BR" sz="1400" b="1" dirty="0" err="1">
                <a:solidFill>
                  <a:srgbClr val="0505FF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pt-BR" sz="1400" b="1" dirty="0">
                <a:solidFill>
                  <a:srgbClr val="0505FF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GB" sz="1400" b="1" i="1" dirty="0" err="1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saldo</a:t>
            </a:r>
            <a:r>
              <a:rPr lang="en-GB" sz="1400" b="1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 marL="0" indent="0">
              <a:buNone/>
              <a:defRPr/>
            </a:pPr>
            <a:r>
              <a:rPr lang="pt-BR" sz="1400" b="1" dirty="0">
                <a:solidFill>
                  <a:srgbClr val="0505FF"/>
                </a:solidFill>
                <a:latin typeface="Courier New" pitchFamily="49" charset="0"/>
                <a:cs typeface="Courier New" pitchFamily="49" charset="0"/>
              </a:rPr>
              <a:t>   </a:t>
            </a:r>
            <a:r>
              <a:rPr lang="pt-BR" sz="1400" b="1" dirty="0" err="1">
                <a:solidFill>
                  <a:srgbClr val="0505FF"/>
                </a:solidFill>
                <a:latin typeface="Courier New" pitchFamily="49" charset="0"/>
                <a:cs typeface="Courier New" pitchFamily="49" charset="0"/>
              </a:rPr>
              <a:t>public</a:t>
            </a:r>
            <a:r>
              <a:rPr lang="en-GB" sz="14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GB" sz="1400" b="1" i="1" dirty="0">
                <a:latin typeface="Courier New" pitchFamily="49" charset="0"/>
                <a:cs typeface="Courier New" pitchFamily="49" charset="0"/>
              </a:rPr>
              <a:t>Conta</a:t>
            </a:r>
            <a:r>
              <a:rPr lang="en-GB" sz="1400" b="1" dirty="0">
                <a:latin typeface="Courier New" pitchFamily="49" charset="0"/>
                <a:cs typeface="Courier New" pitchFamily="49" charset="0"/>
              </a:rPr>
              <a:t>(String </a:t>
            </a:r>
            <a:r>
              <a:rPr lang="en-GB" sz="1400" b="1" dirty="0" err="1">
                <a:solidFill>
                  <a:schemeClr val="accent3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dono</a:t>
            </a:r>
            <a:r>
              <a:rPr lang="en-GB" sz="1400" b="1" dirty="0">
                <a:latin typeface="Courier New" pitchFamily="49" charset="0"/>
                <a:cs typeface="Courier New" pitchFamily="49" charset="0"/>
              </a:rPr>
              <a:t>, </a:t>
            </a:r>
            <a:r>
              <a:rPr lang="pt-BR" sz="1400" b="1" dirty="0" err="1">
                <a:solidFill>
                  <a:srgbClr val="0505FF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pt-BR" sz="1400" b="1" dirty="0">
                <a:solidFill>
                  <a:srgbClr val="0505FF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GB" sz="1400" b="1" dirty="0" err="1">
                <a:solidFill>
                  <a:schemeClr val="accent3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saldo</a:t>
            </a:r>
            <a:r>
              <a:rPr lang="en-GB" sz="1400" b="1" dirty="0">
                <a:latin typeface="Courier New" pitchFamily="49" charset="0"/>
                <a:cs typeface="Courier New" pitchFamily="49" charset="0"/>
              </a:rPr>
              <a:t>){  </a:t>
            </a:r>
          </a:p>
          <a:p>
            <a:pPr>
              <a:buNone/>
              <a:defRPr/>
            </a:pPr>
            <a:r>
              <a:rPr lang="en-GB" sz="1400" b="1" dirty="0">
                <a:latin typeface="Courier New" pitchFamily="49" charset="0"/>
                <a:cs typeface="Courier New" pitchFamily="49" charset="0"/>
              </a:rPr>
              <a:t>		 </a:t>
            </a:r>
            <a:r>
              <a:rPr lang="pt-BR" sz="1400" b="1" dirty="0" err="1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this</a:t>
            </a:r>
            <a:r>
              <a:rPr lang="en-GB" sz="1400" b="1" i="1" dirty="0">
                <a:latin typeface="Courier New" pitchFamily="49" charset="0"/>
                <a:cs typeface="Courier New" pitchFamily="49" charset="0"/>
              </a:rPr>
              <a:t>.</a:t>
            </a:r>
            <a:r>
              <a:rPr lang="en-GB" sz="1400" b="1" dirty="0" err="1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dono</a:t>
            </a:r>
            <a:r>
              <a:rPr lang="en-GB" sz="1400" b="1" i="1" dirty="0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GB" sz="1400" b="1" dirty="0">
                <a:latin typeface="Courier New" pitchFamily="49" charset="0"/>
                <a:cs typeface="Courier New" pitchFamily="49" charset="0"/>
              </a:rPr>
              <a:t>= </a:t>
            </a:r>
            <a:r>
              <a:rPr lang="en-GB" sz="1400" b="1" dirty="0" err="1">
                <a:solidFill>
                  <a:schemeClr val="accent3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dono</a:t>
            </a:r>
            <a:r>
              <a:rPr lang="en-GB" sz="1400" b="1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buNone/>
              <a:defRPr/>
            </a:pPr>
            <a:r>
              <a:rPr lang="en-GB" sz="1400" b="1" dirty="0">
                <a:latin typeface="Courier New" pitchFamily="49" charset="0"/>
                <a:cs typeface="Courier New" pitchFamily="49" charset="0"/>
              </a:rPr>
              <a:t>		 </a:t>
            </a:r>
            <a:r>
              <a:rPr lang="pt-BR" sz="1400" b="1" dirty="0" err="1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this</a:t>
            </a:r>
            <a:r>
              <a:rPr lang="en-GB" sz="1400" b="1" i="1" dirty="0">
                <a:latin typeface="Courier New" pitchFamily="49" charset="0"/>
                <a:cs typeface="Courier New" pitchFamily="49" charset="0"/>
              </a:rPr>
              <a:t>.</a:t>
            </a:r>
            <a:r>
              <a:rPr lang="en-GB" sz="1400" b="1" dirty="0" err="1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saldo</a:t>
            </a:r>
            <a:r>
              <a:rPr lang="en-GB" sz="1400" b="1" i="1" dirty="0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GB" sz="1400" b="1" dirty="0">
                <a:latin typeface="Courier New" pitchFamily="49" charset="0"/>
                <a:cs typeface="Courier New" pitchFamily="49" charset="0"/>
              </a:rPr>
              <a:t>= </a:t>
            </a:r>
            <a:r>
              <a:rPr lang="en-GB" sz="1400" b="1" dirty="0" err="1">
                <a:solidFill>
                  <a:schemeClr val="accent3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saldo</a:t>
            </a:r>
            <a:r>
              <a:rPr lang="en-GB" sz="1400" b="1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buNone/>
              <a:defRPr/>
            </a:pPr>
            <a:r>
              <a:rPr lang="en-GB" sz="1400" b="1" dirty="0">
                <a:latin typeface="Courier New" pitchFamily="49" charset="0"/>
                <a:cs typeface="Courier New" pitchFamily="49" charset="0"/>
              </a:rPr>
              <a:t>   }</a:t>
            </a:r>
          </a:p>
          <a:p>
            <a:pPr marL="0" indent="0">
              <a:buNone/>
              <a:defRPr/>
            </a:pPr>
            <a:r>
              <a:rPr lang="pt-BR" sz="1400" b="1" dirty="0">
                <a:solidFill>
                  <a:srgbClr val="0505FF"/>
                </a:solidFill>
                <a:latin typeface="Courier New" pitchFamily="49" charset="0"/>
                <a:cs typeface="Courier New" pitchFamily="49" charset="0"/>
              </a:rPr>
              <a:t>   </a:t>
            </a:r>
            <a:r>
              <a:rPr lang="pt-BR" sz="1400" b="1" dirty="0" err="1">
                <a:solidFill>
                  <a:srgbClr val="0505FF"/>
                </a:solidFill>
                <a:latin typeface="Courier New" pitchFamily="49" charset="0"/>
                <a:cs typeface="Courier New" pitchFamily="49" charset="0"/>
              </a:rPr>
              <a:t>public</a:t>
            </a:r>
            <a:r>
              <a:rPr lang="pt-BR" sz="1400" b="1" dirty="0">
                <a:solidFill>
                  <a:srgbClr val="0505FF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pt-BR" sz="1400" b="1" dirty="0" err="1">
                <a:solidFill>
                  <a:srgbClr val="0505FF"/>
                </a:solidFill>
                <a:latin typeface="Courier New" pitchFamily="49" charset="0"/>
                <a:cs typeface="Courier New" pitchFamily="49" charset="0"/>
              </a:rPr>
              <a:t>void</a:t>
            </a:r>
            <a:r>
              <a:rPr lang="en-GB" sz="14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GB" sz="1400" b="1" i="1" dirty="0" err="1">
                <a:latin typeface="Courier New" pitchFamily="49" charset="0"/>
                <a:cs typeface="Courier New" pitchFamily="49" charset="0"/>
              </a:rPr>
              <a:t>AlteraDono</a:t>
            </a:r>
            <a:r>
              <a:rPr lang="en-GB" sz="1400" b="1" dirty="0">
                <a:latin typeface="Courier New" pitchFamily="49" charset="0"/>
                <a:cs typeface="Courier New" pitchFamily="49" charset="0"/>
              </a:rPr>
              <a:t>(String </a:t>
            </a:r>
            <a:r>
              <a:rPr lang="en-GB" sz="1400" b="1" dirty="0" err="1">
                <a:solidFill>
                  <a:schemeClr val="accent3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dono</a:t>
            </a:r>
            <a:r>
              <a:rPr lang="en-GB" sz="1400" b="1" dirty="0">
                <a:latin typeface="Courier New" pitchFamily="49" charset="0"/>
                <a:cs typeface="Courier New" pitchFamily="49" charset="0"/>
              </a:rPr>
              <a:t>){  </a:t>
            </a:r>
          </a:p>
          <a:p>
            <a:pPr>
              <a:buNone/>
              <a:defRPr/>
            </a:pPr>
            <a:r>
              <a:rPr lang="en-GB" sz="1400" b="1" dirty="0">
                <a:latin typeface="Courier New" pitchFamily="49" charset="0"/>
                <a:cs typeface="Courier New" pitchFamily="49" charset="0"/>
              </a:rPr>
              <a:t>		 </a:t>
            </a:r>
            <a:r>
              <a:rPr lang="pt-BR" sz="1400" b="1" dirty="0" err="1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this</a:t>
            </a:r>
            <a:r>
              <a:rPr lang="en-GB" sz="1400" b="1" i="1" dirty="0">
                <a:latin typeface="Courier New" pitchFamily="49" charset="0"/>
                <a:cs typeface="Courier New" pitchFamily="49" charset="0"/>
              </a:rPr>
              <a:t>.</a:t>
            </a:r>
            <a:r>
              <a:rPr lang="en-GB" sz="1400" b="1" dirty="0" err="1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dono</a:t>
            </a:r>
            <a:r>
              <a:rPr lang="en-GB" sz="1400" b="1" i="1" dirty="0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GB" sz="1400" b="1" dirty="0">
                <a:latin typeface="Courier New" pitchFamily="49" charset="0"/>
                <a:cs typeface="Courier New" pitchFamily="49" charset="0"/>
              </a:rPr>
              <a:t>= </a:t>
            </a:r>
            <a:r>
              <a:rPr lang="en-GB" sz="1400" b="1" dirty="0" err="1">
                <a:solidFill>
                  <a:schemeClr val="accent3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dono</a:t>
            </a:r>
            <a:r>
              <a:rPr lang="en-GB" sz="1400" b="1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buNone/>
              <a:defRPr/>
            </a:pPr>
            <a:r>
              <a:rPr lang="en-GB" sz="1400" b="1" dirty="0">
                <a:latin typeface="Courier New" pitchFamily="49" charset="0"/>
                <a:cs typeface="Courier New" pitchFamily="49" charset="0"/>
              </a:rPr>
              <a:t>   }</a:t>
            </a:r>
          </a:p>
          <a:p>
            <a:pPr marL="0" indent="0">
              <a:buNone/>
              <a:defRPr/>
            </a:pPr>
            <a:r>
              <a:rPr lang="pt-BR" sz="1400" b="1" dirty="0">
                <a:solidFill>
                  <a:srgbClr val="0505FF"/>
                </a:solidFill>
                <a:latin typeface="Courier New" pitchFamily="49" charset="0"/>
                <a:cs typeface="Courier New" pitchFamily="49" charset="0"/>
              </a:rPr>
              <a:t>   </a:t>
            </a:r>
            <a:r>
              <a:rPr lang="pt-BR" sz="1400" b="1" dirty="0" err="1">
                <a:solidFill>
                  <a:srgbClr val="0505FF"/>
                </a:solidFill>
                <a:latin typeface="Courier New" pitchFamily="49" charset="0"/>
                <a:cs typeface="Courier New" pitchFamily="49" charset="0"/>
              </a:rPr>
              <a:t>public</a:t>
            </a:r>
            <a:r>
              <a:rPr lang="pt-BR" sz="1400" b="1" dirty="0">
                <a:solidFill>
                  <a:srgbClr val="0505FF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pt-BR" sz="1400" b="1" dirty="0" err="1">
                <a:solidFill>
                  <a:srgbClr val="0505FF"/>
                </a:solidFill>
                <a:latin typeface="Courier New" pitchFamily="49" charset="0"/>
                <a:cs typeface="Courier New" pitchFamily="49" charset="0"/>
              </a:rPr>
              <a:t>void</a:t>
            </a:r>
            <a:r>
              <a:rPr lang="en-GB" sz="14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GB" sz="1400" b="1" i="1" dirty="0" err="1">
                <a:latin typeface="Courier New" pitchFamily="49" charset="0"/>
                <a:cs typeface="Courier New" pitchFamily="49" charset="0"/>
              </a:rPr>
              <a:t>AlteraSaldo</a:t>
            </a:r>
            <a:r>
              <a:rPr lang="en-GB" sz="1400" b="1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pt-BR" sz="1400" b="1" dirty="0" err="1">
                <a:solidFill>
                  <a:srgbClr val="0505FF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pt-BR" sz="1400" b="1" dirty="0">
                <a:solidFill>
                  <a:srgbClr val="0505FF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GB" sz="1400" b="1" dirty="0" err="1">
                <a:solidFill>
                  <a:schemeClr val="accent3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saldo</a:t>
            </a:r>
            <a:r>
              <a:rPr lang="en-GB" sz="1400" b="1" dirty="0">
                <a:latin typeface="Courier New" pitchFamily="49" charset="0"/>
                <a:cs typeface="Courier New" pitchFamily="49" charset="0"/>
              </a:rPr>
              <a:t>){  </a:t>
            </a:r>
          </a:p>
          <a:p>
            <a:pPr>
              <a:buNone/>
              <a:defRPr/>
            </a:pPr>
            <a:r>
              <a:rPr lang="en-GB" sz="1400" b="1" dirty="0">
                <a:latin typeface="Courier New" pitchFamily="49" charset="0"/>
                <a:cs typeface="Courier New" pitchFamily="49" charset="0"/>
              </a:rPr>
              <a:t>		 </a:t>
            </a:r>
            <a:r>
              <a:rPr lang="pt-BR" sz="1400" b="1" dirty="0" err="1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this</a:t>
            </a:r>
            <a:r>
              <a:rPr lang="en-GB" sz="1400" b="1" i="1" dirty="0">
                <a:latin typeface="Courier New" pitchFamily="49" charset="0"/>
                <a:cs typeface="Courier New" pitchFamily="49" charset="0"/>
              </a:rPr>
              <a:t>.</a:t>
            </a:r>
            <a:r>
              <a:rPr lang="en-GB" sz="1400" b="1" dirty="0" err="1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saldo</a:t>
            </a:r>
            <a:r>
              <a:rPr lang="en-GB" sz="1400" b="1" i="1" dirty="0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GB" sz="1400" b="1" dirty="0">
                <a:latin typeface="Courier New" pitchFamily="49" charset="0"/>
                <a:cs typeface="Courier New" pitchFamily="49" charset="0"/>
              </a:rPr>
              <a:t>= </a:t>
            </a:r>
            <a:r>
              <a:rPr lang="en-GB" sz="1400" b="1" dirty="0" err="1">
                <a:solidFill>
                  <a:schemeClr val="accent3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saldo</a:t>
            </a:r>
            <a:r>
              <a:rPr lang="en-GB" sz="1400" b="1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buNone/>
              <a:defRPr/>
            </a:pPr>
            <a:r>
              <a:rPr lang="en-GB" sz="1400" b="1" dirty="0">
                <a:latin typeface="Courier New" pitchFamily="49" charset="0"/>
                <a:cs typeface="Courier New" pitchFamily="49" charset="0"/>
              </a:rPr>
              <a:t>   }</a:t>
            </a:r>
          </a:p>
          <a:p>
            <a:pPr>
              <a:buNone/>
              <a:defRPr/>
            </a:pPr>
            <a:r>
              <a:rPr lang="en-GB" sz="1400" b="1" dirty="0">
                <a:latin typeface="Courier New" pitchFamily="49" charset="0"/>
                <a:cs typeface="Courier New" pitchFamily="49" charset="0"/>
              </a:rPr>
              <a:t>}</a:t>
            </a:r>
            <a:endParaRPr lang="en-GB" sz="1400" dirty="0"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500348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C6449420-F7E2-B8AA-24A5-748C29AAFF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0">
            <a:extLst>
              <a:ext uri="{FF2B5EF4-FFF2-40B4-BE49-F238E27FC236}">
                <a16:creationId xmlns:a16="http://schemas.microsoft.com/office/drawing/2014/main" id="{BA62D6C2-663D-70D8-13A7-4F79F9D1A02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Identificador ‘</a:t>
            </a:r>
            <a:r>
              <a:rPr lang="pt-BR" dirty="0" err="1"/>
              <a:t>this</a:t>
            </a:r>
            <a:r>
              <a:rPr lang="pt-BR" dirty="0"/>
              <a:t>’ em Java</a:t>
            </a:r>
            <a:endParaRPr dirty="0"/>
          </a:p>
        </p:txBody>
      </p:sp>
      <p:sp>
        <p:nvSpPr>
          <p:cNvPr id="2" name="Espaço Reservado para Texto 1">
            <a:extLst>
              <a:ext uri="{FF2B5EF4-FFF2-40B4-BE49-F238E27FC236}">
                <a16:creationId xmlns:a16="http://schemas.microsoft.com/office/drawing/2014/main" id="{49DF8B7E-047B-2E47-FBDF-903E5DE849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150" y="1152525"/>
            <a:ext cx="8521700" cy="3545950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>
            <a:noAutofit/>
          </a:bodyPr>
          <a:lstStyle/>
          <a:p>
            <a:pPr marL="0" indent="0">
              <a:buNone/>
              <a:defRPr/>
            </a:pPr>
            <a:r>
              <a:rPr lang="en-GB" sz="1400" b="1" dirty="0">
                <a:latin typeface="Courier New" pitchFamily="49" charset="0"/>
                <a:cs typeface="Courier New" pitchFamily="49" charset="0"/>
              </a:rPr>
              <a:t>public </a:t>
            </a:r>
            <a:r>
              <a:rPr lang="pt-BR" sz="1400" b="1" dirty="0" err="1">
                <a:solidFill>
                  <a:srgbClr val="0505FF"/>
                </a:solidFill>
                <a:latin typeface="Courier New" pitchFamily="49" charset="0"/>
                <a:cs typeface="Courier New" pitchFamily="49" charset="0"/>
              </a:rPr>
              <a:t>class</a:t>
            </a:r>
            <a:r>
              <a:rPr lang="pt-BR" sz="1400" b="1" dirty="0">
                <a:solidFill>
                  <a:srgbClr val="0505FF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GB" sz="1400" b="1" i="1" dirty="0">
                <a:latin typeface="Courier New" pitchFamily="49" charset="0"/>
                <a:cs typeface="Courier New" pitchFamily="49" charset="0"/>
              </a:rPr>
              <a:t>Conta</a:t>
            </a:r>
            <a:r>
              <a:rPr lang="en-GB" sz="1400" b="1" dirty="0">
                <a:latin typeface="Courier New" pitchFamily="49" charset="0"/>
                <a:cs typeface="Courier New" pitchFamily="49" charset="0"/>
              </a:rPr>
              <a:t>(){</a:t>
            </a:r>
          </a:p>
          <a:p>
            <a:pPr marL="0" indent="0">
              <a:buNone/>
              <a:defRPr/>
            </a:pPr>
            <a:r>
              <a:rPr lang="en-GB" sz="1400" b="1" dirty="0">
                <a:latin typeface="Courier New" pitchFamily="49" charset="0"/>
                <a:cs typeface="Courier New" pitchFamily="49" charset="0"/>
              </a:rPr>
              <a:t>   </a:t>
            </a:r>
            <a:r>
              <a:rPr lang="pt-BR" sz="1400" b="1" dirty="0" err="1">
                <a:solidFill>
                  <a:srgbClr val="0505FF"/>
                </a:solidFill>
                <a:latin typeface="Courier New" pitchFamily="49" charset="0"/>
                <a:cs typeface="Courier New" pitchFamily="49" charset="0"/>
              </a:rPr>
              <a:t>private</a:t>
            </a:r>
            <a:r>
              <a:rPr lang="en-GB" sz="1400" b="1" dirty="0">
                <a:latin typeface="Courier New" pitchFamily="49" charset="0"/>
                <a:cs typeface="Courier New" pitchFamily="49" charset="0"/>
              </a:rPr>
              <a:t> String </a:t>
            </a:r>
            <a:r>
              <a:rPr lang="en-GB" sz="1400" b="1" i="1" dirty="0" err="1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dono</a:t>
            </a:r>
            <a:r>
              <a:rPr lang="en-GB" sz="1400" b="1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 marL="0" indent="0">
              <a:buNone/>
              <a:defRPr/>
            </a:pPr>
            <a:r>
              <a:rPr lang="pt-BR" sz="1400" b="1" dirty="0">
                <a:solidFill>
                  <a:srgbClr val="0505FF"/>
                </a:solidFill>
                <a:latin typeface="Courier New" pitchFamily="49" charset="0"/>
                <a:cs typeface="Courier New" pitchFamily="49" charset="0"/>
              </a:rPr>
              <a:t>   </a:t>
            </a:r>
            <a:r>
              <a:rPr lang="pt-BR" sz="1400" b="1" dirty="0" err="1">
                <a:solidFill>
                  <a:srgbClr val="0505FF"/>
                </a:solidFill>
                <a:latin typeface="Courier New" pitchFamily="49" charset="0"/>
                <a:cs typeface="Courier New" pitchFamily="49" charset="0"/>
              </a:rPr>
              <a:t>private</a:t>
            </a:r>
            <a:r>
              <a:rPr lang="pt-BR" sz="1400" b="1" dirty="0">
                <a:solidFill>
                  <a:srgbClr val="0505FF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pt-BR" sz="1400" b="1" dirty="0" err="1">
                <a:solidFill>
                  <a:srgbClr val="0505FF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pt-BR" sz="1400" b="1" dirty="0">
                <a:solidFill>
                  <a:srgbClr val="0505FF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GB" sz="1400" b="1" i="1" dirty="0" err="1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saldo</a:t>
            </a:r>
            <a:r>
              <a:rPr lang="en-GB" sz="1400" b="1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 marL="0" indent="0">
              <a:buNone/>
              <a:defRPr/>
            </a:pPr>
            <a:r>
              <a:rPr lang="pt-BR" sz="1400" b="1" dirty="0">
                <a:solidFill>
                  <a:srgbClr val="0505FF"/>
                </a:solidFill>
                <a:latin typeface="Courier New" pitchFamily="49" charset="0"/>
                <a:cs typeface="Courier New" pitchFamily="49" charset="0"/>
              </a:rPr>
              <a:t>   </a:t>
            </a:r>
            <a:r>
              <a:rPr lang="pt-BR" sz="1400" b="1" dirty="0" err="1">
                <a:solidFill>
                  <a:srgbClr val="0505FF"/>
                </a:solidFill>
                <a:latin typeface="Courier New" pitchFamily="49" charset="0"/>
                <a:cs typeface="Courier New" pitchFamily="49" charset="0"/>
              </a:rPr>
              <a:t>public</a:t>
            </a:r>
            <a:r>
              <a:rPr lang="en-GB" sz="14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GB" sz="1400" b="1" i="1" dirty="0">
                <a:latin typeface="Courier New" pitchFamily="49" charset="0"/>
                <a:cs typeface="Courier New" pitchFamily="49" charset="0"/>
              </a:rPr>
              <a:t>Conta</a:t>
            </a:r>
            <a:r>
              <a:rPr lang="en-GB" sz="1400" b="1" dirty="0">
                <a:latin typeface="Courier New" pitchFamily="49" charset="0"/>
                <a:cs typeface="Courier New" pitchFamily="49" charset="0"/>
              </a:rPr>
              <a:t>(String </a:t>
            </a:r>
            <a:r>
              <a:rPr lang="en-GB" sz="1400" b="1" dirty="0" err="1">
                <a:solidFill>
                  <a:schemeClr val="accent3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dono</a:t>
            </a:r>
            <a:r>
              <a:rPr lang="en-GB" sz="1400" b="1" dirty="0">
                <a:latin typeface="Courier New" pitchFamily="49" charset="0"/>
                <a:cs typeface="Courier New" pitchFamily="49" charset="0"/>
              </a:rPr>
              <a:t>, </a:t>
            </a:r>
            <a:r>
              <a:rPr lang="pt-BR" sz="1400" b="1" dirty="0" err="1">
                <a:solidFill>
                  <a:srgbClr val="0505FF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pt-BR" sz="1400" b="1" dirty="0">
                <a:solidFill>
                  <a:srgbClr val="0505FF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GB" sz="1400" b="1" dirty="0" err="1">
                <a:solidFill>
                  <a:schemeClr val="accent3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saldo</a:t>
            </a:r>
            <a:r>
              <a:rPr lang="en-GB" sz="1400" b="1" dirty="0">
                <a:latin typeface="Courier New" pitchFamily="49" charset="0"/>
                <a:cs typeface="Courier New" pitchFamily="49" charset="0"/>
              </a:rPr>
              <a:t>){  </a:t>
            </a:r>
          </a:p>
          <a:p>
            <a:pPr>
              <a:buNone/>
              <a:defRPr/>
            </a:pPr>
            <a:r>
              <a:rPr lang="en-GB" sz="1400" b="1" dirty="0">
                <a:latin typeface="Courier New" pitchFamily="49" charset="0"/>
                <a:cs typeface="Courier New" pitchFamily="49" charset="0"/>
              </a:rPr>
              <a:t>		 </a:t>
            </a:r>
            <a:r>
              <a:rPr lang="pt-BR" sz="1400" b="1" dirty="0" err="1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this</a:t>
            </a:r>
            <a:r>
              <a:rPr lang="en-GB" sz="1400" b="1" i="1" dirty="0">
                <a:latin typeface="Courier New" pitchFamily="49" charset="0"/>
                <a:cs typeface="Courier New" pitchFamily="49" charset="0"/>
              </a:rPr>
              <a:t>.</a:t>
            </a:r>
            <a:r>
              <a:rPr lang="en-GB" sz="1400" b="1" dirty="0" err="1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dono</a:t>
            </a:r>
            <a:r>
              <a:rPr lang="en-GB" sz="1400" b="1" i="1" dirty="0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GB" sz="1400" b="1" dirty="0">
                <a:latin typeface="Courier New" pitchFamily="49" charset="0"/>
                <a:cs typeface="Courier New" pitchFamily="49" charset="0"/>
              </a:rPr>
              <a:t>= </a:t>
            </a:r>
            <a:r>
              <a:rPr lang="en-GB" sz="1400" b="1" dirty="0" err="1">
                <a:solidFill>
                  <a:schemeClr val="accent3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dono</a:t>
            </a:r>
            <a:r>
              <a:rPr lang="en-GB" sz="1400" b="1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buNone/>
              <a:defRPr/>
            </a:pPr>
            <a:r>
              <a:rPr lang="en-GB" sz="1400" b="1" dirty="0">
                <a:latin typeface="Courier New" pitchFamily="49" charset="0"/>
                <a:cs typeface="Courier New" pitchFamily="49" charset="0"/>
              </a:rPr>
              <a:t>		 </a:t>
            </a:r>
            <a:r>
              <a:rPr lang="pt-BR" sz="1400" b="1" dirty="0" err="1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this</a:t>
            </a:r>
            <a:r>
              <a:rPr lang="en-GB" sz="1400" b="1" i="1" dirty="0">
                <a:latin typeface="Courier New" pitchFamily="49" charset="0"/>
                <a:cs typeface="Courier New" pitchFamily="49" charset="0"/>
              </a:rPr>
              <a:t>.</a:t>
            </a:r>
            <a:r>
              <a:rPr lang="en-GB" sz="1400" b="1" dirty="0" err="1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saldo</a:t>
            </a:r>
            <a:r>
              <a:rPr lang="en-GB" sz="1400" b="1" i="1" dirty="0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GB" sz="1400" b="1" dirty="0">
                <a:latin typeface="Courier New" pitchFamily="49" charset="0"/>
                <a:cs typeface="Courier New" pitchFamily="49" charset="0"/>
              </a:rPr>
              <a:t>= </a:t>
            </a:r>
            <a:r>
              <a:rPr lang="en-GB" sz="1400" b="1" dirty="0" err="1">
                <a:solidFill>
                  <a:schemeClr val="accent3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saldo</a:t>
            </a:r>
            <a:r>
              <a:rPr lang="en-GB" sz="1400" b="1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buNone/>
              <a:defRPr/>
            </a:pPr>
            <a:r>
              <a:rPr lang="en-GB" sz="1400" b="1" dirty="0">
                <a:latin typeface="Courier New" pitchFamily="49" charset="0"/>
                <a:cs typeface="Courier New" pitchFamily="49" charset="0"/>
              </a:rPr>
              <a:t>   }</a:t>
            </a:r>
          </a:p>
          <a:p>
            <a:pPr marL="0" indent="0">
              <a:buNone/>
              <a:defRPr/>
            </a:pPr>
            <a:r>
              <a:rPr lang="pt-BR" sz="1400" b="1" dirty="0">
                <a:solidFill>
                  <a:srgbClr val="0505FF"/>
                </a:solidFill>
                <a:latin typeface="Courier New" pitchFamily="49" charset="0"/>
                <a:cs typeface="Courier New" pitchFamily="49" charset="0"/>
              </a:rPr>
              <a:t>   </a:t>
            </a:r>
            <a:r>
              <a:rPr lang="pt-BR" sz="1400" b="1" dirty="0" err="1">
                <a:solidFill>
                  <a:srgbClr val="0505FF"/>
                </a:solidFill>
                <a:latin typeface="Courier New" pitchFamily="49" charset="0"/>
                <a:cs typeface="Courier New" pitchFamily="49" charset="0"/>
              </a:rPr>
              <a:t>public</a:t>
            </a:r>
            <a:r>
              <a:rPr lang="pt-BR" sz="1400" b="1" dirty="0">
                <a:solidFill>
                  <a:srgbClr val="0505FF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pt-BR" sz="1400" b="1" dirty="0" err="1">
                <a:solidFill>
                  <a:srgbClr val="0505FF"/>
                </a:solidFill>
                <a:latin typeface="Courier New" pitchFamily="49" charset="0"/>
                <a:cs typeface="Courier New" pitchFamily="49" charset="0"/>
              </a:rPr>
              <a:t>void</a:t>
            </a:r>
            <a:r>
              <a:rPr lang="en-GB" sz="14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GB" sz="1400" b="1" i="1" dirty="0" err="1">
                <a:latin typeface="Courier New" pitchFamily="49" charset="0"/>
                <a:cs typeface="Courier New" pitchFamily="49" charset="0"/>
              </a:rPr>
              <a:t>AlteraDono</a:t>
            </a:r>
            <a:r>
              <a:rPr lang="en-GB" sz="1400" b="1" dirty="0">
                <a:latin typeface="Courier New" pitchFamily="49" charset="0"/>
                <a:cs typeface="Courier New" pitchFamily="49" charset="0"/>
              </a:rPr>
              <a:t>(String </a:t>
            </a:r>
            <a:r>
              <a:rPr lang="en-GB" sz="1400" b="1" dirty="0" err="1">
                <a:solidFill>
                  <a:schemeClr val="accent3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dono</a:t>
            </a:r>
            <a:r>
              <a:rPr lang="en-GB" sz="1400" b="1" dirty="0">
                <a:latin typeface="Courier New" pitchFamily="49" charset="0"/>
                <a:cs typeface="Courier New" pitchFamily="49" charset="0"/>
              </a:rPr>
              <a:t>){  </a:t>
            </a:r>
          </a:p>
          <a:p>
            <a:pPr>
              <a:buNone/>
              <a:defRPr/>
            </a:pPr>
            <a:r>
              <a:rPr lang="en-GB" sz="1400" b="1" dirty="0">
                <a:latin typeface="Courier New" pitchFamily="49" charset="0"/>
                <a:cs typeface="Courier New" pitchFamily="49" charset="0"/>
              </a:rPr>
              <a:t>		 </a:t>
            </a:r>
            <a:r>
              <a:rPr lang="pt-BR" sz="1400" b="1" dirty="0" err="1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this</a:t>
            </a:r>
            <a:r>
              <a:rPr lang="en-GB" sz="1400" b="1" i="1" dirty="0">
                <a:latin typeface="Courier New" pitchFamily="49" charset="0"/>
                <a:cs typeface="Courier New" pitchFamily="49" charset="0"/>
              </a:rPr>
              <a:t>.</a:t>
            </a:r>
            <a:r>
              <a:rPr lang="en-GB" sz="1400" b="1" dirty="0" err="1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dono</a:t>
            </a:r>
            <a:r>
              <a:rPr lang="en-GB" sz="1400" b="1" i="1" dirty="0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GB" sz="1400" b="1" dirty="0">
                <a:latin typeface="Courier New" pitchFamily="49" charset="0"/>
                <a:cs typeface="Courier New" pitchFamily="49" charset="0"/>
              </a:rPr>
              <a:t>= </a:t>
            </a:r>
            <a:r>
              <a:rPr lang="en-GB" sz="1400" b="1" dirty="0" err="1">
                <a:solidFill>
                  <a:schemeClr val="accent3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dono</a:t>
            </a:r>
            <a:r>
              <a:rPr lang="en-GB" sz="1400" b="1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buNone/>
              <a:defRPr/>
            </a:pPr>
            <a:r>
              <a:rPr lang="en-GB" sz="1400" b="1" dirty="0">
                <a:latin typeface="Courier New" pitchFamily="49" charset="0"/>
                <a:cs typeface="Courier New" pitchFamily="49" charset="0"/>
              </a:rPr>
              <a:t>   }</a:t>
            </a:r>
          </a:p>
          <a:p>
            <a:pPr marL="0" indent="0">
              <a:buNone/>
              <a:defRPr/>
            </a:pPr>
            <a:r>
              <a:rPr lang="pt-BR" sz="1400" b="1" dirty="0">
                <a:solidFill>
                  <a:srgbClr val="0505FF"/>
                </a:solidFill>
                <a:latin typeface="Courier New" pitchFamily="49" charset="0"/>
                <a:cs typeface="Courier New" pitchFamily="49" charset="0"/>
              </a:rPr>
              <a:t>   </a:t>
            </a:r>
            <a:r>
              <a:rPr lang="pt-BR" sz="1400" b="1" dirty="0" err="1">
                <a:solidFill>
                  <a:srgbClr val="0505FF"/>
                </a:solidFill>
                <a:latin typeface="Courier New" pitchFamily="49" charset="0"/>
                <a:cs typeface="Courier New" pitchFamily="49" charset="0"/>
              </a:rPr>
              <a:t>public</a:t>
            </a:r>
            <a:r>
              <a:rPr lang="pt-BR" sz="1400" b="1" dirty="0">
                <a:solidFill>
                  <a:srgbClr val="0505FF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pt-BR" sz="1400" b="1" dirty="0" err="1">
                <a:solidFill>
                  <a:srgbClr val="0505FF"/>
                </a:solidFill>
                <a:latin typeface="Courier New" pitchFamily="49" charset="0"/>
                <a:cs typeface="Courier New" pitchFamily="49" charset="0"/>
              </a:rPr>
              <a:t>void</a:t>
            </a:r>
            <a:r>
              <a:rPr lang="en-GB" sz="14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GB" sz="1400" b="1" i="1" dirty="0" err="1">
                <a:latin typeface="Courier New" pitchFamily="49" charset="0"/>
                <a:cs typeface="Courier New" pitchFamily="49" charset="0"/>
              </a:rPr>
              <a:t>AlteraSaldo</a:t>
            </a:r>
            <a:r>
              <a:rPr lang="en-GB" sz="1400" b="1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pt-BR" sz="1400" b="1" dirty="0" err="1">
                <a:solidFill>
                  <a:srgbClr val="0505FF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pt-BR" sz="1400" b="1" dirty="0">
                <a:solidFill>
                  <a:srgbClr val="0505FF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GB" sz="1400" b="1" dirty="0" err="1">
                <a:solidFill>
                  <a:schemeClr val="accent3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saldo</a:t>
            </a:r>
            <a:r>
              <a:rPr lang="en-GB" sz="1400" b="1" dirty="0">
                <a:latin typeface="Courier New" pitchFamily="49" charset="0"/>
                <a:cs typeface="Courier New" pitchFamily="49" charset="0"/>
              </a:rPr>
              <a:t>){  </a:t>
            </a:r>
          </a:p>
          <a:p>
            <a:pPr>
              <a:buNone/>
              <a:defRPr/>
            </a:pPr>
            <a:r>
              <a:rPr lang="en-GB" sz="1400" b="1" dirty="0">
                <a:latin typeface="Courier New" pitchFamily="49" charset="0"/>
                <a:cs typeface="Courier New" pitchFamily="49" charset="0"/>
              </a:rPr>
              <a:t>		 </a:t>
            </a:r>
            <a:r>
              <a:rPr lang="pt-BR" sz="1400" b="1" dirty="0" err="1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this</a:t>
            </a:r>
            <a:r>
              <a:rPr lang="en-GB" sz="1400" b="1" i="1" dirty="0">
                <a:latin typeface="Courier New" pitchFamily="49" charset="0"/>
                <a:cs typeface="Courier New" pitchFamily="49" charset="0"/>
              </a:rPr>
              <a:t>.</a:t>
            </a:r>
            <a:r>
              <a:rPr lang="en-GB" sz="1400" b="1" dirty="0" err="1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saldo</a:t>
            </a:r>
            <a:r>
              <a:rPr lang="en-GB" sz="1400" b="1" i="1" dirty="0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GB" sz="1400" b="1" dirty="0">
                <a:latin typeface="Courier New" pitchFamily="49" charset="0"/>
                <a:cs typeface="Courier New" pitchFamily="49" charset="0"/>
              </a:rPr>
              <a:t>= </a:t>
            </a:r>
            <a:r>
              <a:rPr lang="en-GB" sz="1400" b="1" dirty="0" err="1">
                <a:solidFill>
                  <a:schemeClr val="accent3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saldo</a:t>
            </a:r>
            <a:r>
              <a:rPr lang="en-GB" sz="1400" b="1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buNone/>
              <a:defRPr/>
            </a:pPr>
            <a:r>
              <a:rPr lang="en-GB" sz="1400" b="1" dirty="0">
                <a:latin typeface="Courier New" pitchFamily="49" charset="0"/>
                <a:cs typeface="Courier New" pitchFamily="49" charset="0"/>
              </a:rPr>
              <a:t>   }</a:t>
            </a:r>
          </a:p>
          <a:p>
            <a:pPr>
              <a:buNone/>
              <a:defRPr/>
            </a:pPr>
            <a:r>
              <a:rPr lang="en-GB" sz="1400" b="1" dirty="0">
                <a:latin typeface="Courier New" pitchFamily="49" charset="0"/>
                <a:cs typeface="Courier New" pitchFamily="49" charset="0"/>
              </a:rPr>
              <a:t>}</a:t>
            </a:r>
            <a:endParaRPr lang="en-GB" sz="1400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54BEB793-5E89-9084-5F76-D2C37801DDFC}"/>
              </a:ext>
            </a:extLst>
          </p:cNvPr>
          <p:cNvSpPr/>
          <p:nvPr/>
        </p:nvSpPr>
        <p:spPr>
          <a:xfrm>
            <a:off x="726141" y="2223247"/>
            <a:ext cx="4222377" cy="510988"/>
          </a:xfrm>
          <a:prstGeom prst="rect">
            <a:avLst/>
          </a:prstGeom>
          <a:noFill/>
          <a:ln w="9525" cap="flat" cmpd="sng" algn="ctr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E41F9D25-E9CD-D8E1-1339-533BF55143FA}"/>
              </a:ext>
            </a:extLst>
          </p:cNvPr>
          <p:cNvSpPr/>
          <p:nvPr/>
        </p:nvSpPr>
        <p:spPr>
          <a:xfrm>
            <a:off x="726141" y="3173506"/>
            <a:ext cx="4222377" cy="251012"/>
          </a:xfrm>
          <a:prstGeom prst="rect">
            <a:avLst/>
          </a:prstGeom>
          <a:noFill/>
          <a:ln w="9525" cap="flat" cmpd="sng" algn="ctr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CD46B62B-0528-28AD-141D-5072020F5D78}"/>
              </a:ext>
            </a:extLst>
          </p:cNvPr>
          <p:cNvSpPr/>
          <p:nvPr/>
        </p:nvSpPr>
        <p:spPr>
          <a:xfrm>
            <a:off x="726141" y="3917576"/>
            <a:ext cx="4222377" cy="251012"/>
          </a:xfrm>
          <a:prstGeom prst="rect">
            <a:avLst/>
          </a:prstGeom>
          <a:noFill/>
          <a:ln w="9525" cap="flat" cmpd="sng" algn="ctr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Texto explicativo retangular com cantos arredondados 7">
            <a:extLst>
              <a:ext uri="{FF2B5EF4-FFF2-40B4-BE49-F238E27FC236}">
                <a16:creationId xmlns:a16="http://schemas.microsoft.com/office/drawing/2014/main" id="{012FBFC7-5F68-A789-6A4F-3F695415DAC2}"/>
              </a:ext>
            </a:extLst>
          </p:cNvPr>
          <p:cNvSpPr/>
          <p:nvPr/>
        </p:nvSpPr>
        <p:spPr bwMode="auto">
          <a:xfrm>
            <a:off x="6372225" y="2930169"/>
            <a:ext cx="2305050" cy="790575"/>
          </a:xfrm>
          <a:prstGeom prst="wedgeRoundRectCallout">
            <a:avLst>
              <a:gd name="adj1" fmla="val -217539"/>
              <a:gd name="adj2" fmla="val 85288"/>
              <a:gd name="adj3" fmla="val 16667"/>
            </a:avLst>
          </a:prstGeom>
          <a:ln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pt-BR" b="1" dirty="0">
                <a:latin typeface="+mj-lt"/>
              </a:rPr>
              <a:t>Atributos do Objeto</a:t>
            </a:r>
          </a:p>
          <a:p>
            <a:pPr algn="ctr">
              <a:defRPr/>
            </a:pPr>
            <a:r>
              <a:rPr lang="pt-BR" b="1" dirty="0">
                <a:latin typeface="+mj-lt"/>
              </a:rPr>
              <a:t>da Classe</a:t>
            </a:r>
          </a:p>
        </p:txBody>
      </p:sp>
      <p:sp>
        <p:nvSpPr>
          <p:cNvPr id="7" name="Texto explicativo retangular com cantos arredondados 8">
            <a:extLst>
              <a:ext uri="{FF2B5EF4-FFF2-40B4-BE49-F238E27FC236}">
                <a16:creationId xmlns:a16="http://schemas.microsoft.com/office/drawing/2014/main" id="{B0F9B8BB-3028-446F-97D4-DF4802D66A0F}"/>
              </a:ext>
            </a:extLst>
          </p:cNvPr>
          <p:cNvSpPr/>
          <p:nvPr/>
        </p:nvSpPr>
        <p:spPr bwMode="auto">
          <a:xfrm>
            <a:off x="6372225" y="2930169"/>
            <a:ext cx="2305050" cy="790575"/>
          </a:xfrm>
          <a:prstGeom prst="wedgeRoundRectCallout">
            <a:avLst>
              <a:gd name="adj1" fmla="val -220658"/>
              <a:gd name="adj2" fmla="val -3677"/>
              <a:gd name="adj3" fmla="val 16667"/>
            </a:avLst>
          </a:prstGeom>
          <a:ln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pt-BR" b="1" dirty="0">
                <a:latin typeface="+mj-lt"/>
              </a:rPr>
              <a:t>Atributos do Objeto</a:t>
            </a:r>
          </a:p>
          <a:p>
            <a:pPr algn="ctr">
              <a:defRPr/>
            </a:pPr>
            <a:r>
              <a:rPr lang="pt-BR" b="1" dirty="0">
                <a:latin typeface="+mj-lt"/>
              </a:rPr>
              <a:t>da Classe</a:t>
            </a:r>
          </a:p>
        </p:txBody>
      </p:sp>
      <p:sp>
        <p:nvSpPr>
          <p:cNvPr id="8" name="Texto explicativo retangular com cantos arredondados 6">
            <a:extLst>
              <a:ext uri="{FF2B5EF4-FFF2-40B4-BE49-F238E27FC236}">
                <a16:creationId xmlns:a16="http://schemas.microsoft.com/office/drawing/2014/main" id="{3ADDC74D-D0BD-83D9-7BBF-497ED4769E46}"/>
              </a:ext>
            </a:extLst>
          </p:cNvPr>
          <p:cNvSpPr/>
          <p:nvPr/>
        </p:nvSpPr>
        <p:spPr bwMode="auto">
          <a:xfrm>
            <a:off x="6381750" y="1636713"/>
            <a:ext cx="2305050" cy="790575"/>
          </a:xfrm>
          <a:prstGeom prst="wedgeRoundRectCallout">
            <a:avLst>
              <a:gd name="adj1" fmla="val -220480"/>
              <a:gd name="adj2" fmla="val 54711"/>
              <a:gd name="adj3" fmla="val 16667"/>
            </a:avLst>
          </a:prstGeom>
          <a:ln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pt-BR" b="1" dirty="0">
                <a:latin typeface="+mj-lt"/>
              </a:rPr>
              <a:t>Atributos do Objeto</a:t>
            </a:r>
          </a:p>
          <a:p>
            <a:pPr algn="ctr">
              <a:defRPr/>
            </a:pPr>
            <a:r>
              <a:rPr lang="pt-BR" b="1" dirty="0">
                <a:latin typeface="+mj-lt"/>
              </a:rPr>
              <a:t>da Classe</a:t>
            </a:r>
          </a:p>
        </p:txBody>
      </p:sp>
    </p:spTree>
    <p:extLst>
      <p:ext uri="{BB962C8B-B14F-4D97-AF65-F5344CB8AC3E}">
        <p14:creationId xmlns:p14="http://schemas.microsoft.com/office/powerpoint/2010/main" val="16187477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FCF5896F-6CD9-74C6-38C3-3C8A1E5F21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0">
            <a:extLst>
              <a:ext uri="{FF2B5EF4-FFF2-40B4-BE49-F238E27FC236}">
                <a16:creationId xmlns:a16="http://schemas.microsoft.com/office/drawing/2014/main" id="{BE19A18C-E884-E4FD-93BF-F8CB46E2FCA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Exercício</a:t>
            </a:r>
            <a:endParaRPr dirty="0"/>
          </a:p>
        </p:txBody>
      </p:sp>
      <p:sp>
        <p:nvSpPr>
          <p:cNvPr id="55" name="Google Shape;55;p10">
            <a:extLst>
              <a:ext uri="{FF2B5EF4-FFF2-40B4-BE49-F238E27FC236}">
                <a16:creationId xmlns:a16="http://schemas.microsoft.com/office/drawing/2014/main" id="{9807921D-CED5-ECAE-B00E-E1D8D9BDB1E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indent="0">
              <a:spcAft>
                <a:spcPts val="1200"/>
              </a:spcAft>
              <a:buNone/>
            </a:pPr>
            <a:r>
              <a:rPr lang="pt-BR" dirty="0"/>
              <a:t>Implemente o Identificador ‘</a:t>
            </a:r>
            <a:r>
              <a:rPr lang="pt-BR" i="1" dirty="0" err="1"/>
              <a:t>this</a:t>
            </a:r>
            <a:r>
              <a:rPr lang="pt-BR" dirty="0"/>
              <a:t>’ em todas as classes dos projetos desenvolvidos até o momento...</a:t>
            </a: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81594233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95</TotalTime>
  <Words>1183</Words>
  <Application>Microsoft Office PowerPoint</Application>
  <PresentationFormat>Apresentação na tela (16:9)</PresentationFormat>
  <Paragraphs>249</Paragraphs>
  <Slides>26</Slides>
  <Notes>24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26</vt:i4>
      </vt:variant>
    </vt:vector>
  </HeadingPairs>
  <TitlesOfParts>
    <vt:vector size="34" baseType="lpstr">
      <vt:lpstr>Arial</vt:lpstr>
      <vt:lpstr>Calibri</vt:lpstr>
      <vt:lpstr>Comic Sans MS</vt:lpstr>
      <vt:lpstr>Courier New</vt:lpstr>
      <vt:lpstr>Impact</vt:lpstr>
      <vt:lpstr>Lucida Sans Unicode</vt:lpstr>
      <vt:lpstr>Tahoma</vt:lpstr>
      <vt:lpstr>Simple Light</vt:lpstr>
      <vt:lpstr>POO – Qualificadores de Acesso</vt:lpstr>
      <vt:lpstr>Tópicos da Aula</vt:lpstr>
      <vt:lpstr>Vamos fazer uma analogia...</vt:lpstr>
      <vt:lpstr>Outra analogia...</vt:lpstr>
      <vt:lpstr>Outra analogia...</vt:lpstr>
      <vt:lpstr>Outra analogia...</vt:lpstr>
      <vt:lpstr>Qualificadores de Acesso</vt:lpstr>
      <vt:lpstr>Qualificadores de Acesso</vt:lpstr>
      <vt:lpstr>Qualificadores de Acesso</vt:lpstr>
      <vt:lpstr>Qualificadores de Acesso</vt:lpstr>
      <vt:lpstr>Qualificadores de Acesso</vt:lpstr>
      <vt:lpstr>Qualificadores de Acesso</vt:lpstr>
      <vt:lpstr>Recomendação para estabelecimento de visibilidade</vt:lpstr>
      <vt:lpstr>Recomendação para estabelecimento de visibilidade</vt:lpstr>
      <vt:lpstr>Modificadores de Acesso – Representação Gráfica</vt:lpstr>
      <vt:lpstr>Implementação dos Modificadores de Acesso em uma Classe Java</vt:lpstr>
      <vt:lpstr>Implementação dos Modificadores de Acesso em uma Classe Java</vt:lpstr>
      <vt:lpstr>Pacotes – package</vt:lpstr>
      <vt:lpstr>Comando Import</vt:lpstr>
      <vt:lpstr>Exercício</vt:lpstr>
      <vt:lpstr>Exercício</vt:lpstr>
      <vt:lpstr>Identificador ‘this’</vt:lpstr>
      <vt:lpstr>Identificador ‘this’ em Java</vt:lpstr>
      <vt:lpstr>Identificador ‘this’ em Java</vt:lpstr>
      <vt:lpstr>Exercício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Legion</dc:creator>
  <cp:lastModifiedBy>Juliano Caetano</cp:lastModifiedBy>
  <cp:revision>6</cp:revision>
  <dcterms:modified xsi:type="dcterms:W3CDTF">2026-03-19T00:25:29Z</dcterms:modified>
</cp:coreProperties>
</file>